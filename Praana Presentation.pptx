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0"/>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Hind Siliguri" charset="1" panose="02000000000000000000"/>
      <p:regular r:id="rId23"/>
    </p:embeddedFont>
    <p:embeddedFont>
      <p:font typeface="TT Chocolates Bold" charset="1" panose="02000803020000020003"/>
      <p:regular r:id="rId24"/>
    </p:embeddedFont>
    <p:embeddedFont>
      <p:font typeface="Be Vietnam Ultra-Bold" charset="1" panose="00000900000000000000"/>
      <p:regular r:id="rId26"/>
    </p:embeddedFont>
    <p:embeddedFont>
      <p:font typeface="Be Vietnam" charset="1" panose="00000500000000000000"/>
      <p:regular r:id="rId27"/>
    </p:embeddedFont>
    <p:embeddedFont>
      <p:font typeface="Trocchi" charset="1" panose="00000500000000000000"/>
      <p:regular r:id="rId32"/>
    </p:embeddedFont>
    <p:embeddedFont>
      <p:font typeface="Arimo Bold" charset="1" panose="020B0704020202020204"/>
      <p:regular r:id="rId35"/>
    </p:embeddedFont>
    <p:embeddedFont>
      <p:font typeface="Arimo" charset="1" panose="020B0604020202020204"/>
      <p:regular r:id="rId36"/>
    </p:embeddedFont>
    <p:embeddedFont>
      <p:font typeface="Glacial Indifference Italics" charset="1" panose="00000000000000000000"/>
      <p:regular r:id="rId39"/>
    </p:embeddedFont>
    <p:embeddedFont>
      <p:font typeface="Glacial Indifference Bold Italics" charset="1" panose="00000800000000000000"/>
      <p:regular r:id="rId40"/>
    </p:embeddedFont>
    <p:embeddedFont>
      <p:font typeface="Be Vietnam Medium" charset="1" panose="00000600000000000000"/>
      <p:regular r:id="rId4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notesMasters/notesMaster1.xml" Type="http://schemas.openxmlformats.org/officeDocument/2006/relationships/notesMaster"/><Relationship Id="rId21" Target="theme/theme2.xml" Type="http://schemas.openxmlformats.org/officeDocument/2006/relationships/theme"/><Relationship Id="rId22" Target="notesSlides/notesSlide1.xml" Type="http://schemas.openxmlformats.org/officeDocument/2006/relationships/notesSlide"/><Relationship Id="rId23" Target="fonts/font23.fntdata" Type="http://schemas.openxmlformats.org/officeDocument/2006/relationships/font"/><Relationship Id="rId24" Target="fonts/font24.fntdata" Type="http://schemas.openxmlformats.org/officeDocument/2006/relationships/font"/><Relationship Id="rId25" Target="notesSlides/notesSlide2.xml" Type="http://schemas.openxmlformats.org/officeDocument/2006/relationships/notesSlide"/><Relationship Id="rId26" Target="fonts/font26.fntdata" Type="http://schemas.openxmlformats.org/officeDocument/2006/relationships/font"/><Relationship Id="rId27" Target="fonts/font27.fntdata" Type="http://schemas.openxmlformats.org/officeDocument/2006/relationships/font"/><Relationship Id="rId28" Target="notesSlides/notesSlide3.xml" Type="http://schemas.openxmlformats.org/officeDocument/2006/relationships/notesSlide"/><Relationship Id="rId29" Target="notesSlides/notesSlide4.xml" Type="http://schemas.openxmlformats.org/officeDocument/2006/relationships/notesSlide"/><Relationship Id="rId3" Target="viewProps.xml" Type="http://schemas.openxmlformats.org/officeDocument/2006/relationships/viewProps"/><Relationship Id="rId30" Target="notesSlides/notesSlide5.xml" Type="http://schemas.openxmlformats.org/officeDocument/2006/relationships/notesSlide"/><Relationship Id="rId31" Target="notesSlides/notesSlide6.xml" Type="http://schemas.openxmlformats.org/officeDocument/2006/relationships/notesSlide"/><Relationship Id="rId32" Target="fonts/font32.fntdata" Type="http://schemas.openxmlformats.org/officeDocument/2006/relationships/font"/><Relationship Id="rId33" Target="notesSlides/notesSlide7.xml" Type="http://schemas.openxmlformats.org/officeDocument/2006/relationships/notesSlide"/><Relationship Id="rId34" Target="notesSlides/notesSlide8.xml" Type="http://schemas.openxmlformats.org/officeDocument/2006/relationships/notesSlide"/><Relationship Id="rId35" Target="fonts/font35.fntdata" Type="http://schemas.openxmlformats.org/officeDocument/2006/relationships/font"/><Relationship Id="rId36" Target="fonts/font36.fntdata" Type="http://schemas.openxmlformats.org/officeDocument/2006/relationships/font"/><Relationship Id="rId37" Target="notesSlides/notesSlide9.xml" Type="http://schemas.openxmlformats.org/officeDocument/2006/relationships/notesSlide"/><Relationship Id="rId38" Target="notesSlides/notesSlide10.xml" Type="http://schemas.openxmlformats.org/officeDocument/2006/relationships/notesSlide"/><Relationship Id="rId39" Target="fonts/font39.fntdata" Type="http://schemas.openxmlformats.org/officeDocument/2006/relationships/font"/><Relationship Id="rId4" Target="theme/theme1.xml" Type="http://schemas.openxmlformats.org/officeDocument/2006/relationships/theme"/><Relationship Id="rId40" Target="fonts/font40.fntdata" Type="http://schemas.openxmlformats.org/officeDocument/2006/relationships/font"/><Relationship Id="rId41" Target="notesSlides/notesSlide11.xml" Type="http://schemas.openxmlformats.org/officeDocument/2006/relationships/notesSlide"/><Relationship Id="rId42" Target="notesSlides/notesSlide12.xml" Type="http://schemas.openxmlformats.org/officeDocument/2006/relationships/notesSlide"/><Relationship Id="rId43" Target="fonts/font43.fntdata" Type="http://schemas.openxmlformats.org/officeDocument/2006/relationships/font"/><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6.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7.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Opening Hook:</a:t>
            </a:r>
          </a:p>
          <a:p>
            <a:r>
              <a:rPr lang="en-US"/>
              <a:t>"Imagine if every medical consultation could start with the doctor already knowing your complete medical history, current medications, and recent test results. Today, I'll show you how PRAANA is making this a reality in Brazil's healthcare system."</a:t>
            </a:r>
          </a:p>
          <a:p>
            <a:r>
              <a:rPr lang="en-US"/>
              <a:t>Key Points to Emphasize:</a:t>
            </a:r>
          </a:p>
          <a:p>
            <a:r>
              <a:rPr lang="en-US"/>
              <a:t/>
            </a:r>
          </a:p>
          <a:p>
            <a:r>
              <a:rPr lang="en-US"/>
              <a:t>PRAANA stands for Pre-Anamnesis AI Assistant</a:t>
            </a:r>
          </a:p>
          <a:p>
            <a:r>
              <a:rPr lang="en-US"/>
              <a:t>We're transforming the most inefficient part of healthcare consultations</a:t>
            </a:r>
          </a:p>
          <a:p>
            <a:r>
              <a:rPr lang="en-US"/>
              <a:t>This is a problem every doctor and patient experiences daily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2: Meet the Team</a:t>
            </a:r>
          </a:p>
          <a:p>
            <a:r>
              <a:rPr lang="en-US"/>
              <a:t>Speaker Notes:</a:t>
            </a:r>
          </a:p>
          <a:p>
            <a:r>
              <a:rPr lang="en-US"/>
              <a:t>"Our team combines the perfect blend of medical expertise and technical innovation:"</a:t>
            </a:r>
          </a:p>
          <a:p>
            <a:r>
              <a:rPr lang="en-US"/>
              <a:t>Lucas Barros - The Medical Authority:</a:t>
            </a:r>
          </a:p>
          <a:p>
            <a:r>
              <a:rPr lang="en-US"/>
              <a:t/>
            </a:r>
          </a:p>
          <a:p>
            <a:r>
              <a:rPr lang="en-US"/>
              <a:t>15 years as a practicing physician</a:t>
            </a:r>
          </a:p>
          <a:p>
            <a:r>
              <a:rPr lang="en-US"/>
              <a:t>Conducts 20+ telemedicine consultations daily</a:t>
            </a:r>
          </a:p>
          <a:p>
            <a:r>
              <a:rPr lang="en-US"/>
              <a:t>Experiences this problem firsthand every single day</a:t>
            </a:r>
          </a:p>
          <a:p>
            <a:r>
              <a:rPr lang="en-US"/>
              <a:t>Backend developer - bridges clinical needs with technical solutions</a:t>
            </a:r>
          </a:p>
          <a:p>
            <a:r>
              <a:rPr lang="en-US"/>
              <a:t>"I'm not just building a product, I'm solving my own daily frustration"</a:t>
            </a:r>
          </a:p>
          <a:p>
            <a:r>
              <a:rPr lang="en-US"/>
              <a:t/>
            </a:r>
          </a:p>
          <a:p>
            <a:r>
              <a:rPr lang="en-US"/>
              <a:t>Melise Rocha - The AI Expert:</a:t>
            </a:r>
          </a:p>
          <a:p>
            <a:r>
              <a:rPr lang="en-US"/>
              <a:t/>
            </a:r>
          </a:p>
          <a:p>
            <a:r>
              <a:rPr lang="en-US"/>
              <a:t>Biomedical engineer with 3+ years in AI development</a:t>
            </a:r>
          </a:p>
          <a:p>
            <a:r>
              <a:rPr lang="en-US"/>
              <a:t>Leading our chatbot development and natural language processing</a:t>
            </a:r>
          </a:p>
          <a:p>
            <a:r>
              <a:rPr lang="en-US"/>
              <a:t>Understands both healthcare workflows and AI capabilities</a:t>
            </a:r>
          </a:p>
          <a:p>
            <a:r>
              <a:rPr lang="en-US"/>
              <a:t>Ensuring our solution is clinically relevant and technically robust</a:t>
            </a:r>
          </a:p>
          <a:p>
            <a:r>
              <a:rPr lang="en-US"/>
              <a:t/>
            </a:r>
          </a:p>
          <a:p>
            <a:r>
              <a:rPr lang="en-US"/>
              <a:t>Anastasiia Bulatkina - The Business Strategist:</a:t>
            </a:r>
          </a:p>
          <a:p>
            <a:r>
              <a:rPr lang="en-US"/>
              <a:t/>
            </a:r>
          </a:p>
          <a:p>
            <a:r>
              <a:rPr lang="en-US"/>
              <a:t>Computer science background with business operations focus</a:t>
            </a:r>
          </a:p>
          <a:p>
            <a:r>
              <a:rPr lang="en-US"/>
              <a:t>Managing frontend development and user experience</a:t>
            </a:r>
          </a:p>
          <a:p>
            <a:r>
              <a:rPr lang="en-US"/>
              <a:t>Handling business development and market strategy</a:t>
            </a:r>
          </a:p>
          <a:p>
            <a:r>
              <a:rPr lang="en-US"/>
              <a:t>Ensuring our solution is both user-friendly and commercially viable</a:t>
            </a:r>
          </a:p>
          <a:p>
            <a:r>
              <a:rPr lang="en-US"/>
              <a:t/>
            </a:r>
          </a:p>
          <a:p>
            <a:r>
              <a:rPr lang="en-US"/>
              <a:t>Team Advantage:</a:t>
            </a:r>
          </a:p>
          <a:p>
            <a:r>
              <a:rPr lang="en-US"/>
              <a:t>"We're not outsiders trying to fix healthcare - we ARE healthcare, enhanced by technology."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3: What Are We Doing?</a:t>
            </a:r>
          </a:p>
          <a:p>
            <a:r>
              <a:rPr lang="en-US"/>
              <a:t>The Vision Statement:</a:t>
            </a:r>
          </a:p>
          <a:p>
            <a:r>
              <a:rPr lang="en-US"/>
              <a:t>"PRAANA is an AI-powered pre-anamnesis chatbot that transforms patient intake through intelligent conversation."</a:t>
            </a:r>
          </a:p>
          <a:p>
            <a:r>
              <a:rPr lang="en-US"/>
              <a:t>Core Value Proposition:</a:t>
            </a:r>
          </a:p>
          <a:p>
            <a:r>
              <a:rPr lang="en-US"/>
              <a:t/>
            </a:r>
          </a:p>
          <a:p>
            <a:r>
              <a:rPr lang="en-US"/>
              <a:t>COLLECT: Comprehensive medical history through natural conversation</a:t>
            </a:r>
          </a:p>
          <a:p>
            <a:r>
              <a:rPr lang="en-US"/>
              <a:t>ORGANIZE: Structure chaotic patient information into clinical-ready data</a:t>
            </a:r>
          </a:p>
          <a:p>
            <a:r>
              <a:rPr lang="en-US"/>
              <a:t>INTEGRATE: Seamlessly connect with existing EHR and telemedicine systems</a:t>
            </a:r>
          </a:p>
          <a:p>
            <a:r>
              <a:rPr lang="en-US"/>
              <a:t/>
            </a:r>
          </a:p>
          <a:p>
            <a:r>
              <a:rPr lang="en-US"/>
              <a:t>Key Differentiators:</a:t>
            </a:r>
          </a:p>
          <a:p>
            <a:r>
              <a:rPr lang="en-US"/>
              <a:t/>
            </a:r>
          </a:p>
          <a:p>
            <a:r>
              <a:rPr lang="en-US"/>
              <a:t>SECURELY: Full LGPD compliance and healthcare-grade security</a:t>
            </a:r>
          </a:p>
          <a:p>
            <a:r>
              <a:rPr lang="en-US"/>
              <a:t>TRANSPARENTLY: Patients understand exactly how their data is used</a:t>
            </a:r>
          </a:p>
          <a:p>
            <a:r>
              <a:rPr lang="en-US"/>
              <a:t>EFFICIENTLY: 5-10 minutes of doctor time saved per consultation</a:t>
            </a:r>
          </a:p>
          <a:p>
            <a:r>
              <a:rPr lang="en-US"/>
              <a:t/>
            </a:r>
          </a:p>
          <a:p>
            <a:r>
              <a:rPr lang="en-US"/>
              <a:t>The Big Picture:</a:t>
            </a:r>
          </a:p>
          <a:p>
            <a:r>
              <a:rPr lang="en-US"/>
              <a:t>"We're not just saving time - we're enabling doctors to practice medicine instead of being data entry clerks."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4: But Why? - The Problem</a:t>
            </a:r>
          </a:p>
          <a:p>
            <a:r>
              <a:rPr lang="en-US"/>
              <a:t>Problem Validation - Paint the Picture:</a:t>
            </a:r>
          </a:p>
          <a:p>
            <a:r>
              <a:rPr lang="en-US"/>
              <a:t>"Every day, 500,000 Brazilian physicians lose 5-10 minutes per consultation waiting for patients to find basic information."</a:t>
            </a:r>
          </a:p>
          <a:p>
            <a:r>
              <a:rPr lang="en-US"/>
              <a:t>TIME Crisis:</a:t>
            </a:r>
          </a:p>
          <a:p>
            <a:r>
              <a:rPr lang="en-US"/>
              <a:t/>
            </a:r>
          </a:p>
          <a:p>
            <a:r>
              <a:rPr lang="en-US"/>
              <a:t>Medical appointments limited to 10-20 minutes</a:t>
            </a:r>
          </a:p>
          <a:p>
            <a:r>
              <a:rPr lang="en-US"/>
              <a:t>Up to 50% wasted on information gathering</a:t>
            </a:r>
          </a:p>
          <a:p>
            <a:r>
              <a:rPr lang="en-US"/>
              <a:t>Doctors become frustrated, patients feel rushed</a:t>
            </a:r>
          </a:p>
          <a:p>
            <a:r>
              <a:rPr lang="en-US"/>
              <a:t>Actual medical care gets compressed into remaining time</a:t>
            </a:r>
          </a:p>
          <a:p>
            <a:r>
              <a:rPr lang="en-US"/>
              <a:t/>
            </a:r>
          </a:p>
          <a:p>
            <a:r>
              <a:rPr lang="en-US"/>
              <a:t>MEMORY Challenge:</a:t>
            </a:r>
          </a:p>
          <a:p>
            <a:r>
              <a:rPr lang="en-US"/>
              <a:t/>
            </a:r>
          </a:p>
          <a:p>
            <a:r>
              <a:rPr lang="en-US"/>
              <a:t>Patients forget medication names and dosages</a:t>
            </a:r>
          </a:p>
          <a:p>
            <a:r>
              <a:rPr lang="en-US"/>
              <a:t>Medical history becomes fragmented and incomplete</a:t>
            </a:r>
          </a:p>
          <a:p>
            <a:r>
              <a:rPr lang="en-US"/>
              <a:t>Critical information like allergies or family history overlooked</a:t>
            </a:r>
          </a:p>
          <a:p>
            <a:r>
              <a:rPr lang="en-US"/>
              <a:t>Stress of consultation makes recall even harder</a:t>
            </a:r>
          </a:p>
          <a:p>
            <a:r>
              <a:rPr lang="en-US"/>
              <a:t/>
            </a:r>
          </a:p>
          <a:p>
            <a:r>
              <a:rPr lang="en-US"/>
              <a:t>EXAMS Nightmare:</a:t>
            </a:r>
          </a:p>
          <a:p>
            <a:r>
              <a:rPr lang="en-US"/>
              <a:t/>
            </a:r>
          </a:p>
          <a:p>
            <a:r>
              <a:rPr lang="en-US"/>
              <a:t>40% of patients never send promised exam results</a:t>
            </a:r>
          </a:p>
          <a:p>
            <a:r>
              <a:rPr lang="en-US"/>
              <a:t>Forgotten passwords waste consultation time</a:t>
            </a:r>
          </a:p>
          <a:p>
            <a:r>
              <a:rPr lang="en-US"/>
              <a:t>Doctors make decisions with incomplete information</a:t>
            </a:r>
          </a:p>
          <a:p>
            <a:r>
              <a:rPr lang="en-US"/>
              <a:t>Follow-up appointments needed for basic data collection</a:t>
            </a:r>
          </a:p>
          <a:p>
            <a:r>
              <a:rPr lang="en-US"/>
              <a:t/>
            </a:r>
          </a:p>
          <a:p>
            <a:r>
              <a:rPr lang="en-US"/>
              <a:t>The Scale:</a:t>
            </a:r>
          </a:p>
          <a:p>
            <a:r>
              <a:rPr lang="en-US"/>
              <a:t>"This affects 6,000 private clinics and 120+ telemedicine platforms daily. It's not just inconvenient - it's a systemic crisis affecting healthcare quality. And this problem came from a personal journey where our Physician Lucas Barros faced it Daily!"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Dr. Lidiane de Castro - Telemedicine Specialist:</a:t>
            </a:r>
          </a:p>
          <a:p>
            <a:r>
              <a:rPr lang="en-US"/>
              <a:t>"This quote represents the universal experience of Brazilian physicians. Password management isn't a minor inconvenience - it's a daily barrier to effective healthcare delivery."</a:t>
            </a:r>
          </a:p>
          <a:p>
            <a:r>
              <a:rPr lang="en-US"/>
              <a:t>Dr. Marcelo Morato - Primary Care:</a:t>
            </a:r>
          </a:p>
          <a:p>
            <a:r>
              <a:rPr lang="en-US"/>
              <a:t>"Notice how he mentions the 'chief complaint' - that's the actual medical problem the patient came to solve. Currently, we spend most of our time on logistics instead of medicine."</a:t>
            </a:r>
          </a:p>
          <a:p>
            <a:r>
              <a:rPr lang="en-US"/>
              <a:t>Credibility Points:</a:t>
            </a:r>
          </a:p>
          <a:p>
            <a:r>
              <a:rPr lang="en-US"/>
              <a:t/>
            </a:r>
          </a:p>
          <a:p>
            <a:r>
              <a:rPr lang="en-US"/>
              <a:t>These aren't isolated complaints - they're systemic issues</a:t>
            </a:r>
          </a:p>
          <a:p>
            <a:r>
              <a:rPr lang="en-US"/>
              <a:t>Both doctors immediately understood our solution's value</a:t>
            </a:r>
          </a:p>
          <a:p>
            <a:r>
              <a:rPr lang="en-US"/>
              <a:t>Representative of the broader medical community's frustration</a:t>
            </a:r>
          </a:p>
          <a:p>
            <a:r>
              <a:rPr lang="en-US"/>
              <a:t>Validates our problem-solution fit from actual practitioners</a:t>
            </a:r>
          </a:p>
          <a:p>
            <a:r>
              <a:rPr lang="en-US"/>
              <a:t/>
            </a:r>
          </a:p>
          <a:p>
            <a:r>
              <a:rPr lang="en-US"/>
              <a:t>Market Validation:</a:t>
            </a:r>
          </a:p>
          <a:p>
            <a:r>
              <a:rPr lang="en-US"/>
              <a:t>"When practicing physicians immediately say 'this would revolutionize my practice,' we know we're solving a real problem."</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6: Interviews - Doctors</a:t>
            </a:r>
          </a:p>
          <a:p>
            <a:r>
              <a:rPr lang="en-US"/>
              <a:t>Research Methodology:</a:t>
            </a:r>
          </a:p>
          <a:p>
            <a:r>
              <a:rPr lang="en-US"/>
              <a:t>"We conducted structured interviews with 10 practicing physicians across different specialties to validate our assumptions."</a:t>
            </a:r>
          </a:p>
          <a:p>
            <a:r>
              <a:rPr lang="en-US"/>
              <a:t>Willingness to Test - 50% Ready:</a:t>
            </a:r>
          </a:p>
          <a:p>
            <a:r>
              <a:rPr lang="en-US"/>
              <a:t/>
            </a:r>
          </a:p>
          <a:p>
            <a:r>
              <a:rPr lang="en-US"/>
              <a:t>50% said "Yes" - ready to test immediately</a:t>
            </a:r>
          </a:p>
          <a:p>
            <a:r>
              <a:rPr lang="en-US"/>
              <a:t>30% said "Maybe" - interested but cautious</a:t>
            </a:r>
          </a:p>
          <a:p>
            <a:r>
              <a:rPr lang="en-US"/>
              <a:t>20% said "No" - satisfied with current methods</a:t>
            </a:r>
          </a:p>
          <a:p>
            <a:r>
              <a:rPr lang="en-US"/>
              <a:t>Industry standard for new healthcare technology adoption: 10-15% early adopters</a:t>
            </a:r>
          </a:p>
          <a:p>
            <a:r>
              <a:rPr lang="en-US"/>
              <a:t>Our 50% readiness rate is exceptional and indicates strong market demand</a:t>
            </a:r>
          </a:p>
          <a:p>
            <a:r>
              <a:rPr lang="en-US"/>
              <a:t/>
            </a:r>
          </a:p>
          <a:p>
            <a:r>
              <a:rPr lang="en-US"/>
              <a:t>Priority Information Ranking:</a:t>
            </a:r>
          </a:p>
          <a:p>
            <a:r>
              <a:rPr lang="en-US"/>
              <a:t/>
            </a:r>
          </a:p>
          <a:p>
            <a:r>
              <a:rPr lang="en-US"/>
              <a:t>Medications (30%) - Critical for drug interactions and treatment planning</a:t>
            </a:r>
          </a:p>
          <a:p>
            <a:r>
              <a:rPr lang="en-US"/>
              <a:t>Recent Exam Results (26.7%) - Essential for diagnosis and monitoring</a:t>
            </a:r>
          </a:p>
          <a:p>
            <a:r>
              <a:rPr lang="en-US"/>
              <a:t>Chronic Diseases (16.7%) - Affects all treatment decisions</a:t>
            </a:r>
          </a:p>
          <a:p>
            <a:r>
              <a:rPr lang="en-US"/>
              <a:t>Family History (13.3%) - Important for genetic risk assessment</a:t>
            </a:r>
          </a:p>
          <a:p>
            <a:r>
              <a:rPr lang="en-US"/>
              <a:t>Allergies (10%) - Potentially life-saving information</a:t>
            </a:r>
          </a:p>
          <a:p>
            <a:r>
              <a:rPr lang="en-US"/>
              <a:t>Pregnancy History (3.3%) - Relevant for specific patient populations</a:t>
            </a:r>
          </a:p>
          <a:p>
            <a:r>
              <a:rPr lang="en-US"/>
              <a:t/>
            </a:r>
          </a:p>
          <a:p>
            <a:r>
              <a:rPr lang="en-US"/>
              <a:t>Strategic Insight:</a:t>
            </a:r>
          </a:p>
          <a:p>
            <a:r>
              <a:rPr lang="en-US"/>
              <a:t>"This data shaped our conversation flow - we prioritize high-value information first, ensuring we capture what doctors need most."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7: Interviews - Patients</a:t>
            </a:r>
          </a:p>
          <a:p>
            <a:r>
              <a:rPr lang="en-US"/>
              <a:t>Patient Preference - 81.8% Prefer Chatbot:</a:t>
            </a:r>
          </a:p>
          <a:p>
            <a:r>
              <a:rPr lang="en-US"/>
              <a:t>"This is remarkable validation. Patients don't just tolerate our solution - they actively prefer it over traditional forms."</a:t>
            </a:r>
          </a:p>
          <a:p>
            <a:r>
              <a:rPr lang="en-US"/>
              <a:t>Why Patients Love It:</a:t>
            </a:r>
          </a:p>
          <a:p>
            <a:r>
              <a:rPr lang="en-US"/>
              <a:t/>
            </a:r>
          </a:p>
          <a:p>
            <a:r>
              <a:rPr lang="en-US"/>
              <a:t>Conversational interface feels natural and supportive</a:t>
            </a:r>
          </a:p>
          <a:p>
            <a:r>
              <a:rPr lang="en-US"/>
              <a:t>Can take their time without feeling rushed</a:t>
            </a:r>
          </a:p>
          <a:p>
            <a:r>
              <a:rPr lang="en-US"/>
              <a:t>Guidance through complex medical terminology</a:t>
            </a:r>
          </a:p>
          <a:p>
            <a:r>
              <a:rPr lang="en-US"/>
              <a:t>Ability to pause and gather information as needed</a:t>
            </a:r>
          </a:p>
          <a:p>
            <a:r>
              <a:rPr lang="en-US"/>
              <a:t>No judgment for not remembering details immediately</a:t>
            </a:r>
          </a:p>
          <a:p>
            <a:r>
              <a:rPr lang="en-US"/>
              <a:t/>
            </a:r>
          </a:p>
          <a:p>
            <a:r>
              <a:rPr lang="en-US"/>
              <a:t>Patient Priorities:</a:t>
            </a:r>
          </a:p>
          <a:p>
            <a:r>
              <a:rPr lang="en-US"/>
              <a:t/>
            </a:r>
          </a:p>
          <a:p>
            <a:r>
              <a:rPr lang="en-US"/>
              <a:t>Fix Mistakes (57.1%) - Patients want control over their data accuracy</a:t>
            </a:r>
          </a:p>
          <a:p>
            <a:r>
              <a:rPr lang="en-US"/>
              <a:t>Talk to Someone (28.6%) - Human backup for complex situations</a:t>
            </a:r>
          </a:p>
          <a:p>
            <a:r>
              <a:rPr lang="en-US"/>
              <a:t>Data Protection (14.3%) - Privacy and security concerns</a:t>
            </a:r>
          </a:p>
          <a:p>
            <a:r>
              <a:rPr lang="en-US"/>
              <a:t/>
            </a:r>
          </a:p>
          <a:p>
            <a:r>
              <a:rPr lang="en-US"/>
              <a:t>Business Impact:</a:t>
            </a:r>
          </a:p>
          <a:p>
            <a:r>
              <a:rPr lang="en-US"/>
              <a:t>"High patient satisfaction leads to better completion rates, more accurate data, and positive word-of-mouth marketing."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Our Unique Position:</a:t>
            </a:r>
          </a:p>
          <a:p>
            <a:r>
              <a:rPr lang="en-US"/>
              <a:t>"We're the only solution specifically designed for pre-anamnesis collection in Portuguese for the Brazilian market. We are also the only ones doing it with easy langauge for patienrs"</a:t>
            </a:r>
          </a:p>
          <a:p>
            <a:r>
              <a:rPr lang="en-US"/>
              <a:t>Competitive Comparison:</a:t>
            </a:r>
          </a:p>
          <a:p>
            <a:r>
              <a:rPr lang="en-US"/>
              <a:t>PatientIntake.ai (Frontdesk):</a:t>
            </a:r>
          </a:p>
          <a:p>
            <a:r>
              <a:rPr lang="en-US"/>
              <a:t/>
            </a:r>
          </a:p>
          <a:p>
            <a:r>
              <a:rPr lang="en-US"/>
              <a:t>Strengths: Established US market presence, proven AI capabilities</a:t>
            </a:r>
          </a:p>
          <a:p>
            <a:r>
              <a:rPr lang="en-US"/>
              <a:t>Fatal Weakness: English-only, designed for US healthcare system</a:t>
            </a:r>
          </a:p>
          <a:p>
            <a:r>
              <a:rPr lang="en-US"/>
              <a:t>Market Share in Brazil: 0%</a:t>
            </a:r>
          </a:p>
          <a:p>
            <a:r>
              <a:rPr lang="en-US"/>
              <a:t>Why We Win: Native Portuguese, Brazilian healthcare understanding</a:t>
            </a:r>
          </a:p>
          <a:p>
            <a:r>
              <a:rPr lang="en-US"/>
              <a:t/>
            </a:r>
          </a:p>
          <a:p>
            <a:r>
              <a:rPr lang="en-US"/>
              <a:t>Infermedica:</a:t>
            </a:r>
          </a:p>
          <a:p>
            <a:r>
              <a:rPr lang="en-US"/>
              <a:t/>
            </a:r>
          </a:p>
          <a:p>
            <a:r>
              <a:rPr lang="en-US"/>
              <a:t>Strengths: Global reach, advanced symptom checking</a:t>
            </a:r>
          </a:p>
          <a:p>
            <a:r>
              <a:rPr lang="en-US"/>
              <a:t>Weaknesses: Symptom-focused, not pre-consultation intake</a:t>
            </a:r>
          </a:p>
          <a:p>
            <a:r>
              <a:rPr lang="en-US"/>
              <a:t>Limited Portuguese support, not Brazil-specific and was built for Front Desk Users with Strong medical language.</a:t>
            </a:r>
          </a:p>
          <a:p>
            <a:r>
              <a:rPr lang="en-US"/>
              <a:t>Why We Win: Purpose-built for intake, not general triage</a:t>
            </a:r>
          </a:p>
          <a:p>
            <a:r>
              <a:rPr lang="en-US"/>
              <a:t/>
            </a:r>
          </a:p>
          <a:p>
            <a:r>
              <a:rPr lang="en-US"/>
              <a:t>Key Differentiators:</a:t>
            </a:r>
          </a:p>
          <a:p>
            <a:r>
              <a:rPr lang="en-US"/>
              <a:t/>
            </a:r>
          </a:p>
          <a:p>
            <a:r>
              <a:rPr lang="en-US"/>
              <a:t>✅ Native Portuguese AI - Understands Brazilian medical terminology</a:t>
            </a:r>
          </a:p>
          <a:p>
            <a:r>
              <a:rPr lang="en-US"/>
              <a:t>✅ Conversational Interface - Natural dialogue, not form-filling</a:t>
            </a:r>
          </a:p>
          <a:p>
            <a:r>
              <a:rPr lang="en-US"/>
              <a:t>✅ Comprehensive Medical History - All 13 essential fields</a:t>
            </a:r>
          </a:p>
          <a:p>
            <a:r>
              <a:rPr lang="en-US"/>
              <a:t>✅ Brazilian Market Focus - LGPD compliance, local healthcare workflows</a:t>
            </a:r>
          </a:p>
          <a:p>
            <a:r>
              <a:rPr lang="en-US"/>
              <a:t>✅ LGPD Compliance - Built for Brazilian privacy laws from day one</a:t>
            </a:r>
          </a:p>
          <a:p>
            <a:r>
              <a:rPr lang="en-US"/>
              <a:t/>
            </a:r>
          </a:p>
          <a:p>
            <a:r>
              <a:rPr lang="en-US"/>
              <a:t>Competitive Moat:</a:t>
            </a:r>
          </a:p>
          <a:p>
            <a:r>
              <a:rPr lang="en-US"/>
              <a:t>"International competitors would need to rebuild their entire platform for Brazil. Local competitors lack our AI sophistication and medical expertise."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9: Market Size - TAM SAM SOM</a:t>
            </a:r>
          </a:p>
          <a:p>
            <a:r>
              <a:rPr lang="en-US"/>
              <a:t>Total Addressable Market (TAM) - $161B:</a:t>
            </a:r>
          </a:p>
          <a:p>
            <a:r>
              <a:rPr lang="en-US"/>
              <a:t>"Brazil's total healthcare spending represents Latin America's largest market - larger than many European countries."</a:t>
            </a:r>
          </a:p>
          <a:p>
            <a:r>
              <a:rPr lang="en-US"/>
              <a:t>Serviceable Addressable Market (SAM) - $1.98B:</a:t>
            </a:r>
          </a:p>
          <a:p>
            <a:r>
              <a:rPr lang="en-US"/>
              <a:t/>
            </a:r>
          </a:p>
          <a:p>
            <a:r>
              <a:rPr lang="en-US"/>
              <a:t>Telemedicine market growing at 19.3% CAGR</a:t>
            </a:r>
          </a:p>
          <a:p>
            <a:r>
              <a:rPr lang="en-US"/>
              <a:t>100+ telemedicine companies active</a:t>
            </a:r>
          </a:p>
          <a:p>
            <a:r>
              <a:rPr lang="en-US"/>
              <a:t>Digital health adoption accelerating post-COVID</a:t>
            </a:r>
          </a:p>
          <a:p>
            <a:r>
              <a:rPr lang="en-US"/>
              <a:t>Government investing $200M in healthcare digitalization</a:t>
            </a:r>
          </a:p>
          <a:p>
            <a:r>
              <a:rPr lang="en-US"/>
              <a:t/>
            </a:r>
          </a:p>
          <a:p>
            <a:r>
              <a:rPr lang="en-US"/>
              <a:t>Serviceable Obtainable Market (SOM):</a:t>
            </a:r>
          </a:p>
          <a:p>
            <a:r>
              <a:rPr lang="en-US"/>
              <a:t/>
            </a:r>
          </a:p>
          <a:p>
            <a:r>
              <a:rPr lang="en-US"/>
              <a:t>6,000 healthcare clinics (our primary target)</a:t>
            </a:r>
          </a:p>
          <a:p>
            <a:r>
              <a:rPr lang="en-US"/>
              <a:t>500,000 physicians (potential end users)</a:t>
            </a:r>
          </a:p>
          <a:p>
            <a:r>
              <a:rPr lang="en-US"/>
              <a:t>120+ telemedicine platforms (distribution channels)</a:t>
            </a:r>
          </a:p>
          <a:p>
            <a:r>
              <a:rPr lang="en-US"/>
              <a:t/>
            </a:r>
          </a:p>
          <a:p>
            <a:r>
              <a:rPr lang="en-US"/>
              <a:t>Market Penetration Reality:</a:t>
            </a:r>
          </a:p>
          <a:p>
            <a:r>
              <a:rPr lang="en-US"/>
              <a:t/>
            </a:r>
          </a:p>
          <a:p>
            <a:r>
              <a:rPr lang="en-US"/>
              <a:t>Small cities: &lt;5% digital adoption (huge growth opportunity)</a:t>
            </a:r>
          </a:p>
          <a:p>
            <a:r>
              <a:rPr lang="en-US"/>
              <a:t>Large cities: 20-30% adoption (early adopter markets)</a:t>
            </a:r>
          </a:p>
          <a:p>
            <a:r>
              <a:rPr lang="en-US"/>
              <a:t>Our strategy: Start with digitally-ready urban markets, expand to smaller cities</a:t>
            </a:r>
          </a:p>
          <a:p>
            <a:r>
              <a:rPr lang="en-US"/>
              <a:t/>
            </a:r>
          </a:p>
          <a:p>
            <a:r>
              <a:rPr lang="en-US"/>
              <a:t>Conservative Projections:</a:t>
            </a:r>
          </a:p>
          <a:p>
            <a:r>
              <a:rPr lang="en-US"/>
              <a:t/>
            </a:r>
          </a:p>
          <a:p>
            <a:r>
              <a:rPr lang="en-US"/>
              <a:t>Year 1: 0.02% penetration = $9,000 revenue</a:t>
            </a:r>
          </a:p>
          <a:p>
            <a:r>
              <a:rPr lang="en-US"/>
              <a:t>Year 2: 0.2% penetration = $90,000 revenue</a:t>
            </a:r>
          </a:p>
          <a:p>
            <a:r>
              <a:rPr lang="en-US"/>
              <a:t>Year 3: 0.8% penetration = $360,000 revenue</a:t>
            </a:r>
          </a:p>
          <a:p>
            <a:r>
              <a:rPr lang="en-US"/>
              <a:t>Even at &lt;1% market share, we achieve substantial revenue</a:t>
            </a:r>
          </a:p>
          <a:p>
            <a:r>
              <a:rPr lang="en-US"/>
              <a:t/>
            </a:r>
          </a:p>
          <a:p>
            <a:r>
              <a:rPr lang="en-US"/>
              <a:t>Growth Catalysts:</a:t>
            </a:r>
          </a:p>
          <a:p>
            <a:r>
              <a:rPr lang="en-US"/>
              <a:t>"Three forces accelerate our opportunity: aging population increasing demand, physician shortage driving efficiency needs, and regulatory support for telemedicine."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10: Pricing Strategy</a:t>
            </a:r>
          </a:p>
          <a:p>
            <a:r>
              <a:rPr lang="en-US"/>
              <a:t>Pricing Philosophy:</a:t>
            </a:r>
          </a:p>
          <a:p>
            <a:r>
              <a:rPr lang="en-US"/>
              <a:t>"We priced PRAANA at 5-10% of typical EHR system costs ($3,000/month) while delivering immediate, measurable value."</a:t>
            </a:r>
          </a:p>
          <a:p>
            <a:r>
              <a:rPr lang="en-US"/>
              <a:t>Tier Structure:</a:t>
            </a:r>
          </a:p>
          <a:p>
            <a:r>
              <a:rPr lang="en-US"/>
              <a:t>Starter ($50/month):</a:t>
            </a:r>
          </a:p>
          <a:p>
            <a:r>
              <a:rPr lang="en-US"/>
              <a:t/>
            </a:r>
          </a:p>
          <a:p>
            <a:r>
              <a:rPr lang="en-US"/>
              <a:t>Target: Solo practitioners, small clinics</a:t>
            </a:r>
          </a:p>
          <a:p>
            <a:r>
              <a:rPr lang="en-US"/>
              <a:t>100 patients/month capacity</a:t>
            </a:r>
          </a:p>
          <a:p>
            <a:r>
              <a:rPr lang="en-US"/>
              <a:t>Basic integration and email support</a:t>
            </a:r>
          </a:p>
          <a:p>
            <a:r>
              <a:rPr lang="en-US"/>
              <a:t>Value Proposition: Time savings pay for subscription in 2-3 saved consultations</a:t>
            </a:r>
          </a:p>
          <a:p>
            <a:r>
              <a:rPr lang="en-US"/>
              <a:t/>
            </a:r>
          </a:p>
          <a:p>
            <a:r>
              <a:rPr lang="en-US"/>
              <a:t>Professional ($150/month):</a:t>
            </a:r>
          </a:p>
          <a:p>
            <a:r>
              <a:rPr lang="en-US"/>
              <a:t/>
            </a:r>
          </a:p>
          <a:p>
            <a:r>
              <a:rPr lang="en-US"/>
              <a:t>Target: Growing clinics, telemedicine platforms</a:t>
            </a:r>
          </a:p>
          <a:p>
            <a:r>
              <a:rPr lang="en-US"/>
              <a:t>500 patients/month capacity</a:t>
            </a:r>
          </a:p>
          <a:p>
            <a:r>
              <a:rPr lang="en-US"/>
              <a:t>Priority support and API access</a:t>
            </a:r>
          </a:p>
          <a:p>
            <a:r>
              <a:rPr lang="en-US"/>
              <a:t>Value Proposition: Efficiency gains support clinic growth</a:t>
            </a:r>
          </a:p>
          <a:p>
            <a:r>
              <a:rPr lang="en-US"/>
              <a:t/>
            </a:r>
          </a:p>
          <a:p>
            <a:r>
              <a:rPr lang="en-US"/>
              <a:t>Enterprise ($300/month):</a:t>
            </a:r>
          </a:p>
          <a:p>
            <a:r>
              <a:rPr lang="en-US"/>
              <a:t/>
            </a:r>
          </a:p>
          <a:p>
            <a:r>
              <a:rPr lang="en-US"/>
              <a:t>Target: Large clinics, hospital networks</a:t>
            </a:r>
          </a:p>
          <a:p>
            <a:r>
              <a:rPr lang="en-US"/>
              <a:t>Unlimited capacity</a:t>
            </a:r>
          </a:p>
          <a:p>
            <a:r>
              <a:rPr lang="en-US"/>
              <a:t>24/7 support and custom workflows</a:t>
            </a:r>
          </a:p>
          <a:p>
            <a:r>
              <a:rPr lang="en-US"/>
              <a:t>Value Proposition: Scalable solution for high-volume operations</a:t>
            </a:r>
          </a:p>
          <a:p>
            <a:r>
              <a:rPr lang="en-US"/>
              <a:t/>
            </a:r>
          </a:p>
          <a:p>
            <a:r>
              <a:rPr lang="en-US"/>
              <a:t>Market Validation:</a:t>
            </a:r>
          </a:p>
          <a:p>
            <a:r>
              <a:rPr lang="en-US"/>
              <a:t/>
            </a:r>
          </a:p>
          <a:p>
            <a:r>
              <a:rPr lang="en-US"/>
              <a:t>5 respondents said "Yes" to pricing (62.5%)</a:t>
            </a:r>
          </a:p>
          <a:p>
            <a:r>
              <a:rPr lang="en-US"/>
              <a:t>2 said "Maybe" (25%)</a:t>
            </a:r>
          </a:p>
          <a:p>
            <a:r>
              <a:rPr lang="en-US"/>
              <a:t>1 said "No" (12.5%)</a:t>
            </a:r>
          </a:p>
          <a:p>
            <a:r>
              <a:rPr lang="en-US"/>
              <a:t>87.5% find pricing acceptable - strong market validation</a:t>
            </a:r>
          </a:p>
          <a:p>
            <a:r>
              <a:rPr lang="en-US"/>
              <a:t/>
            </a:r>
          </a:p>
          <a:p>
            <a:r>
              <a:rPr lang="en-US"/>
              <a:t>Revenue Projections:</a:t>
            </a:r>
          </a:p>
          <a:p>
            <a:r>
              <a:rPr lang="en-US"/>
              <a:t/>
            </a:r>
          </a:p>
          <a:p>
            <a:r>
              <a:rPr lang="en-US"/>
              <a:t>Conservative average: $150/month per customer</a:t>
            </a:r>
          </a:p>
          <a:p>
            <a:r>
              <a:rPr lang="en-US"/>
              <a:t>Break-even: 20 customers</a:t>
            </a:r>
          </a:p>
          <a:p>
            <a:r>
              <a:rPr lang="en-US"/>
              <a:t>Year 2 target: 50 customers = $90,000 ARR</a:t>
            </a:r>
          </a:p>
          <a:p>
            <a:r>
              <a:rPr lang="en-US"/>
              <a:t>Year 3 target: 200 customers = $360,000 ARR</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11: Associated Costs</a:t>
            </a:r>
          </a:p>
          <a:p>
            <a:r>
              <a:rPr lang="en-US"/>
              <a:t>Annual Operating Costs: $815,088</a:t>
            </a:r>
          </a:p>
          <a:p>
            <a:r>
              <a:rPr lang="en-US"/>
              <a:t>Infrastructure ($18,588):</a:t>
            </a:r>
          </a:p>
          <a:p>
            <a:r>
              <a:rPr lang="en-US"/>
              <a:t/>
            </a:r>
          </a:p>
          <a:p>
            <a:r>
              <a:rPr lang="en-US"/>
              <a:t>Cloud hosting, database management</a:t>
            </a:r>
          </a:p>
          <a:p>
            <a:r>
              <a:rPr lang="en-US"/>
              <a:t>Security and compliance tools</a:t>
            </a:r>
          </a:p>
          <a:p>
            <a:r>
              <a:rPr lang="en-US"/>
              <a:t>AI processing costs (variable with usage)</a:t>
            </a:r>
          </a:p>
          <a:p>
            <a:r>
              <a:rPr lang="en-US"/>
              <a:t>Email and communication services</a:t>
            </a:r>
          </a:p>
          <a:p>
            <a:r>
              <a:rPr lang="en-US"/>
              <a:t/>
            </a:r>
          </a:p>
          <a:p>
            <a:r>
              <a:rPr lang="en-US"/>
              <a:t>Employee ($682,500):</a:t>
            </a:r>
          </a:p>
          <a:p>
            <a:r>
              <a:rPr lang="en-US"/>
              <a:t/>
            </a:r>
          </a:p>
          <a:p>
            <a:r>
              <a:rPr lang="en-US"/>
              <a:t>Expenses with developers, people to answer customer questions.</a:t>
            </a:r>
          </a:p>
          <a:p>
            <a:r>
              <a:rPr lang="en-US"/>
              <a:t/>
            </a:r>
          </a:p>
          <a:p>
            <a:r>
              <a:rPr lang="en-US"/>
              <a:t>Marketing ($94,000):</a:t>
            </a:r>
          </a:p>
          <a:p>
            <a:r>
              <a:rPr lang="en-US"/>
              <a:t/>
            </a:r>
          </a:p>
          <a:p>
            <a:r>
              <a:rPr lang="en-US"/>
              <a:t>Digital marketing campaigns</a:t>
            </a:r>
          </a:p>
          <a:p>
            <a:r>
              <a:rPr lang="en-US"/>
              <a:t>Conference participation</a:t>
            </a:r>
          </a:p>
          <a:p>
            <a:r>
              <a:rPr lang="en-US"/>
              <a:t>Content creation and SEO</a:t>
            </a:r>
          </a:p>
          <a:p>
            <a:r>
              <a:rPr lang="en-US"/>
              <a:t>Partnership development</a:t>
            </a:r>
          </a:p>
          <a:p>
            <a:r>
              <a:rPr lang="en-US"/>
              <a:t/>
            </a:r>
          </a:p>
          <a:p>
            <a:r>
              <a:rPr lang="en-US"/>
              <a:t>Consulting ($20,000):</a:t>
            </a:r>
          </a:p>
          <a:p>
            <a:r>
              <a:rPr lang="en-US"/>
              <a:t/>
            </a:r>
          </a:p>
          <a:p>
            <a:r>
              <a:rPr lang="en-US"/>
              <a:t>Legal compliance (LGPD)</a:t>
            </a:r>
          </a:p>
          <a:p>
            <a:r>
              <a:rPr lang="en-US"/>
              <a:t>Healthcare regulations</a:t>
            </a:r>
          </a:p>
          <a:p>
            <a:r>
              <a:rPr lang="en-US"/>
              <a:t>Business development advisory</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
            </a:r>
          </a:p>
          <a:p>
            <a:r>
              <a:rPr lang="en-US"/>
              <a:t>EHRS are our biggest focus for now because they are easier to integrate with it. Although not the biggest player in Brazil.</a:t>
            </a:r>
          </a:p>
          <a:p>
            <a:r>
              <a:rPr lang="en-US"/>
              <a:t/>
            </a:r>
          </a:p>
          <a:p>
            <a:r>
              <a:rPr lang="en-US"/>
              <a:t>1. Memed - Brazil's Largest EHR Provider</a:t>
            </a:r>
          </a:p>
          <a:p>
            <a:r>
              <a:rPr lang="en-US"/>
              <a:t>Key Talking Points:</a:t>
            </a:r>
          </a:p>
          <a:p>
            <a:r>
              <a:rPr lang="en-US"/>
              <a:t/>
            </a:r>
          </a:p>
          <a:p>
            <a:r>
              <a:rPr lang="en-US"/>
              <a:t>Market Position: Memed is the biggest EHR provider in Brazil with extensive market penetration</a:t>
            </a:r>
          </a:p>
          <a:p>
            <a:r>
              <a:rPr lang="en-US"/>
              <a:t>Partnership Infrastructure: They have a dedicated partnerships team specifically for healthcare integrations</a:t>
            </a:r>
          </a:p>
          <a:p>
            <a:r>
              <a:rPr lang="en-US"/>
              <a:t>Existing Partnership Model: Already partners with multiple Brazilian startups for:</a:t>
            </a:r>
          </a:p>
          <a:p>
            <a:r>
              <a:rPr lang="en-US"/>
              <a:t/>
            </a:r>
          </a:p>
          <a:p>
            <a:r>
              <a:rPr lang="en-US"/>
              <a:t>Medical data summary generation</a:t>
            </a:r>
          </a:p>
          <a:p>
            <a:r>
              <a:rPr lang="en-US"/>
              <a:t>Medicine recommendations</a:t>
            </a:r>
          </a:p>
          <a:p>
            <a:r>
              <a:rPr lang="en-US"/>
              <a:t>Clinical decision support tools</a:t>
            </a:r>
          </a:p>
          <a:p>
            <a:r>
              <a:rPr lang="en-US"/>
              <a:t/>
            </a:r>
          </a:p>
          <a:p>
            <a:r>
              <a:rPr lang="en-US"/>
              <a:t/>
            </a:r>
          </a:p>
          <a:p>
            <a:r>
              <a:rPr lang="en-US"/>
              <a:t>Partnership URL: https://memed.com.br/parceiro-software/</a:t>
            </a:r>
          </a:p>
          <a:p>
            <a:r>
              <a:rPr lang="en-US"/>
              <a:t/>
            </a:r>
          </a:p>
          <a:p>
            <a:r>
              <a:rPr lang="en-US"/>
              <a:t>Our Value Proposition to Memed:</a:t>
            </a:r>
          </a:p>
          <a:p>
            <a:r>
              <a:rPr lang="en-US"/>
              <a:t/>
            </a:r>
          </a:p>
          <a:p>
            <a:r>
              <a:rPr lang="en-US"/>
              <a:t>"We enhance their existing patient summary functionalities with conversational AI"</a:t>
            </a:r>
          </a:p>
          <a:p>
            <a:r>
              <a:rPr lang="en-US"/>
              <a:t>"Their doctors get better data quality through our pre-consultation intake"</a:t>
            </a:r>
          </a:p>
          <a:p>
            <a:r>
              <a:rPr lang="en-US"/>
              <a:t>"We reduce their support burden by handling routine patient questions"</a:t>
            </a:r>
          </a:p>
          <a:p>
            <a:r>
              <a:rPr lang="en-US"/>
              <a:t/>
            </a:r>
          </a:p>
          <a:p>
            <a:r>
              <a:rPr lang="en-US"/>
              <a:t>2. iClinic - Scheduling Integration Leader</a:t>
            </a:r>
          </a:p>
          <a:p>
            <a:r>
              <a:rPr lang="en-US"/>
              <a:t>Key Talking Points:</a:t>
            </a:r>
          </a:p>
          <a:p>
            <a:r>
              <a:rPr lang="en-US"/>
              <a:t/>
            </a:r>
          </a:p>
          <a:p>
            <a:r>
              <a:rPr lang="en-US"/>
              <a:t>Core Strength: Established online appointment scheduling functionality</a:t>
            </a:r>
          </a:p>
          <a:p>
            <a:r>
              <a:rPr lang="en-US"/>
              <a:t>Integration Opportunity: We integrate our pre-consultation intake with their appointment confirmation system</a:t>
            </a:r>
          </a:p>
          <a:p>
            <a:r>
              <a:rPr lang="en-US"/>
              <a:t>Workflow Enhancement: When patients confirm appointments through iClinic, they automatically receive our intake questionnaire</a:t>
            </a:r>
          </a:p>
          <a:p>
            <a:r>
              <a:rPr lang="en-US"/>
              <a:t>Data Flow: Patient responses feed directly into iClinic's patient summary system</a:t>
            </a:r>
          </a:p>
          <a:p>
            <a:r>
              <a:rPr lang="en-US"/>
              <a:t/>
            </a:r>
          </a:p>
          <a:p>
            <a:r>
              <a:rPr lang="en-US"/>
              <a:t>3. SUS </a:t>
            </a:r>
          </a:p>
          <a:p>
            <a:r>
              <a:rPr lang="en-US"/>
              <a:t/>
            </a:r>
          </a:p>
          <a:p>
            <a:r>
              <a:rPr lang="en-US"/>
              <a:t>150 million patients served by SUS (70-84% of Brazil's population)</a:t>
            </a:r>
          </a:p>
          <a:p>
            <a:r>
              <a:rPr lang="en-US"/>
              <a:t/>
            </a:r>
          </a:p>
          <a:p>
            <a:r>
              <a:rPr lang="en-US"/>
              <a:t>Existing digital infrastructure ready for enhancement, not replacement</a:t>
            </a:r>
          </a:p>
          <a:p>
            <a:r>
              <a:rPr lang="en-US"/>
              <a:t>Integration strategy with e-SUS APS (EHR) and Meu SUS Digital (patient app)</a:t>
            </a:r>
          </a:p>
          <a:p>
            <a:r>
              <a:rPr lang="en-US"/>
              <a:t/>
            </a:r>
          </a:p>
          <a:p>
            <a:r>
              <a:rPr lang="en-US"/>
              <a:t>https://sisaps.saude.gov.br/sistemas/esusaps/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 Id="rId4" Target="../media/image4.jpeg" Type="http://schemas.openxmlformats.org/officeDocument/2006/relationships/image"/><Relationship Id="rId5" Target="../media/image5.jpeg" Type="http://schemas.openxmlformats.org/officeDocument/2006/relationships/image"/><Relationship Id="rId6" Target="../media/image6.jpe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3.xml" Type="http://schemas.openxmlformats.org/officeDocument/2006/relationships/notesSlide"/><Relationship Id="rId3" Target="../media/image7.png" Type="http://schemas.openxmlformats.org/officeDocument/2006/relationships/image"/><Relationship Id="rId4" Target="../media/image2.png" Type="http://schemas.openxmlformats.org/officeDocument/2006/relationships/image"/><Relationship Id="rId5" Target="../media/image3.svg" Type="http://schemas.openxmlformats.org/officeDocument/2006/relationships/image"/><Relationship Id="rId6" Target="../media/image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4.xml" Type="http://schemas.openxmlformats.org/officeDocument/2006/relationships/notesSlide"/><Relationship Id="rId3" Target="../media/image1.png" Type="http://schemas.openxmlformats.org/officeDocument/2006/relationships/image"/><Relationship Id="rId4" Target="../media/image9.png" Type="http://schemas.openxmlformats.org/officeDocument/2006/relationships/image"/><Relationship Id="rId5" Target="../media/image10.svg" Type="http://schemas.openxmlformats.org/officeDocument/2006/relationships/image"/><Relationship Id="rId6" Target="../media/image11.png" Type="http://schemas.openxmlformats.org/officeDocument/2006/relationships/image"/><Relationship Id="rId7" Target="../media/image12.svg" Type="http://schemas.openxmlformats.org/officeDocument/2006/relationships/image"/><Relationship Id="rId8" Target="../media/image13.png" Type="http://schemas.openxmlformats.org/officeDocument/2006/relationships/image"/><Relationship Id="rId9" Target="../media/image1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 Id="rId4" Target="../media/image15.png" Type="http://schemas.openxmlformats.org/officeDocument/2006/relationships/image"/><Relationship Id="rId5" Target="../media/image16.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6.xml" Type="http://schemas.openxmlformats.org/officeDocument/2006/relationships/notesSlide"/><Relationship Id="rId3" Target="../media/image1.png" Type="http://schemas.openxmlformats.org/officeDocument/2006/relationships/image"/><Relationship Id="rId4" Target="../media/image17.png" Type="http://schemas.openxmlformats.org/officeDocument/2006/relationships/image"/><Relationship Id="rId5" Target="../media/image18.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png" Type="http://schemas.openxmlformats.org/officeDocument/2006/relationships/image"/><Relationship Id="rId4" Target="../media/image19.png" Type="http://schemas.openxmlformats.org/officeDocument/2006/relationships/image"/><Relationship Id="rId5" Target="../media/image20.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7.png" Type="http://schemas.openxmlformats.org/officeDocument/2006/relationships/image"/><Relationship Id="rId11" Target="../media/image28.svg" Type="http://schemas.openxmlformats.org/officeDocument/2006/relationships/image"/><Relationship Id="rId2" Target="../notesSlides/notesSlide9.xml" Type="http://schemas.openxmlformats.org/officeDocument/2006/relationships/notesSlide"/><Relationship Id="rId3" Target="../media/image1.pn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25.png" Type="http://schemas.openxmlformats.org/officeDocument/2006/relationships/image"/><Relationship Id="rId9" Target="../media/image2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png" Type="http://schemas.openxmlformats.org/officeDocument/2006/relationships/image"/><Relationship Id="rId4" Target="../media/image29.png" Type="http://schemas.openxmlformats.org/officeDocument/2006/relationships/image"/><Relationship Id="rId5" Target="../media/image30.svg" Type="http://schemas.openxmlformats.org/officeDocument/2006/relationships/image"/><Relationship Id="rId6" Target="../media/image3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3"/>
            <a:stretch>
              <a:fillRect l="-9222" t="-4461" r="-20094" b="-4717"/>
            </a:stretch>
          </a:blipFill>
        </p:spPr>
      </p:sp>
      <p:grpSp>
        <p:nvGrpSpPr>
          <p:cNvPr name="Group 3" id="3"/>
          <p:cNvGrpSpPr/>
          <p:nvPr/>
        </p:nvGrpSpPr>
        <p:grpSpPr>
          <a:xfrm rot="-1689571">
            <a:off x="12939732" y="-1577438"/>
            <a:ext cx="3086100" cy="7144088"/>
            <a:chOff x="0" y="0"/>
            <a:chExt cx="812800" cy="1881571"/>
          </a:xfrm>
        </p:grpSpPr>
        <p:sp>
          <p:nvSpPr>
            <p:cNvPr name="Freeform 4" id="4"/>
            <p:cNvSpPr/>
            <p:nvPr/>
          </p:nvSpPr>
          <p:spPr>
            <a:xfrm flipH="false" flipV="false" rot="0">
              <a:off x="0" y="0"/>
              <a:ext cx="812800" cy="1881571"/>
            </a:xfrm>
            <a:custGeom>
              <a:avLst/>
              <a:gdLst/>
              <a:ahLst/>
              <a:cxnLst/>
              <a:rect r="r" b="b" t="t" l="l"/>
              <a:pathLst>
                <a:path h="1881571" w="812800">
                  <a:moveTo>
                    <a:pt x="0" y="0"/>
                  </a:moveTo>
                  <a:lnTo>
                    <a:pt x="812800" y="0"/>
                  </a:lnTo>
                  <a:lnTo>
                    <a:pt x="812800" y="1881571"/>
                  </a:lnTo>
                  <a:lnTo>
                    <a:pt x="0" y="1881571"/>
                  </a:lnTo>
                  <a:close/>
                </a:path>
              </a:pathLst>
            </a:custGeom>
            <a:solidFill>
              <a:srgbClr val="262262"/>
            </a:solidFill>
          </p:spPr>
        </p:sp>
        <p:sp>
          <p:nvSpPr>
            <p:cNvPr name="TextBox 5" id="5"/>
            <p:cNvSpPr txBox="true"/>
            <p:nvPr/>
          </p:nvSpPr>
          <p:spPr>
            <a:xfrm>
              <a:off x="0" y="-47625"/>
              <a:ext cx="812800" cy="1929196"/>
            </a:xfrm>
            <a:prstGeom prst="rect">
              <a:avLst/>
            </a:prstGeom>
          </p:spPr>
          <p:txBody>
            <a:bodyPr anchor="ctr" rtlCol="false" tIns="50800" lIns="50800" bIns="50800" rIns="50800"/>
            <a:lstStyle/>
            <a:p>
              <a:pPr algn="ctr">
                <a:lnSpc>
                  <a:spcPts val="2800"/>
                </a:lnSpc>
              </a:pPr>
            </a:p>
          </p:txBody>
        </p:sp>
      </p:grpSp>
      <p:sp>
        <p:nvSpPr>
          <p:cNvPr name="Freeform 6" id="6"/>
          <p:cNvSpPr/>
          <p:nvPr/>
        </p:nvSpPr>
        <p:spPr>
          <a:xfrm flipH="false" flipV="true" rot="0">
            <a:off x="11582150" y="-457538"/>
            <a:ext cx="7026757" cy="11202077"/>
          </a:xfrm>
          <a:custGeom>
            <a:avLst/>
            <a:gdLst/>
            <a:ahLst/>
            <a:cxnLst/>
            <a:rect r="r" b="b" t="t" l="l"/>
            <a:pathLst>
              <a:path h="11202077" w="7026757">
                <a:moveTo>
                  <a:pt x="0" y="11202076"/>
                </a:moveTo>
                <a:lnTo>
                  <a:pt x="7026757" y="11202076"/>
                </a:lnTo>
                <a:lnTo>
                  <a:pt x="7026757" y="0"/>
                </a:lnTo>
                <a:lnTo>
                  <a:pt x="0" y="0"/>
                </a:lnTo>
                <a:lnTo>
                  <a:pt x="0" y="11202076"/>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7" id="7"/>
          <p:cNvGrpSpPr/>
          <p:nvPr/>
        </p:nvGrpSpPr>
        <p:grpSpPr>
          <a:xfrm rot="0">
            <a:off x="1255401" y="3142464"/>
            <a:ext cx="11132996" cy="4352505"/>
            <a:chOff x="0" y="0"/>
            <a:chExt cx="3498255" cy="1367662"/>
          </a:xfrm>
        </p:grpSpPr>
        <p:sp>
          <p:nvSpPr>
            <p:cNvPr name="Freeform 8" id="8"/>
            <p:cNvSpPr/>
            <p:nvPr/>
          </p:nvSpPr>
          <p:spPr>
            <a:xfrm flipH="false" flipV="false" rot="0">
              <a:off x="0" y="0"/>
              <a:ext cx="3498255" cy="1367661"/>
            </a:xfrm>
            <a:custGeom>
              <a:avLst/>
              <a:gdLst/>
              <a:ahLst/>
              <a:cxnLst/>
              <a:rect r="r" b="b" t="t" l="l"/>
              <a:pathLst>
                <a:path h="1367661" w="3498255">
                  <a:moveTo>
                    <a:pt x="9736" y="0"/>
                  </a:moveTo>
                  <a:lnTo>
                    <a:pt x="3488519" y="0"/>
                  </a:lnTo>
                  <a:cubicBezTo>
                    <a:pt x="3493896" y="0"/>
                    <a:pt x="3498255" y="4359"/>
                    <a:pt x="3498255" y="9736"/>
                  </a:cubicBezTo>
                  <a:lnTo>
                    <a:pt x="3498255" y="1357926"/>
                  </a:lnTo>
                  <a:cubicBezTo>
                    <a:pt x="3498255" y="1363303"/>
                    <a:pt x="3493896" y="1367661"/>
                    <a:pt x="3488519" y="1367661"/>
                  </a:cubicBezTo>
                  <a:lnTo>
                    <a:pt x="9736" y="1367661"/>
                  </a:lnTo>
                  <a:cubicBezTo>
                    <a:pt x="4359" y="1367661"/>
                    <a:pt x="0" y="1363303"/>
                    <a:pt x="0" y="1357926"/>
                  </a:cubicBezTo>
                  <a:lnTo>
                    <a:pt x="0" y="9736"/>
                  </a:lnTo>
                  <a:cubicBezTo>
                    <a:pt x="0" y="4359"/>
                    <a:pt x="4359" y="0"/>
                    <a:pt x="9736" y="0"/>
                  </a:cubicBezTo>
                  <a:close/>
                </a:path>
              </a:pathLst>
            </a:custGeom>
            <a:solidFill>
              <a:srgbClr val="000000">
                <a:alpha val="0"/>
              </a:srgbClr>
            </a:solidFill>
            <a:ln w="95250" cap="sq">
              <a:solidFill>
                <a:srgbClr val="195759"/>
              </a:solidFill>
              <a:prstDash val="solid"/>
              <a:miter/>
            </a:ln>
          </p:spPr>
        </p:sp>
        <p:sp>
          <p:nvSpPr>
            <p:cNvPr name="TextBox 9" id="9"/>
            <p:cNvSpPr txBox="true"/>
            <p:nvPr/>
          </p:nvSpPr>
          <p:spPr>
            <a:xfrm>
              <a:off x="0" y="-47625"/>
              <a:ext cx="3498255" cy="1415287"/>
            </a:xfrm>
            <a:prstGeom prst="rect">
              <a:avLst/>
            </a:prstGeom>
          </p:spPr>
          <p:txBody>
            <a:bodyPr anchor="ctr" rtlCol="false" tIns="50800" lIns="50800" bIns="50800" rIns="50800"/>
            <a:lstStyle/>
            <a:p>
              <a:pPr algn="ctr">
                <a:lnSpc>
                  <a:spcPts val="2800"/>
                </a:lnSpc>
              </a:pPr>
            </a:p>
          </p:txBody>
        </p:sp>
      </p:grpSp>
      <p:sp>
        <p:nvSpPr>
          <p:cNvPr name="TextBox 10" id="10"/>
          <p:cNvSpPr txBox="true"/>
          <p:nvPr/>
        </p:nvSpPr>
        <p:spPr>
          <a:xfrm rot="0">
            <a:off x="2195502" y="3672267"/>
            <a:ext cx="8869647" cy="1541675"/>
          </a:xfrm>
          <a:prstGeom prst="rect">
            <a:avLst/>
          </a:prstGeom>
        </p:spPr>
        <p:txBody>
          <a:bodyPr anchor="t" rtlCol="false" tIns="0" lIns="0" bIns="0" rIns="0">
            <a:spAutoFit/>
          </a:bodyPr>
          <a:lstStyle/>
          <a:p>
            <a:pPr algn="l">
              <a:lnSpc>
                <a:spcPts val="12675"/>
              </a:lnSpc>
              <a:spcBef>
                <a:spcPct val="0"/>
              </a:spcBef>
            </a:pPr>
            <a:r>
              <a:rPr lang="en-US" sz="9054">
                <a:solidFill>
                  <a:srgbClr val="33326B"/>
                </a:solidFill>
                <a:latin typeface="Hind Siliguri"/>
                <a:ea typeface="Hind Siliguri"/>
                <a:cs typeface="Hind Siliguri"/>
                <a:sym typeface="Hind Siliguri"/>
              </a:rPr>
              <a:t>PRE ANAMNESIS</a:t>
            </a:r>
          </a:p>
        </p:txBody>
      </p:sp>
      <p:sp>
        <p:nvSpPr>
          <p:cNvPr name="TextBox 11" id="11"/>
          <p:cNvSpPr txBox="true"/>
          <p:nvPr/>
        </p:nvSpPr>
        <p:spPr>
          <a:xfrm rot="0">
            <a:off x="449154" y="4703357"/>
            <a:ext cx="11132996" cy="2600410"/>
          </a:xfrm>
          <a:prstGeom prst="rect">
            <a:avLst/>
          </a:prstGeom>
        </p:spPr>
        <p:txBody>
          <a:bodyPr anchor="t" rtlCol="false" tIns="0" lIns="0" bIns="0" rIns="0">
            <a:spAutoFit/>
          </a:bodyPr>
          <a:lstStyle/>
          <a:p>
            <a:pPr algn="ctr">
              <a:lnSpc>
                <a:spcPts val="21239"/>
              </a:lnSpc>
              <a:spcBef>
                <a:spcPct val="0"/>
              </a:spcBef>
            </a:pPr>
            <a:r>
              <a:rPr lang="en-US" b="true" sz="15170">
                <a:solidFill>
                  <a:srgbClr val="33326B"/>
                </a:solidFill>
                <a:latin typeface="TT Chocolates Bold"/>
                <a:ea typeface="TT Chocolates Bold"/>
                <a:cs typeface="TT Chocolates Bold"/>
                <a:sym typeface="TT Chocolates Bold"/>
              </a:rPr>
              <a:t>CHATBOT</a:t>
            </a:r>
          </a:p>
        </p:txBody>
      </p:sp>
      <p:sp>
        <p:nvSpPr>
          <p:cNvPr name="TextBox 12" id="12"/>
          <p:cNvSpPr txBox="true"/>
          <p:nvPr/>
        </p:nvSpPr>
        <p:spPr>
          <a:xfrm rot="0">
            <a:off x="1288434" y="1334088"/>
            <a:ext cx="3032398" cy="262255"/>
          </a:xfrm>
          <a:prstGeom prst="rect">
            <a:avLst/>
          </a:prstGeom>
        </p:spPr>
        <p:txBody>
          <a:bodyPr anchor="t" rtlCol="false" tIns="0" lIns="0" bIns="0" rIns="0">
            <a:spAutoFit/>
          </a:bodyPr>
          <a:lstStyle/>
          <a:p>
            <a:pPr algn="l">
              <a:lnSpc>
                <a:spcPts val="2089"/>
              </a:lnSpc>
            </a:pPr>
            <a:r>
              <a:rPr lang="en-US" sz="1899" b="true">
                <a:solidFill>
                  <a:srgbClr val="33326B"/>
                </a:solidFill>
                <a:latin typeface="TT Chocolates Bold"/>
                <a:ea typeface="TT Chocolates Bold"/>
                <a:cs typeface="TT Chocolates Bold"/>
                <a:sym typeface="TT Chocolates Bold"/>
              </a:rPr>
              <a:t>PRAANA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3"/>
            <a:stretch>
              <a:fillRect l="-9222" t="-4461" r="-20094" b="-4717"/>
            </a:stretch>
          </a:blipFill>
        </p:spPr>
      </p:sp>
      <p:grpSp>
        <p:nvGrpSpPr>
          <p:cNvPr name="Group 3" id="3"/>
          <p:cNvGrpSpPr/>
          <p:nvPr/>
        </p:nvGrpSpPr>
        <p:grpSpPr>
          <a:xfrm rot="-10800000">
            <a:off x="-1397258" y="-2340370"/>
            <a:ext cx="21640247" cy="6653348"/>
            <a:chOff x="0" y="0"/>
            <a:chExt cx="5699489" cy="1752322"/>
          </a:xfrm>
        </p:grpSpPr>
        <p:sp>
          <p:nvSpPr>
            <p:cNvPr name="Freeform 4" id="4"/>
            <p:cNvSpPr/>
            <p:nvPr/>
          </p:nvSpPr>
          <p:spPr>
            <a:xfrm flipH="false" flipV="false" rot="0">
              <a:off x="0" y="0"/>
              <a:ext cx="5699489" cy="1752322"/>
            </a:xfrm>
            <a:custGeom>
              <a:avLst/>
              <a:gdLst/>
              <a:ahLst/>
              <a:cxnLst/>
              <a:rect r="r" b="b" t="t" l="l"/>
              <a:pathLst>
                <a:path h="1752322" w="5699489">
                  <a:moveTo>
                    <a:pt x="0" y="0"/>
                  </a:moveTo>
                  <a:lnTo>
                    <a:pt x="5699489" y="0"/>
                  </a:lnTo>
                  <a:lnTo>
                    <a:pt x="5699489" y="1752322"/>
                  </a:lnTo>
                  <a:lnTo>
                    <a:pt x="0" y="1752322"/>
                  </a:lnTo>
                  <a:close/>
                </a:path>
              </a:pathLst>
            </a:custGeom>
            <a:solidFill>
              <a:srgbClr val="195759"/>
            </a:solidFill>
          </p:spPr>
        </p:sp>
        <p:sp>
          <p:nvSpPr>
            <p:cNvPr name="TextBox 5" id="5"/>
            <p:cNvSpPr txBox="true"/>
            <p:nvPr/>
          </p:nvSpPr>
          <p:spPr>
            <a:xfrm>
              <a:off x="0" y="-47625"/>
              <a:ext cx="5699489" cy="1799947"/>
            </a:xfrm>
            <a:prstGeom prst="rect">
              <a:avLst/>
            </a:prstGeom>
          </p:spPr>
          <p:txBody>
            <a:bodyPr anchor="ctr" rtlCol="false" tIns="50800" lIns="50800" bIns="50800" rIns="50800"/>
            <a:lstStyle/>
            <a:p>
              <a:pPr algn="ctr">
                <a:lnSpc>
                  <a:spcPts val="2800"/>
                </a:lnSpc>
              </a:pPr>
            </a:p>
          </p:txBody>
        </p:sp>
      </p:grpSp>
      <p:grpSp>
        <p:nvGrpSpPr>
          <p:cNvPr name="Group 6" id="6"/>
          <p:cNvGrpSpPr>
            <a:grpSpLocks noChangeAspect="true"/>
          </p:cNvGrpSpPr>
          <p:nvPr/>
        </p:nvGrpSpPr>
        <p:grpSpPr>
          <a:xfrm rot="0">
            <a:off x="2061046" y="4931128"/>
            <a:ext cx="3879569" cy="4006819"/>
            <a:chOff x="0" y="0"/>
            <a:chExt cx="6350000" cy="6558280"/>
          </a:xfrm>
        </p:grpSpPr>
        <p:sp>
          <p:nvSpPr>
            <p:cNvPr name="Freeform 7" id="7"/>
            <p:cNvSpPr/>
            <p:nvPr/>
          </p:nvSpPr>
          <p:spPr>
            <a:xfrm flipH="false" flipV="false" rot="0">
              <a:off x="74930" y="74930"/>
              <a:ext cx="6200140" cy="6408420"/>
            </a:xfrm>
            <a:custGeom>
              <a:avLst/>
              <a:gdLst/>
              <a:ahLst/>
              <a:cxnLst/>
              <a:rect r="r" b="b" t="t" l="l"/>
              <a:pathLst>
                <a:path h="6408420" w="6200140">
                  <a:moveTo>
                    <a:pt x="6200140" y="5351780"/>
                  </a:moveTo>
                  <a:cubicBezTo>
                    <a:pt x="6200140" y="5935980"/>
                    <a:pt x="5726430" y="6408420"/>
                    <a:pt x="5143500" y="6408420"/>
                  </a:cubicBezTo>
                  <a:lnTo>
                    <a:pt x="1056640" y="6408420"/>
                  </a:lnTo>
                  <a:cubicBezTo>
                    <a:pt x="472440" y="6408420"/>
                    <a:pt x="0" y="5934710"/>
                    <a:pt x="0" y="5351780"/>
                  </a:cubicBezTo>
                  <a:lnTo>
                    <a:pt x="0" y="1056640"/>
                  </a:lnTo>
                  <a:cubicBezTo>
                    <a:pt x="0" y="472440"/>
                    <a:pt x="473710" y="0"/>
                    <a:pt x="1056640" y="0"/>
                  </a:cubicBezTo>
                  <a:lnTo>
                    <a:pt x="5143500" y="0"/>
                  </a:lnTo>
                  <a:cubicBezTo>
                    <a:pt x="5727700" y="0"/>
                    <a:pt x="6200140" y="473710"/>
                    <a:pt x="6200140" y="1056640"/>
                  </a:cubicBezTo>
                  <a:lnTo>
                    <a:pt x="6200140" y="5351780"/>
                  </a:lnTo>
                  <a:close/>
                </a:path>
              </a:pathLst>
            </a:custGeom>
            <a:blipFill>
              <a:blip r:embed="rId4"/>
              <a:stretch>
                <a:fillRect l="0" t="-35999" r="0" b="-35999"/>
              </a:stretch>
            </a:blipFill>
          </p:spPr>
        </p:sp>
        <p:sp>
          <p:nvSpPr>
            <p:cNvPr name="Freeform 8" id="8"/>
            <p:cNvSpPr/>
            <p:nvPr/>
          </p:nvSpPr>
          <p:spPr>
            <a:xfrm flipH="false" flipV="false" rot="0">
              <a:off x="0" y="0"/>
              <a:ext cx="6350000" cy="6558280"/>
            </a:xfrm>
            <a:custGeom>
              <a:avLst/>
              <a:gdLst/>
              <a:ahLst/>
              <a:cxnLst/>
              <a:rect r="r" b="b" t="t" l="l"/>
              <a:pathLst>
                <a:path h="6558280" w="6350000">
                  <a:moveTo>
                    <a:pt x="5218430" y="6558280"/>
                  </a:moveTo>
                  <a:lnTo>
                    <a:pt x="1131570" y="6558280"/>
                  </a:lnTo>
                  <a:cubicBezTo>
                    <a:pt x="508000" y="6558280"/>
                    <a:pt x="0" y="6050280"/>
                    <a:pt x="0" y="5426710"/>
                  </a:cubicBezTo>
                  <a:lnTo>
                    <a:pt x="0" y="1131570"/>
                  </a:lnTo>
                  <a:cubicBezTo>
                    <a:pt x="0" y="508000"/>
                    <a:pt x="508000" y="0"/>
                    <a:pt x="1131570" y="0"/>
                  </a:cubicBezTo>
                  <a:lnTo>
                    <a:pt x="5218430" y="0"/>
                  </a:lnTo>
                  <a:cubicBezTo>
                    <a:pt x="5842000" y="0"/>
                    <a:pt x="6350000" y="508000"/>
                    <a:pt x="6350000" y="1131570"/>
                  </a:cubicBezTo>
                  <a:lnTo>
                    <a:pt x="6350000" y="5425440"/>
                  </a:lnTo>
                  <a:cubicBezTo>
                    <a:pt x="6350000" y="6050280"/>
                    <a:pt x="5842000" y="6558280"/>
                    <a:pt x="5218430" y="6558280"/>
                  </a:cubicBezTo>
                  <a:close/>
                  <a:moveTo>
                    <a:pt x="1131570" y="149860"/>
                  </a:moveTo>
                  <a:cubicBezTo>
                    <a:pt x="590550" y="149860"/>
                    <a:pt x="149860" y="590550"/>
                    <a:pt x="149860" y="1131570"/>
                  </a:cubicBezTo>
                  <a:lnTo>
                    <a:pt x="149860" y="5425440"/>
                  </a:lnTo>
                  <a:cubicBezTo>
                    <a:pt x="149860" y="5966460"/>
                    <a:pt x="590550" y="6407150"/>
                    <a:pt x="1131570" y="6407150"/>
                  </a:cubicBezTo>
                  <a:lnTo>
                    <a:pt x="5218430" y="6407150"/>
                  </a:lnTo>
                  <a:cubicBezTo>
                    <a:pt x="5759450" y="6407150"/>
                    <a:pt x="6200140" y="5966460"/>
                    <a:pt x="6200140" y="5425440"/>
                  </a:cubicBezTo>
                  <a:lnTo>
                    <a:pt x="6200140" y="1131570"/>
                  </a:lnTo>
                  <a:cubicBezTo>
                    <a:pt x="6200140" y="590550"/>
                    <a:pt x="5759450" y="149860"/>
                    <a:pt x="5218430" y="149860"/>
                  </a:cubicBezTo>
                  <a:lnTo>
                    <a:pt x="1131570" y="149860"/>
                  </a:lnTo>
                  <a:close/>
                </a:path>
              </a:pathLst>
            </a:custGeom>
            <a:solidFill>
              <a:srgbClr val="33326B"/>
            </a:solidFill>
          </p:spPr>
        </p:sp>
      </p:grpSp>
      <p:grpSp>
        <p:nvGrpSpPr>
          <p:cNvPr name="Group 9" id="9"/>
          <p:cNvGrpSpPr/>
          <p:nvPr/>
        </p:nvGrpSpPr>
        <p:grpSpPr>
          <a:xfrm rot="0">
            <a:off x="1806669" y="8269384"/>
            <a:ext cx="4450839" cy="831032"/>
            <a:chOff x="0" y="0"/>
            <a:chExt cx="2176597" cy="406400"/>
          </a:xfrm>
        </p:grpSpPr>
        <p:sp>
          <p:nvSpPr>
            <p:cNvPr name="Freeform 10" id="10"/>
            <p:cNvSpPr/>
            <p:nvPr/>
          </p:nvSpPr>
          <p:spPr>
            <a:xfrm flipH="false" flipV="false" rot="0">
              <a:off x="0" y="0"/>
              <a:ext cx="2176597" cy="406400"/>
            </a:xfrm>
            <a:custGeom>
              <a:avLst/>
              <a:gdLst/>
              <a:ahLst/>
              <a:cxnLst/>
              <a:rect r="r" b="b" t="t" l="l"/>
              <a:pathLst>
                <a:path h="406400" w="2176597">
                  <a:moveTo>
                    <a:pt x="1973397" y="0"/>
                  </a:moveTo>
                  <a:cubicBezTo>
                    <a:pt x="2085621" y="0"/>
                    <a:pt x="2176597" y="90976"/>
                    <a:pt x="2176597" y="203200"/>
                  </a:cubicBezTo>
                  <a:cubicBezTo>
                    <a:pt x="2176597" y="315424"/>
                    <a:pt x="2085621" y="406400"/>
                    <a:pt x="1973397" y="406400"/>
                  </a:cubicBezTo>
                  <a:lnTo>
                    <a:pt x="203200" y="406400"/>
                  </a:lnTo>
                  <a:cubicBezTo>
                    <a:pt x="90976" y="406400"/>
                    <a:pt x="0" y="315424"/>
                    <a:pt x="0" y="203200"/>
                  </a:cubicBezTo>
                  <a:cubicBezTo>
                    <a:pt x="0" y="90976"/>
                    <a:pt x="90976" y="0"/>
                    <a:pt x="203200" y="0"/>
                  </a:cubicBezTo>
                  <a:close/>
                </a:path>
              </a:pathLst>
            </a:custGeom>
            <a:solidFill>
              <a:srgbClr val="FFFFFF"/>
            </a:solidFill>
            <a:ln w="85725" cap="sq">
              <a:solidFill>
                <a:srgbClr val="48CFAE"/>
              </a:solidFill>
              <a:prstDash val="solid"/>
              <a:miter/>
            </a:ln>
          </p:spPr>
        </p:sp>
        <p:sp>
          <p:nvSpPr>
            <p:cNvPr name="TextBox 11" id="11"/>
            <p:cNvSpPr txBox="true"/>
            <p:nvPr/>
          </p:nvSpPr>
          <p:spPr>
            <a:xfrm>
              <a:off x="0" y="-57150"/>
              <a:ext cx="2176597" cy="463550"/>
            </a:xfrm>
            <a:prstGeom prst="rect">
              <a:avLst/>
            </a:prstGeom>
          </p:spPr>
          <p:txBody>
            <a:bodyPr anchor="ctr" rtlCol="false" tIns="50800" lIns="50800" bIns="50800" rIns="50800"/>
            <a:lstStyle/>
            <a:p>
              <a:pPr algn="ctr">
                <a:lnSpc>
                  <a:spcPts val="4480"/>
                </a:lnSpc>
              </a:pPr>
            </a:p>
          </p:txBody>
        </p:sp>
      </p:grpSp>
      <p:grpSp>
        <p:nvGrpSpPr>
          <p:cNvPr name="Group 12" id="12"/>
          <p:cNvGrpSpPr>
            <a:grpSpLocks noChangeAspect="true"/>
          </p:cNvGrpSpPr>
          <p:nvPr/>
        </p:nvGrpSpPr>
        <p:grpSpPr>
          <a:xfrm rot="0">
            <a:off x="7204216" y="4791550"/>
            <a:ext cx="3443665" cy="3556618"/>
            <a:chOff x="0" y="0"/>
            <a:chExt cx="6350000" cy="6558280"/>
          </a:xfrm>
        </p:grpSpPr>
        <p:sp>
          <p:nvSpPr>
            <p:cNvPr name="Freeform 13" id="13"/>
            <p:cNvSpPr/>
            <p:nvPr/>
          </p:nvSpPr>
          <p:spPr>
            <a:xfrm flipH="false" flipV="false" rot="0">
              <a:off x="74930" y="74930"/>
              <a:ext cx="6200140" cy="6408420"/>
            </a:xfrm>
            <a:custGeom>
              <a:avLst/>
              <a:gdLst/>
              <a:ahLst/>
              <a:cxnLst/>
              <a:rect r="r" b="b" t="t" l="l"/>
              <a:pathLst>
                <a:path h="6408420" w="6200140">
                  <a:moveTo>
                    <a:pt x="6200140" y="5351780"/>
                  </a:moveTo>
                  <a:cubicBezTo>
                    <a:pt x="6200140" y="5935980"/>
                    <a:pt x="5726430" y="6408420"/>
                    <a:pt x="5143500" y="6408420"/>
                  </a:cubicBezTo>
                  <a:lnTo>
                    <a:pt x="1056640" y="6408420"/>
                  </a:lnTo>
                  <a:cubicBezTo>
                    <a:pt x="472440" y="6408420"/>
                    <a:pt x="0" y="5934710"/>
                    <a:pt x="0" y="5351780"/>
                  </a:cubicBezTo>
                  <a:lnTo>
                    <a:pt x="0" y="1056640"/>
                  </a:lnTo>
                  <a:cubicBezTo>
                    <a:pt x="0" y="472440"/>
                    <a:pt x="473710" y="0"/>
                    <a:pt x="1056640" y="0"/>
                  </a:cubicBezTo>
                  <a:lnTo>
                    <a:pt x="5143500" y="0"/>
                  </a:lnTo>
                  <a:cubicBezTo>
                    <a:pt x="5727700" y="0"/>
                    <a:pt x="6200140" y="473710"/>
                    <a:pt x="6200140" y="1056640"/>
                  </a:cubicBezTo>
                  <a:lnTo>
                    <a:pt x="6200140" y="5351780"/>
                  </a:lnTo>
                  <a:close/>
                </a:path>
              </a:pathLst>
            </a:custGeom>
            <a:blipFill>
              <a:blip r:embed="rId5"/>
              <a:stretch>
                <a:fillRect l="0" t="-14392" r="0" b="-14392"/>
              </a:stretch>
            </a:blipFill>
          </p:spPr>
        </p:sp>
        <p:sp>
          <p:nvSpPr>
            <p:cNvPr name="Freeform 14" id="14"/>
            <p:cNvSpPr/>
            <p:nvPr/>
          </p:nvSpPr>
          <p:spPr>
            <a:xfrm flipH="false" flipV="false" rot="0">
              <a:off x="0" y="0"/>
              <a:ext cx="6350000" cy="6558280"/>
            </a:xfrm>
            <a:custGeom>
              <a:avLst/>
              <a:gdLst/>
              <a:ahLst/>
              <a:cxnLst/>
              <a:rect r="r" b="b" t="t" l="l"/>
              <a:pathLst>
                <a:path h="6558280" w="6350000">
                  <a:moveTo>
                    <a:pt x="5218430" y="6558280"/>
                  </a:moveTo>
                  <a:lnTo>
                    <a:pt x="1131570" y="6558280"/>
                  </a:lnTo>
                  <a:cubicBezTo>
                    <a:pt x="508000" y="6558280"/>
                    <a:pt x="0" y="6050280"/>
                    <a:pt x="0" y="5426710"/>
                  </a:cubicBezTo>
                  <a:lnTo>
                    <a:pt x="0" y="1131570"/>
                  </a:lnTo>
                  <a:cubicBezTo>
                    <a:pt x="0" y="508000"/>
                    <a:pt x="508000" y="0"/>
                    <a:pt x="1131570" y="0"/>
                  </a:cubicBezTo>
                  <a:lnTo>
                    <a:pt x="5218430" y="0"/>
                  </a:lnTo>
                  <a:cubicBezTo>
                    <a:pt x="5842000" y="0"/>
                    <a:pt x="6350000" y="508000"/>
                    <a:pt x="6350000" y="1131570"/>
                  </a:cubicBezTo>
                  <a:lnTo>
                    <a:pt x="6350000" y="5425440"/>
                  </a:lnTo>
                  <a:cubicBezTo>
                    <a:pt x="6350000" y="6050280"/>
                    <a:pt x="5842000" y="6558280"/>
                    <a:pt x="5218430" y="6558280"/>
                  </a:cubicBezTo>
                  <a:close/>
                  <a:moveTo>
                    <a:pt x="1131570" y="149860"/>
                  </a:moveTo>
                  <a:cubicBezTo>
                    <a:pt x="590550" y="149860"/>
                    <a:pt x="149860" y="590550"/>
                    <a:pt x="149860" y="1131570"/>
                  </a:cubicBezTo>
                  <a:lnTo>
                    <a:pt x="149860" y="5425440"/>
                  </a:lnTo>
                  <a:cubicBezTo>
                    <a:pt x="149860" y="5966460"/>
                    <a:pt x="590550" y="6407150"/>
                    <a:pt x="1131570" y="6407150"/>
                  </a:cubicBezTo>
                  <a:lnTo>
                    <a:pt x="5218430" y="6407150"/>
                  </a:lnTo>
                  <a:cubicBezTo>
                    <a:pt x="5759450" y="6407150"/>
                    <a:pt x="6200140" y="5966460"/>
                    <a:pt x="6200140" y="5425440"/>
                  </a:cubicBezTo>
                  <a:lnTo>
                    <a:pt x="6200140" y="1131570"/>
                  </a:lnTo>
                  <a:cubicBezTo>
                    <a:pt x="6200140" y="590550"/>
                    <a:pt x="5759450" y="149860"/>
                    <a:pt x="5218430" y="149860"/>
                  </a:cubicBezTo>
                  <a:lnTo>
                    <a:pt x="1131570" y="149860"/>
                  </a:lnTo>
                  <a:close/>
                </a:path>
              </a:pathLst>
            </a:custGeom>
            <a:solidFill>
              <a:srgbClr val="33326B"/>
            </a:solidFill>
          </p:spPr>
        </p:sp>
      </p:grpSp>
      <p:grpSp>
        <p:nvGrpSpPr>
          <p:cNvPr name="Group 15" id="15"/>
          <p:cNvGrpSpPr/>
          <p:nvPr/>
        </p:nvGrpSpPr>
        <p:grpSpPr>
          <a:xfrm rot="0">
            <a:off x="6867731" y="8269384"/>
            <a:ext cx="4425522" cy="831032"/>
            <a:chOff x="0" y="0"/>
            <a:chExt cx="2164216" cy="406400"/>
          </a:xfrm>
        </p:grpSpPr>
        <p:sp>
          <p:nvSpPr>
            <p:cNvPr name="Freeform 16" id="16"/>
            <p:cNvSpPr/>
            <p:nvPr/>
          </p:nvSpPr>
          <p:spPr>
            <a:xfrm flipH="false" flipV="false" rot="0">
              <a:off x="0" y="0"/>
              <a:ext cx="2164216" cy="406400"/>
            </a:xfrm>
            <a:custGeom>
              <a:avLst/>
              <a:gdLst/>
              <a:ahLst/>
              <a:cxnLst/>
              <a:rect r="r" b="b" t="t" l="l"/>
              <a:pathLst>
                <a:path h="406400" w="2164216">
                  <a:moveTo>
                    <a:pt x="1961016" y="0"/>
                  </a:moveTo>
                  <a:cubicBezTo>
                    <a:pt x="2073240" y="0"/>
                    <a:pt x="2164216" y="90976"/>
                    <a:pt x="2164216" y="203200"/>
                  </a:cubicBezTo>
                  <a:cubicBezTo>
                    <a:pt x="2164216" y="315424"/>
                    <a:pt x="2073240" y="406400"/>
                    <a:pt x="1961016" y="406400"/>
                  </a:cubicBezTo>
                  <a:lnTo>
                    <a:pt x="203200" y="406400"/>
                  </a:lnTo>
                  <a:cubicBezTo>
                    <a:pt x="90976" y="406400"/>
                    <a:pt x="0" y="315424"/>
                    <a:pt x="0" y="203200"/>
                  </a:cubicBezTo>
                  <a:cubicBezTo>
                    <a:pt x="0" y="90976"/>
                    <a:pt x="90976" y="0"/>
                    <a:pt x="203200" y="0"/>
                  </a:cubicBezTo>
                  <a:close/>
                </a:path>
              </a:pathLst>
            </a:custGeom>
            <a:solidFill>
              <a:srgbClr val="FFFFFF"/>
            </a:solidFill>
            <a:ln w="85725" cap="sq">
              <a:solidFill>
                <a:srgbClr val="48CFAE"/>
              </a:solidFill>
              <a:prstDash val="solid"/>
              <a:miter/>
            </a:ln>
          </p:spPr>
        </p:sp>
        <p:sp>
          <p:nvSpPr>
            <p:cNvPr name="TextBox 17" id="17"/>
            <p:cNvSpPr txBox="true"/>
            <p:nvPr/>
          </p:nvSpPr>
          <p:spPr>
            <a:xfrm>
              <a:off x="0" y="-57150"/>
              <a:ext cx="2164216" cy="463550"/>
            </a:xfrm>
            <a:prstGeom prst="rect">
              <a:avLst/>
            </a:prstGeom>
          </p:spPr>
          <p:txBody>
            <a:bodyPr anchor="ctr" rtlCol="false" tIns="50800" lIns="50800" bIns="50800" rIns="50800"/>
            <a:lstStyle/>
            <a:p>
              <a:pPr algn="ctr">
                <a:lnSpc>
                  <a:spcPts val="4480"/>
                </a:lnSpc>
              </a:pPr>
            </a:p>
          </p:txBody>
        </p:sp>
      </p:grpSp>
      <p:grpSp>
        <p:nvGrpSpPr>
          <p:cNvPr name="Group 18" id="18"/>
          <p:cNvGrpSpPr/>
          <p:nvPr/>
        </p:nvGrpSpPr>
        <p:grpSpPr>
          <a:xfrm rot="8100000">
            <a:off x="14765210" y="3424132"/>
            <a:ext cx="2419526" cy="2419526"/>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4797" y="0"/>
                  </a:moveTo>
                  <a:lnTo>
                    <a:pt x="768003" y="0"/>
                  </a:lnTo>
                  <a:cubicBezTo>
                    <a:pt x="779884" y="0"/>
                    <a:pt x="791278" y="4720"/>
                    <a:pt x="799679" y="13121"/>
                  </a:cubicBezTo>
                  <a:cubicBezTo>
                    <a:pt x="808080" y="21522"/>
                    <a:pt x="812800" y="32916"/>
                    <a:pt x="812800" y="44797"/>
                  </a:cubicBezTo>
                  <a:lnTo>
                    <a:pt x="812800" y="768003"/>
                  </a:lnTo>
                  <a:cubicBezTo>
                    <a:pt x="812800" y="779884"/>
                    <a:pt x="808080" y="791278"/>
                    <a:pt x="799679" y="799679"/>
                  </a:cubicBezTo>
                  <a:cubicBezTo>
                    <a:pt x="791278" y="808080"/>
                    <a:pt x="779884" y="812800"/>
                    <a:pt x="768003" y="812800"/>
                  </a:cubicBezTo>
                  <a:lnTo>
                    <a:pt x="44797" y="812800"/>
                  </a:lnTo>
                  <a:cubicBezTo>
                    <a:pt x="32916" y="812800"/>
                    <a:pt x="21522" y="808080"/>
                    <a:pt x="13121" y="799679"/>
                  </a:cubicBezTo>
                  <a:cubicBezTo>
                    <a:pt x="4720" y="791278"/>
                    <a:pt x="0" y="779884"/>
                    <a:pt x="0" y="768003"/>
                  </a:cubicBezTo>
                  <a:lnTo>
                    <a:pt x="0" y="44797"/>
                  </a:lnTo>
                  <a:cubicBezTo>
                    <a:pt x="0" y="32916"/>
                    <a:pt x="4720" y="21522"/>
                    <a:pt x="13121" y="13121"/>
                  </a:cubicBezTo>
                  <a:cubicBezTo>
                    <a:pt x="21522" y="4720"/>
                    <a:pt x="32916" y="0"/>
                    <a:pt x="44797" y="0"/>
                  </a:cubicBezTo>
                  <a:close/>
                </a:path>
              </a:pathLst>
            </a:custGeom>
            <a:gradFill rotWithShape="true">
              <a:gsLst>
                <a:gs pos="0">
                  <a:srgbClr val="48CFAE">
                    <a:alpha val="100000"/>
                  </a:srgbClr>
                </a:gs>
                <a:gs pos="100000">
                  <a:srgbClr val="006D83">
                    <a:alpha val="100000"/>
                  </a:srgbClr>
                </a:gs>
              </a:gsLst>
              <a:lin ang="5400000"/>
            </a:gradFill>
          </p:spPr>
        </p:sp>
        <p:sp>
          <p:nvSpPr>
            <p:cNvPr name="TextBox 20" id="20"/>
            <p:cNvSpPr txBox="true"/>
            <p:nvPr/>
          </p:nvSpPr>
          <p:spPr>
            <a:xfrm>
              <a:off x="0" y="-47625"/>
              <a:ext cx="812800" cy="860425"/>
            </a:xfrm>
            <a:prstGeom prst="rect">
              <a:avLst/>
            </a:prstGeom>
          </p:spPr>
          <p:txBody>
            <a:bodyPr anchor="ctr" rtlCol="false" tIns="50800" lIns="50800" bIns="50800" rIns="50800"/>
            <a:lstStyle/>
            <a:p>
              <a:pPr algn="ctr">
                <a:lnSpc>
                  <a:spcPts val="2800"/>
                </a:lnSpc>
              </a:pPr>
            </a:p>
          </p:txBody>
        </p:sp>
      </p:grpSp>
      <p:grpSp>
        <p:nvGrpSpPr>
          <p:cNvPr name="Group 21" id="21"/>
          <p:cNvGrpSpPr/>
          <p:nvPr/>
        </p:nvGrpSpPr>
        <p:grpSpPr>
          <a:xfrm rot="8100000">
            <a:off x="11777297" y="-2592650"/>
            <a:ext cx="5453301" cy="5453301"/>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19875" y="0"/>
                  </a:moveTo>
                  <a:lnTo>
                    <a:pt x="792925" y="0"/>
                  </a:lnTo>
                  <a:cubicBezTo>
                    <a:pt x="803901" y="0"/>
                    <a:pt x="812800" y="8899"/>
                    <a:pt x="812800" y="19875"/>
                  </a:cubicBezTo>
                  <a:lnTo>
                    <a:pt x="812800" y="792925"/>
                  </a:lnTo>
                  <a:cubicBezTo>
                    <a:pt x="812800" y="803901"/>
                    <a:pt x="803901" y="812800"/>
                    <a:pt x="792925" y="812800"/>
                  </a:cubicBezTo>
                  <a:lnTo>
                    <a:pt x="19875" y="812800"/>
                  </a:lnTo>
                  <a:cubicBezTo>
                    <a:pt x="8899" y="812800"/>
                    <a:pt x="0" y="803901"/>
                    <a:pt x="0" y="792925"/>
                  </a:cubicBezTo>
                  <a:lnTo>
                    <a:pt x="0" y="19875"/>
                  </a:lnTo>
                  <a:cubicBezTo>
                    <a:pt x="0" y="8899"/>
                    <a:pt x="8899" y="0"/>
                    <a:pt x="19875" y="0"/>
                  </a:cubicBezTo>
                  <a:close/>
                </a:path>
              </a:pathLst>
            </a:custGeom>
            <a:gradFill rotWithShape="true">
              <a:gsLst>
                <a:gs pos="0">
                  <a:srgbClr val="48CFAE">
                    <a:alpha val="100000"/>
                  </a:srgbClr>
                </a:gs>
                <a:gs pos="100000">
                  <a:srgbClr val="006D83">
                    <a:alpha val="100000"/>
                  </a:srgbClr>
                </a:gs>
              </a:gsLst>
              <a:lin ang="5400000"/>
            </a:gradFill>
          </p:spPr>
        </p:sp>
        <p:sp>
          <p:nvSpPr>
            <p:cNvPr name="TextBox 23" id="23"/>
            <p:cNvSpPr txBox="true"/>
            <p:nvPr/>
          </p:nvSpPr>
          <p:spPr>
            <a:xfrm>
              <a:off x="0" y="-47625"/>
              <a:ext cx="812800" cy="860425"/>
            </a:xfrm>
            <a:prstGeom prst="rect">
              <a:avLst/>
            </a:prstGeom>
          </p:spPr>
          <p:txBody>
            <a:bodyPr anchor="ctr" rtlCol="false" tIns="50800" lIns="50800" bIns="50800" rIns="50800"/>
            <a:lstStyle/>
            <a:p>
              <a:pPr algn="ctr">
                <a:lnSpc>
                  <a:spcPts val="2800"/>
                </a:lnSpc>
              </a:pPr>
            </a:p>
          </p:txBody>
        </p:sp>
      </p:grpSp>
      <p:grpSp>
        <p:nvGrpSpPr>
          <p:cNvPr name="Group 24" id="24"/>
          <p:cNvGrpSpPr/>
          <p:nvPr/>
        </p:nvGrpSpPr>
        <p:grpSpPr>
          <a:xfrm rot="-2700000">
            <a:off x="17288002" y="25272"/>
            <a:ext cx="5453301" cy="5453301"/>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19875" y="0"/>
                  </a:moveTo>
                  <a:lnTo>
                    <a:pt x="792925" y="0"/>
                  </a:lnTo>
                  <a:cubicBezTo>
                    <a:pt x="803901" y="0"/>
                    <a:pt x="812800" y="8899"/>
                    <a:pt x="812800" y="19875"/>
                  </a:cubicBezTo>
                  <a:lnTo>
                    <a:pt x="812800" y="792925"/>
                  </a:lnTo>
                  <a:cubicBezTo>
                    <a:pt x="812800" y="803901"/>
                    <a:pt x="803901" y="812800"/>
                    <a:pt x="792925" y="812800"/>
                  </a:cubicBezTo>
                  <a:lnTo>
                    <a:pt x="19875" y="812800"/>
                  </a:lnTo>
                  <a:cubicBezTo>
                    <a:pt x="8899" y="812800"/>
                    <a:pt x="0" y="803901"/>
                    <a:pt x="0" y="792925"/>
                  </a:cubicBezTo>
                  <a:lnTo>
                    <a:pt x="0" y="19875"/>
                  </a:lnTo>
                  <a:cubicBezTo>
                    <a:pt x="0" y="8899"/>
                    <a:pt x="8899" y="0"/>
                    <a:pt x="19875" y="0"/>
                  </a:cubicBezTo>
                  <a:close/>
                </a:path>
              </a:pathLst>
            </a:custGeom>
            <a:gradFill rotWithShape="true">
              <a:gsLst>
                <a:gs pos="0">
                  <a:srgbClr val="48CFAE">
                    <a:alpha val="100000"/>
                  </a:srgbClr>
                </a:gs>
                <a:gs pos="100000">
                  <a:srgbClr val="006D83">
                    <a:alpha val="100000"/>
                  </a:srgbClr>
                </a:gs>
              </a:gsLst>
              <a:lin ang="0"/>
            </a:gradFill>
          </p:spPr>
        </p:sp>
        <p:sp>
          <p:nvSpPr>
            <p:cNvPr name="TextBox 26" id="26"/>
            <p:cNvSpPr txBox="true"/>
            <p:nvPr/>
          </p:nvSpPr>
          <p:spPr>
            <a:xfrm>
              <a:off x="0" y="-47625"/>
              <a:ext cx="812800" cy="860425"/>
            </a:xfrm>
            <a:prstGeom prst="rect">
              <a:avLst/>
            </a:prstGeom>
          </p:spPr>
          <p:txBody>
            <a:bodyPr anchor="ctr" rtlCol="false" tIns="50800" lIns="50800" bIns="50800" rIns="50800"/>
            <a:lstStyle/>
            <a:p>
              <a:pPr algn="ctr">
                <a:lnSpc>
                  <a:spcPts val="2800"/>
                </a:lnSpc>
              </a:pPr>
            </a:p>
          </p:txBody>
        </p:sp>
      </p:grpSp>
      <p:grpSp>
        <p:nvGrpSpPr>
          <p:cNvPr name="Group 27" id="27"/>
          <p:cNvGrpSpPr/>
          <p:nvPr/>
        </p:nvGrpSpPr>
        <p:grpSpPr>
          <a:xfrm rot="-8100000">
            <a:off x="15407368" y="2184317"/>
            <a:ext cx="1135210" cy="1135210"/>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95477" y="0"/>
                  </a:moveTo>
                  <a:lnTo>
                    <a:pt x="717323" y="0"/>
                  </a:lnTo>
                  <a:cubicBezTo>
                    <a:pt x="742645" y="0"/>
                    <a:pt x="766930" y="10059"/>
                    <a:pt x="784835" y="27965"/>
                  </a:cubicBezTo>
                  <a:cubicBezTo>
                    <a:pt x="802741" y="45870"/>
                    <a:pt x="812800" y="70155"/>
                    <a:pt x="812800" y="95477"/>
                  </a:cubicBezTo>
                  <a:lnTo>
                    <a:pt x="812800" y="717323"/>
                  </a:lnTo>
                  <a:cubicBezTo>
                    <a:pt x="812800" y="742645"/>
                    <a:pt x="802741" y="766930"/>
                    <a:pt x="784835" y="784835"/>
                  </a:cubicBezTo>
                  <a:cubicBezTo>
                    <a:pt x="766930" y="802741"/>
                    <a:pt x="742645" y="812800"/>
                    <a:pt x="717323" y="812800"/>
                  </a:cubicBezTo>
                  <a:lnTo>
                    <a:pt x="95477" y="812800"/>
                  </a:lnTo>
                  <a:cubicBezTo>
                    <a:pt x="70155" y="812800"/>
                    <a:pt x="45870" y="802741"/>
                    <a:pt x="27965" y="784835"/>
                  </a:cubicBezTo>
                  <a:cubicBezTo>
                    <a:pt x="10059" y="766930"/>
                    <a:pt x="0" y="742645"/>
                    <a:pt x="0" y="717323"/>
                  </a:cubicBezTo>
                  <a:lnTo>
                    <a:pt x="0" y="95477"/>
                  </a:lnTo>
                  <a:cubicBezTo>
                    <a:pt x="0" y="70155"/>
                    <a:pt x="10059" y="45870"/>
                    <a:pt x="27965" y="27965"/>
                  </a:cubicBezTo>
                  <a:cubicBezTo>
                    <a:pt x="45870" y="10059"/>
                    <a:pt x="70155" y="0"/>
                    <a:pt x="95477" y="0"/>
                  </a:cubicBezTo>
                  <a:close/>
                </a:path>
              </a:pathLst>
            </a:custGeom>
            <a:solidFill>
              <a:srgbClr val="33326B"/>
            </a:solidFill>
          </p:spPr>
        </p:sp>
        <p:sp>
          <p:nvSpPr>
            <p:cNvPr name="TextBox 29" id="29"/>
            <p:cNvSpPr txBox="true"/>
            <p:nvPr/>
          </p:nvSpPr>
          <p:spPr>
            <a:xfrm>
              <a:off x="0" y="-47625"/>
              <a:ext cx="812800" cy="860425"/>
            </a:xfrm>
            <a:prstGeom prst="rect">
              <a:avLst/>
            </a:prstGeom>
          </p:spPr>
          <p:txBody>
            <a:bodyPr anchor="ctr" rtlCol="false" tIns="50800" lIns="50800" bIns="50800" rIns="50800"/>
            <a:lstStyle/>
            <a:p>
              <a:pPr algn="ctr">
                <a:lnSpc>
                  <a:spcPts val="2800"/>
                </a:lnSpc>
              </a:pPr>
            </a:p>
          </p:txBody>
        </p:sp>
      </p:grpSp>
      <p:grpSp>
        <p:nvGrpSpPr>
          <p:cNvPr name="Group 30" id="30"/>
          <p:cNvGrpSpPr>
            <a:grpSpLocks noChangeAspect="true"/>
          </p:cNvGrpSpPr>
          <p:nvPr/>
        </p:nvGrpSpPr>
        <p:grpSpPr>
          <a:xfrm rot="0">
            <a:off x="12101053" y="4931128"/>
            <a:ext cx="3879569" cy="4006819"/>
            <a:chOff x="0" y="0"/>
            <a:chExt cx="6350000" cy="6558280"/>
          </a:xfrm>
        </p:grpSpPr>
        <p:sp>
          <p:nvSpPr>
            <p:cNvPr name="Freeform 31" id="31"/>
            <p:cNvSpPr/>
            <p:nvPr/>
          </p:nvSpPr>
          <p:spPr>
            <a:xfrm flipH="false" flipV="false" rot="0">
              <a:off x="74930" y="74930"/>
              <a:ext cx="6200140" cy="6408420"/>
            </a:xfrm>
            <a:custGeom>
              <a:avLst/>
              <a:gdLst/>
              <a:ahLst/>
              <a:cxnLst/>
              <a:rect r="r" b="b" t="t" l="l"/>
              <a:pathLst>
                <a:path h="6408420" w="6200140">
                  <a:moveTo>
                    <a:pt x="6200140" y="5351780"/>
                  </a:moveTo>
                  <a:cubicBezTo>
                    <a:pt x="6200140" y="5935980"/>
                    <a:pt x="5726430" y="6408420"/>
                    <a:pt x="5143500" y="6408420"/>
                  </a:cubicBezTo>
                  <a:lnTo>
                    <a:pt x="1056640" y="6408420"/>
                  </a:lnTo>
                  <a:cubicBezTo>
                    <a:pt x="472440" y="6408420"/>
                    <a:pt x="0" y="5934710"/>
                    <a:pt x="0" y="5351780"/>
                  </a:cubicBezTo>
                  <a:lnTo>
                    <a:pt x="0" y="1056640"/>
                  </a:lnTo>
                  <a:cubicBezTo>
                    <a:pt x="0" y="472440"/>
                    <a:pt x="473710" y="0"/>
                    <a:pt x="1056640" y="0"/>
                  </a:cubicBezTo>
                  <a:lnTo>
                    <a:pt x="5143500" y="0"/>
                  </a:lnTo>
                  <a:cubicBezTo>
                    <a:pt x="5727700" y="0"/>
                    <a:pt x="6200140" y="473710"/>
                    <a:pt x="6200140" y="1056640"/>
                  </a:cubicBezTo>
                  <a:lnTo>
                    <a:pt x="6200140" y="5351780"/>
                  </a:lnTo>
                  <a:close/>
                </a:path>
              </a:pathLst>
            </a:custGeom>
            <a:blipFill>
              <a:blip r:embed="rId6"/>
              <a:stretch>
                <a:fillRect l="0" t="-22607" r="0" b="-22607"/>
              </a:stretch>
            </a:blipFill>
          </p:spPr>
        </p:sp>
        <p:sp>
          <p:nvSpPr>
            <p:cNvPr name="Freeform 32" id="32"/>
            <p:cNvSpPr/>
            <p:nvPr/>
          </p:nvSpPr>
          <p:spPr>
            <a:xfrm flipH="false" flipV="false" rot="0">
              <a:off x="0" y="0"/>
              <a:ext cx="6350000" cy="6558280"/>
            </a:xfrm>
            <a:custGeom>
              <a:avLst/>
              <a:gdLst/>
              <a:ahLst/>
              <a:cxnLst/>
              <a:rect r="r" b="b" t="t" l="l"/>
              <a:pathLst>
                <a:path h="6558280" w="6350000">
                  <a:moveTo>
                    <a:pt x="5218430" y="6558280"/>
                  </a:moveTo>
                  <a:lnTo>
                    <a:pt x="1131570" y="6558280"/>
                  </a:lnTo>
                  <a:cubicBezTo>
                    <a:pt x="508000" y="6558280"/>
                    <a:pt x="0" y="6050280"/>
                    <a:pt x="0" y="5426710"/>
                  </a:cubicBezTo>
                  <a:lnTo>
                    <a:pt x="0" y="1131570"/>
                  </a:lnTo>
                  <a:cubicBezTo>
                    <a:pt x="0" y="508000"/>
                    <a:pt x="508000" y="0"/>
                    <a:pt x="1131570" y="0"/>
                  </a:cubicBezTo>
                  <a:lnTo>
                    <a:pt x="5218430" y="0"/>
                  </a:lnTo>
                  <a:cubicBezTo>
                    <a:pt x="5842000" y="0"/>
                    <a:pt x="6350000" y="508000"/>
                    <a:pt x="6350000" y="1131570"/>
                  </a:cubicBezTo>
                  <a:lnTo>
                    <a:pt x="6350000" y="5425440"/>
                  </a:lnTo>
                  <a:cubicBezTo>
                    <a:pt x="6350000" y="6050280"/>
                    <a:pt x="5842000" y="6558280"/>
                    <a:pt x="5218430" y="6558280"/>
                  </a:cubicBezTo>
                  <a:close/>
                  <a:moveTo>
                    <a:pt x="1131570" y="149860"/>
                  </a:moveTo>
                  <a:cubicBezTo>
                    <a:pt x="590550" y="149860"/>
                    <a:pt x="149860" y="590550"/>
                    <a:pt x="149860" y="1131570"/>
                  </a:cubicBezTo>
                  <a:lnTo>
                    <a:pt x="149860" y="5425440"/>
                  </a:lnTo>
                  <a:cubicBezTo>
                    <a:pt x="149860" y="5966460"/>
                    <a:pt x="590550" y="6407150"/>
                    <a:pt x="1131570" y="6407150"/>
                  </a:cubicBezTo>
                  <a:lnTo>
                    <a:pt x="5218430" y="6407150"/>
                  </a:lnTo>
                  <a:cubicBezTo>
                    <a:pt x="5759450" y="6407150"/>
                    <a:pt x="6200140" y="5966460"/>
                    <a:pt x="6200140" y="5425440"/>
                  </a:cubicBezTo>
                  <a:lnTo>
                    <a:pt x="6200140" y="1131570"/>
                  </a:lnTo>
                  <a:cubicBezTo>
                    <a:pt x="6200140" y="590550"/>
                    <a:pt x="5759450" y="149860"/>
                    <a:pt x="5218430" y="149860"/>
                  </a:cubicBezTo>
                  <a:lnTo>
                    <a:pt x="1131570" y="149860"/>
                  </a:lnTo>
                  <a:close/>
                </a:path>
              </a:pathLst>
            </a:custGeom>
            <a:solidFill>
              <a:srgbClr val="33326B"/>
            </a:solidFill>
          </p:spPr>
        </p:sp>
      </p:grpSp>
      <p:grpSp>
        <p:nvGrpSpPr>
          <p:cNvPr name="Group 33" id="33"/>
          <p:cNvGrpSpPr/>
          <p:nvPr/>
        </p:nvGrpSpPr>
        <p:grpSpPr>
          <a:xfrm rot="0">
            <a:off x="11903477" y="8269384"/>
            <a:ext cx="4255110" cy="834992"/>
            <a:chOff x="0" y="0"/>
            <a:chExt cx="2071009" cy="406400"/>
          </a:xfrm>
        </p:grpSpPr>
        <p:sp>
          <p:nvSpPr>
            <p:cNvPr name="Freeform 34" id="34"/>
            <p:cNvSpPr/>
            <p:nvPr/>
          </p:nvSpPr>
          <p:spPr>
            <a:xfrm flipH="false" flipV="false" rot="0">
              <a:off x="0" y="0"/>
              <a:ext cx="2071009" cy="406400"/>
            </a:xfrm>
            <a:custGeom>
              <a:avLst/>
              <a:gdLst/>
              <a:ahLst/>
              <a:cxnLst/>
              <a:rect r="r" b="b" t="t" l="l"/>
              <a:pathLst>
                <a:path h="406400" w="2071009">
                  <a:moveTo>
                    <a:pt x="1867809" y="0"/>
                  </a:moveTo>
                  <a:cubicBezTo>
                    <a:pt x="1980034" y="0"/>
                    <a:pt x="2071009" y="90976"/>
                    <a:pt x="2071009" y="203200"/>
                  </a:cubicBezTo>
                  <a:cubicBezTo>
                    <a:pt x="2071009" y="315424"/>
                    <a:pt x="1980034" y="406400"/>
                    <a:pt x="1867809" y="406400"/>
                  </a:cubicBezTo>
                  <a:lnTo>
                    <a:pt x="203200" y="406400"/>
                  </a:lnTo>
                  <a:cubicBezTo>
                    <a:pt x="90976" y="406400"/>
                    <a:pt x="0" y="315424"/>
                    <a:pt x="0" y="203200"/>
                  </a:cubicBezTo>
                  <a:cubicBezTo>
                    <a:pt x="0" y="90976"/>
                    <a:pt x="90976" y="0"/>
                    <a:pt x="203200" y="0"/>
                  </a:cubicBezTo>
                  <a:close/>
                </a:path>
              </a:pathLst>
            </a:custGeom>
            <a:solidFill>
              <a:srgbClr val="FFFFFF"/>
            </a:solidFill>
            <a:ln w="85725" cap="sq">
              <a:solidFill>
                <a:srgbClr val="48CFAE"/>
              </a:solidFill>
              <a:prstDash val="solid"/>
              <a:miter/>
            </a:ln>
          </p:spPr>
        </p:sp>
        <p:sp>
          <p:nvSpPr>
            <p:cNvPr name="TextBox 35" id="35"/>
            <p:cNvSpPr txBox="true"/>
            <p:nvPr/>
          </p:nvSpPr>
          <p:spPr>
            <a:xfrm>
              <a:off x="0" y="-57150"/>
              <a:ext cx="2071009" cy="463550"/>
            </a:xfrm>
            <a:prstGeom prst="rect">
              <a:avLst/>
            </a:prstGeom>
          </p:spPr>
          <p:txBody>
            <a:bodyPr anchor="ctr" rtlCol="false" tIns="50800" lIns="50800" bIns="50800" rIns="50800"/>
            <a:lstStyle/>
            <a:p>
              <a:pPr algn="ctr">
                <a:lnSpc>
                  <a:spcPts val="4480"/>
                </a:lnSpc>
              </a:pPr>
            </a:p>
          </p:txBody>
        </p:sp>
      </p:grpSp>
      <p:sp>
        <p:nvSpPr>
          <p:cNvPr name="TextBox 36" id="36"/>
          <p:cNvSpPr txBox="true"/>
          <p:nvPr/>
        </p:nvSpPr>
        <p:spPr>
          <a:xfrm rot="0">
            <a:off x="2229026" y="8451068"/>
            <a:ext cx="3560279" cy="422862"/>
          </a:xfrm>
          <a:prstGeom prst="rect">
            <a:avLst/>
          </a:prstGeom>
        </p:spPr>
        <p:txBody>
          <a:bodyPr anchor="t" rtlCol="false" tIns="0" lIns="0" bIns="0" rIns="0">
            <a:spAutoFit/>
          </a:bodyPr>
          <a:lstStyle/>
          <a:p>
            <a:pPr algn="ctr">
              <a:lnSpc>
                <a:spcPts val="3467"/>
              </a:lnSpc>
              <a:spcBef>
                <a:spcPct val="0"/>
              </a:spcBef>
            </a:pPr>
            <a:r>
              <a:rPr lang="en-US" b="true" sz="2476">
                <a:solidFill>
                  <a:srgbClr val="01003B"/>
                </a:solidFill>
                <a:latin typeface="Be Vietnam Ultra-Bold"/>
                <a:ea typeface="Be Vietnam Ultra-Bold"/>
                <a:cs typeface="Be Vietnam Ultra-Bold"/>
                <a:sym typeface="Be Vietnam Ultra-Bold"/>
              </a:rPr>
              <a:t>MELISE ROCHA</a:t>
            </a:r>
          </a:p>
        </p:txBody>
      </p:sp>
      <p:sp>
        <p:nvSpPr>
          <p:cNvPr name="TextBox 37" id="37"/>
          <p:cNvSpPr txBox="true"/>
          <p:nvPr/>
        </p:nvSpPr>
        <p:spPr>
          <a:xfrm rot="0">
            <a:off x="7204216" y="8421784"/>
            <a:ext cx="3879569" cy="422862"/>
          </a:xfrm>
          <a:prstGeom prst="rect">
            <a:avLst/>
          </a:prstGeom>
        </p:spPr>
        <p:txBody>
          <a:bodyPr anchor="t" rtlCol="false" tIns="0" lIns="0" bIns="0" rIns="0">
            <a:spAutoFit/>
          </a:bodyPr>
          <a:lstStyle/>
          <a:p>
            <a:pPr algn="ctr">
              <a:lnSpc>
                <a:spcPts val="3467"/>
              </a:lnSpc>
              <a:spcBef>
                <a:spcPct val="0"/>
              </a:spcBef>
            </a:pPr>
            <a:r>
              <a:rPr lang="en-US" b="true" sz="2476">
                <a:solidFill>
                  <a:srgbClr val="01003B"/>
                </a:solidFill>
                <a:latin typeface="Be Vietnam Ultra-Bold"/>
                <a:ea typeface="Be Vietnam Ultra-Bold"/>
                <a:cs typeface="Be Vietnam Ultra-Bold"/>
                <a:sym typeface="Be Vietnam Ultra-Bold"/>
              </a:rPr>
              <a:t>LUCAS BARROS</a:t>
            </a:r>
          </a:p>
        </p:txBody>
      </p:sp>
      <p:sp>
        <p:nvSpPr>
          <p:cNvPr name="TextBox 38" id="38"/>
          <p:cNvSpPr txBox="true"/>
          <p:nvPr/>
        </p:nvSpPr>
        <p:spPr>
          <a:xfrm rot="0">
            <a:off x="1028700" y="1473011"/>
            <a:ext cx="9377403" cy="1076218"/>
          </a:xfrm>
          <a:prstGeom prst="rect">
            <a:avLst/>
          </a:prstGeom>
        </p:spPr>
        <p:txBody>
          <a:bodyPr anchor="t" rtlCol="false" tIns="0" lIns="0" bIns="0" rIns="0">
            <a:spAutoFit/>
          </a:bodyPr>
          <a:lstStyle/>
          <a:p>
            <a:pPr algn="l">
              <a:lnSpc>
                <a:spcPts val="8149"/>
              </a:lnSpc>
            </a:pPr>
            <a:r>
              <a:rPr lang="en-US" b="true" sz="7912" spc="253">
                <a:solidFill>
                  <a:srgbClr val="FFFFFF"/>
                </a:solidFill>
                <a:latin typeface="Be Vietnam Ultra-Bold"/>
                <a:ea typeface="Be Vietnam Ultra-Bold"/>
                <a:cs typeface="Be Vietnam Ultra-Bold"/>
                <a:sym typeface="Be Vietnam Ultra-Bold"/>
              </a:rPr>
              <a:t>MEET THE TEAM</a:t>
            </a:r>
          </a:p>
        </p:txBody>
      </p:sp>
      <p:sp>
        <p:nvSpPr>
          <p:cNvPr name="TextBox 39" id="39"/>
          <p:cNvSpPr txBox="true"/>
          <p:nvPr/>
        </p:nvSpPr>
        <p:spPr>
          <a:xfrm rot="0">
            <a:off x="1028700" y="2713822"/>
            <a:ext cx="10701108" cy="298363"/>
          </a:xfrm>
          <a:prstGeom prst="rect">
            <a:avLst/>
          </a:prstGeom>
        </p:spPr>
        <p:txBody>
          <a:bodyPr anchor="t" rtlCol="false" tIns="0" lIns="0" bIns="0" rIns="0">
            <a:spAutoFit/>
          </a:bodyPr>
          <a:lstStyle/>
          <a:p>
            <a:pPr algn="l">
              <a:lnSpc>
                <a:spcPts val="2454"/>
              </a:lnSpc>
            </a:pPr>
            <a:r>
              <a:rPr lang="en-US" sz="1753">
                <a:solidFill>
                  <a:srgbClr val="FFFFFF"/>
                </a:solidFill>
                <a:latin typeface="Be Vietnam"/>
                <a:ea typeface="Be Vietnam"/>
                <a:cs typeface="Be Vietnam"/>
                <a:sym typeface="Be Vietnam"/>
              </a:rPr>
              <a:t>PROFESSIONAL MEDICAL AND AI DEVELOPMENT EXPERIENCE</a:t>
            </a:r>
          </a:p>
        </p:txBody>
      </p:sp>
      <p:sp>
        <p:nvSpPr>
          <p:cNvPr name="TextBox 40" id="40"/>
          <p:cNvSpPr txBox="true"/>
          <p:nvPr/>
        </p:nvSpPr>
        <p:spPr>
          <a:xfrm rot="0">
            <a:off x="12158203" y="8432018"/>
            <a:ext cx="3812702" cy="422862"/>
          </a:xfrm>
          <a:prstGeom prst="rect">
            <a:avLst/>
          </a:prstGeom>
        </p:spPr>
        <p:txBody>
          <a:bodyPr anchor="t" rtlCol="false" tIns="0" lIns="0" bIns="0" rIns="0">
            <a:spAutoFit/>
          </a:bodyPr>
          <a:lstStyle/>
          <a:p>
            <a:pPr algn="ctr">
              <a:lnSpc>
                <a:spcPts val="3467"/>
              </a:lnSpc>
              <a:spcBef>
                <a:spcPct val="0"/>
              </a:spcBef>
            </a:pPr>
            <a:r>
              <a:rPr lang="en-US" b="true" sz="2476">
                <a:solidFill>
                  <a:srgbClr val="01003B"/>
                </a:solidFill>
                <a:latin typeface="Be Vietnam Ultra-Bold"/>
                <a:ea typeface="Be Vietnam Ultra-Bold"/>
                <a:cs typeface="Be Vietnam Ultra-Bold"/>
                <a:sym typeface="Be Vietnam Ultra-Bold"/>
              </a:rPr>
              <a:t>ANASTASIIA BULATKINA</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true" flipV="true" rot="0">
            <a:off x="0" y="0"/>
            <a:ext cx="18288000" cy="10287000"/>
          </a:xfrm>
          <a:custGeom>
            <a:avLst/>
            <a:gdLst/>
            <a:ahLst/>
            <a:cxnLst/>
            <a:rect r="r" b="b" t="t" l="l"/>
            <a:pathLst>
              <a:path h="10287000" w="18288000">
                <a:moveTo>
                  <a:pt x="18288000" y="10287000"/>
                </a:moveTo>
                <a:lnTo>
                  <a:pt x="0" y="10287000"/>
                </a:lnTo>
                <a:lnTo>
                  <a:pt x="0" y="0"/>
                </a:lnTo>
                <a:lnTo>
                  <a:pt x="18288000" y="0"/>
                </a:lnTo>
                <a:lnTo>
                  <a:pt x="18288000" y="10287000"/>
                </a:lnTo>
                <a:close/>
              </a:path>
            </a:pathLst>
          </a:custGeom>
          <a:blipFill>
            <a:blip r:embed="rId3"/>
            <a:stretch>
              <a:fillRect l="0" t="-38888" r="0" b="-38888"/>
            </a:stretch>
          </a:blipFill>
        </p:spPr>
      </p:sp>
      <p:sp>
        <p:nvSpPr>
          <p:cNvPr name="Freeform 3" id="3"/>
          <p:cNvSpPr/>
          <p:nvPr/>
        </p:nvSpPr>
        <p:spPr>
          <a:xfrm flipH="false" flipV="true" rot="0">
            <a:off x="11083240" y="-278467"/>
            <a:ext cx="7479071" cy="11923156"/>
          </a:xfrm>
          <a:custGeom>
            <a:avLst/>
            <a:gdLst/>
            <a:ahLst/>
            <a:cxnLst/>
            <a:rect r="r" b="b" t="t" l="l"/>
            <a:pathLst>
              <a:path h="11923156" w="7479071">
                <a:moveTo>
                  <a:pt x="0" y="11923157"/>
                </a:moveTo>
                <a:lnTo>
                  <a:pt x="7479071" y="11923157"/>
                </a:lnTo>
                <a:lnTo>
                  <a:pt x="7479071" y="0"/>
                </a:lnTo>
                <a:lnTo>
                  <a:pt x="0" y="0"/>
                </a:lnTo>
                <a:lnTo>
                  <a:pt x="0" y="11923157"/>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4" id="4"/>
          <p:cNvGrpSpPr/>
          <p:nvPr/>
        </p:nvGrpSpPr>
        <p:grpSpPr>
          <a:xfrm rot="5400000">
            <a:off x="-7193679" y="3239326"/>
            <a:ext cx="12549356" cy="3895402"/>
            <a:chOff x="0" y="0"/>
            <a:chExt cx="3305180" cy="1025950"/>
          </a:xfrm>
        </p:grpSpPr>
        <p:sp>
          <p:nvSpPr>
            <p:cNvPr name="Freeform 5" id="5"/>
            <p:cNvSpPr/>
            <p:nvPr/>
          </p:nvSpPr>
          <p:spPr>
            <a:xfrm flipH="false" flipV="false" rot="0">
              <a:off x="0" y="0"/>
              <a:ext cx="3305180" cy="1025949"/>
            </a:xfrm>
            <a:custGeom>
              <a:avLst/>
              <a:gdLst/>
              <a:ahLst/>
              <a:cxnLst/>
              <a:rect r="r" b="b" t="t" l="l"/>
              <a:pathLst>
                <a:path h="1025949" w="3305180">
                  <a:moveTo>
                    <a:pt x="0" y="0"/>
                  </a:moveTo>
                  <a:lnTo>
                    <a:pt x="3305180" y="0"/>
                  </a:lnTo>
                  <a:lnTo>
                    <a:pt x="3305180" y="1025949"/>
                  </a:lnTo>
                  <a:lnTo>
                    <a:pt x="0" y="1025949"/>
                  </a:lnTo>
                  <a:close/>
                </a:path>
              </a:pathLst>
            </a:custGeom>
            <a:solidFill>
              <a:srgbClr val="195759"/>
            </a:solidFill>
          </p:spPr>
        </p:sp>
        <p:sp>
          <p:nvSpPr>
            <p:cNvPr name="TextBox 6" id="6"/>
            <p:cNvSpPr txBox="true"/>
            <p:nvPr/>
          </p:nvSpPr>
          <p:spPr>
            <a:xfrm>
              <a:off x="0" y="-47625"/>
              <a:ext cx="3305180" cy="1073575"/>
            </a:xfrm>
            <a:prstGeom prst="rect">
              <a:avLst/>
            </a:prstGeom>
          </p:spPr>
          <p:txBody>
            <a:bodyPr anchor="ctr" rtlCol="false" tIns="50800" lIns="50800" bIns="50800" rIns="50800"/>
            <a:lstStyle/>
            <a:p>
              <a:pPr algn="ctr">
                <a:lnSpc>
                  <a:spcPts val="2800"/>
                </a:lnSpc>
              </a:pPr>
            </a:p>
          </p:txBody>
        </p:sp>
      </p:grpSp>
      <p:sp>
        <p:nvSpPr>
          <p:cNvPr name="Freeform 7" id="7"/>
          <p:cNvSpPr/>
          <p:nvPr/>
        </p:nvSpPr>
        <p:spPr>
          <a:xfrm flipH="false" flipV="false" rot="0">
            <a:off x="12191989" y="1312742"/>
            <a:ext cx="5261573" cy="7345014"/>
          </a:xfrm>
          <a:custGeom>
            <a:avLst/>
            <a:gdLst/>
            <a:ahLst/>
            <a:cxnLst/>
            <a:rect r="r" b="b" t="t" l="l"/>
            <a:pathLst>
              <a:path h="7345014" w="5261573">
                <a:moveTo>
                  <a:pt x="0" y="0"/>
                </a:moveTo>
                <a:lnTo>
                  <a:pt x="5261573" y="0"/>
                </a:lnTo>
                <a:lnTo>
                  <a:pt x="5261573" y="7345014"/>
                </a:lnTo>
                <a:lnTo>
                  <a:pt x="0" y="7345014"/>
                </a:lnTo>
                <a:lnTo>
                  <a:pt x="0" y="0"/>
                </a:lnTo>
                <a:close/>
              </a:path>
            </a:pathLst>
          </a:custGeom>
          <a:blipFill>
            <a:blip r:embed="rId6"/>
            <a:stretch>
              <a:fillRect l="0" t="0" r="0" b="0"/>
            </a:stretch>
          </a:blipFill>
        </p:spPr>
      </p:sp>
      <p:sp>
        <p:nvSpPr>
          <p:cNvPr name="TextBox 8" id="8"/>
          <p:cNvSpPr txBox="true"/>
          <p:nvPr/>
        </p:nvSpPr>
        <p:spPr>
          <a:xfrm rot="0">
            <a:off x="1921954" y="1179392"/>
            <a:ext cx="10702279" cy="2845367"/>
          </a:xfrm>
          <a:prstGeom prst="rect">
            <a:avLst/>
          </a:prstGeom>
        </p:spPr>
        <p:txBody>
          <a:bodyPr anchor="t" rtlCol="false" tIns="0" lIns="0" bIns="0" rIns="0">
            <a:spAutoFit/>
          </a:bodyPr>
          <a:lstStyle/>
          <a:p>
            <a:pPr algn="l">
              <a:lnSpc>
                <a:spcPts val="11466"/>
              </a:lnSpc>
            </a:pPr>
            <a:r>
              <a:rPr lang="en-US" sz="8309" b="true">
                <a:solidFill>
                  <a:srgbClr val="01003B"/>
                </a:solidFill>
                <a:latin typeface="Be Vietnam Ultra-Bold"/>
                <a:ea typeface="Be Vietnam Ultra-Bold"/>
                <a:cs typeface="Be Vietnam Ultra-Bold"/>
                <a:sym typeface="Be Vietnam Ultra-Bold"/>
              </a:rPr>
              <a:t>WHAT ARE WE DOING?</a:t>
            </a:r>
          </a:p>
        </p:txBody>
      </p:sp>
      <p:sp>
        <p:nvSpPr>
          <p:cNvPr name="TextBox 9" id="9"/>
          <p:cNvSpPr txBox="true"/>
          <p:nvPr/>
        </p:nvSpPr>
        <p:spPr>
          <a:xfrm rot="0">
            <a:off x="1921954" y="4549666"/>
            <a:ext cx="7684068" cy="3767943"/>
          </a:xfrm>
          <a:prstGeom prst="rect">
            <a:avLst/>
          </a:prstGeom>
        </p:spPr>
        <p:txBody>
          <a:bodyPr anchor="t" rtlCol="false" tIns="0" lIns="0" bIns="0" rIns="0">
            <a:spAutoFit/>
          </a:bodyPr>
          <a:lstStyle/>
          <a:p>
            <a:pPr algn="l" marL="583553" indent="-291777" lvl="1">
              <a:lnSpc>
                <a:spcPts val="4324"/>
              </a:lnSpc>
              <a:buFont typeface="Arial"/>
              <a:buChar char="•"/>
            </a:pPr>
            <a:r>
              <a:rPr lang="en-US" sz="2702">
                <a:solidFill>
                  <a:srgbClr val="01003B"/>
                </a:solidFill>
                <a:latin typeface="Be Vietnam"/>
                <a:ea typeface="Be Vietnam"/>
                <a:cs typeface="Be Vietnam"/>
                <a:sym typeface="Be Vietnam"/>
              </a:rPr>
              <a:t>PRE-ANAMNESIS CHATBOT </a:t>
            </a:r>
          </a:p>
          <a:p>
            <a:pPr algn="l">
              <a:lnSpc>
                <a:spcPts val="4324"/>
              </a:lnSpc>
            </a:pPr>
          </a:p>
          <a:p>
            <a:pPr algn="l" marL="583553" indent="-291777" lvl="1">
              <a:lnSpc>
                <a:spcPts val="4324"/>
              </a:lnSpc>
              <a:buFont typeface="Arial"/>
              <a:buChar char="•"/>
            </a:pPr>
            <a:r>
              <a:rPr lang="en-US" sz="2702">
                <a:solidFill>
                  <a:srgbClr val="01003B"/>
                </a:solidFill>
                <a:latin typeface="Be Vietnam"/>
                <a:ea typeface="Be Vietnam"/>
                <a:cs typeface="Be Vietnam"/>
                <a:sym typeface="Be Vietnam"/>
              </a:rPr>
              <a:t>COLLECT, ORGANIZE AND INTEGRATE CORE PATIENT INFORMATION</a:t>
            </a:r>
          </a:p>
          <a:p>
            <a:pPr algn="l">
              <a:lnSpc>
                <a:spcPts val="4324"/>
              </a:lnSpc>
            </a:pPr>
          </a:p>
          <a:p>
            <a:pPr algn="l" marL="583553" indent="-291777" lvl="1">
              <a:lnSpc>
                <a:spcPts val="4324"/>
              </a:lnSpc>
              <a:buFont typeface="Arial"/>
              <a:buChar char="•"/>
            </a:pPr>
            <a:r>
              <a:rPr lang="en-US" sz="2702">
                <a:solidFill>
                  <a:srgbClr val="01003B"/>
                </a:solidFill>
                <a:latin typeface="Be Vietnam"/>
                <a:ea typeface="Be Vietnam"/>
                <a:cs typeface="Be Vietnam"/>
                <a:sym typeface="Be Vietnam"/>
              </a:rPr>
              <a:t>SECURELY TRANSPARENTLY AND EFFICIENTLY</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3"/>
            <a:stretch>
              <a:fillRect l="-9222" t="-4461" r="-20094" b="-4717"/>
            </a:stretch>
          </a:blipFill>
        </p:spPr>
      </p:sp>
      <p:grpSp>
        <p:nvGrpSpPr>
          <p:cNvPr name="Group 3" id="3"/>
          <p:cNvGrpSpPr/>
          <p:nvPr/>
        </p:nvGrpSpPr>
        <p:grpSpPr>
          <a:xfrm rot="0">
            <a:off x="7212875" y="4981376"/>
            <a:ext cx="3925804" cy="3831308"/>
            <a:chOff x="0" y="0"/>
            <a:chExt cx="453389" cy="442476"/>
          </a:xfrm>
        </p:grpSpPr>
        <p:sp>
          <p:nvSpPr>
            <p:cNvPr name="Freeform 4" id="4"/>
            <p:cNvSpPr/>
            <p:nvPr/>
          </p:nvSpPr>
          <p:spPr>
            <a:xfrm flipH="false" flipV="false" rot="0">
              <a:off x="0" y="0"/>
              <a:ext cx="453389" cy="442476"/>
            </a:xfrm>
            <a:custGeom>
              <a:avLst/>
              <a:gdLst/>
              <a:ahLst/>
              <a:cxnLst/>
              <a:rect r="r" b="b" t="t" l="l"/>
              <a:pathLst>
                <a:path h="442476" w="453389">
                  <a:moveTo>
                    <a:pt x="72966" y="0"/>
                  </a:moveTo>
                  <a:lnTo>
                    <a:pt x="380423" y="0"/>
                  </a:lnTo>
                  <a:cubicBezTo>
                    <a:pt x="399775" y="0"/>
                    <a:pt x="418334" y="7687"/>
                    <a:pt x="432018" y="21371"/>
                  </a:cubicBezTo>
                  <a:cubicBezTo>
                    <a:pt x="445702" y="35055"/>
                    <a:pt x="453389" y="53614"/>
                    <a:pt x="453389" y="72966"/>
                  </a:cubicBezTo>
                  <a:lnTo>
                    <a:pt x="453389" y="369510"/>
                  </a:lnTo>
                  <a:cubicBezTo>
                    <a:pt x="453389" y="409808"/>
                    <a:pt x="420721" y="442476"/>
                    <a:pt x="380423" y="442476"/>
                  </a:cubicBezTo>
                  <a:lnTo>
                    <a:pt x="72966" y="442476"/>
                  </a:lnTo>
                  <a:cubicBezTo>
                    <a:pt x="53614" y="442476"/>
                    <a:pt x="35055" y="434788"/>
                    <a:pt x="21371" y="421105"/>
                  </a:cubicBezTo>
                  <a:cubicBezTo>
                    <a:pt x="7687" y="407421"/>
                    <a:pt x="0" y="388861"/>
                    <a:pt x="0" y="369510"/>
                  </a:cubicBezTo>
                  <a:lnTo>
                    <a:pt x="0" y="72966"/>
                  </a:lnTo>
                  <a:cubicBezTo>
                    <a:pt x="0" y="53614"/>
                    <a:pt x="7687" y="35055"/>
                    <a:pt x="21371" y="21371"/>
                  </a:cubicBezTo>
                  <a:cubicBezTo>
                    <a:pt x="35055" y="7687"/>
                    <a:pt x="53614" y="0"/>
                    <a:pt x="72966" y="0"/>
                  </a:cubicBezTo>
                  <a:close/>
                </a:path>
              </a:pathLst>
            </a:custGeom>
            <a:solidFill>
              <a:srgbClr val="FFFFFF"/>
            </a:solidFill>
            <a:ln w="85725" cap="rnd">
              <a:solidFill>
                <a:srgbClr val="33326B"/>
              </a:solidFill>
              <a:prstDash val="solid"/>
              <a:round/>
            </a:ln>
          </p:spPr>
        </p:sp>
        <p:sp>
          <p:nvSpPr>
            <p:cNvPr name="TextBox 5" id="5"/>
            <p:cNvSpPr txBox="true"/>
            <p:nvPr/>
          </p:nvSpPr>
          <p:spPr>
            <a:xfrm>
              <a:off x="0" y="-57150"/>
              <a:ext cx="453389" cy="499626"/>
            </a:xfrm>
            <a:prstGeom prst="rect">
              <a:avLst/>
            </a:prstGeom>
          </p:spPr>
          <p:txBody>
            <a:bodyPr anchor="ctr" rtlCol="false" tIns="50800" lIns="50800" bIns="50800" rIns="50800"/>
            <a:lstStyle/>
            <a:p>
              <a:pPr algn="ctr">
                <a:lnSpc>
                  <a:spcPts val="4480"/>
                </a:lnSpc>
              </a:pPr>
            </a:p>
          </p:txBody>
        </p:sp>
      </p:grpSp>
      <p:grpSp>
        <p:nvGrpSpPr>
          <p:cNvPr name="Group 6" id="6"/>
          <p:cNvGrpSpPr/>
          <p:nvPr/>
        </p:nvGrpSpPr>
        <p:grpSpPr>
          <a:xfrm rot="0">
            <a:off x="3095076" y="4981376"/>
            <a:ext cx="3925804" cy="3831308"/>
            <a:chOff x="0" y="0"/>
            <a:chExt cx="453389" cy="442476"/>
          </a:xfrm>
        </p:grpSpPr>
        <p:sp>
          <p:nvSpPr>
            <p:cNvPr name="Freeform 7" id="7"/>
            <p:cNvSpPr/>
            <p:nvPr/>
          </p:nvSpPr>
          <p:spPr>
            <a:xfrm flipH="false" flipV="false" rot="0">
              <a:off x="0" y="0"/>
              <a:ext cx="453389" cy="442476"/>
            </a:xfrm>
            <a:custGeom>
              <a:avLst/>
              <a:gdLst/>
              <a:ahLst/>
              <a:cxnLst/>
              <a:rect r="r" b="b" t="t" l="l"/>
              <a:pathLst>
                <a:path h="442476" w="453389">
                  <a:moveTo>
                    <a:pt x="72966" y="0"/>
                  </a:moveTo>
                  <a:lnTo>
                    <a:pt x="380423" y="0"/>
                  </a:lnTo>
                  <a:cubicBezTo>
                    <a:pt x="399775" y="0"/>
                    <a:pt x="418334" y="7687"/>
                    <a:pt x="432018" y="21371"/>
                  </a:cubicBezTo>
                  <a:cubicBezTo>
                    <a:pt x="445702" y="35055"/>
                    <a:pt x="453389" y="53614"/>
                    <a:pt x="453389" y="72966"/>
                  </a:cubicBezTo>
                  <a:lnTo>
                    <a:pt x="453389" y="369510"/>
                  </a:lnTo>
                  <a:cubicBezTo>
                    <a:pt x="453389" y="409808"/>
                    <a:pt x="420721" y="442476"/>
                    <a:pt x="380423" y="442476"/>
                  </a:cubicBezTo>
                  <a:lnTo>
                    <a:pt x="72966" y="442476"/>
                  </a:lnTo>
                  <a:cubicBezTo>
                    <a:pt x="53614" y="442476"/>
                    <a:pt x="35055" y="434788"/>
                    <a:pt x="21371" y="421105"/>
                  </a:cubicBezTo>
                  <a:cubicBezTo>
                    <a:pt x="7687" y="407421"/>
                    <a:pt x="0" y="388861"/>
                    <a:pt x="0" y="369510"/>
                  </a:cubicBezTo>
                  <a:lnTo>
                    <a:pt x="0" y="72966"/>
                  </a:lnTo>
                  <a:cubicBezTo>
                    <a:pt x="0" y="53614"/>
                    <a:pt x="7687" y="35055"/>
                    <a:pt x="21371" y="21371"/>
                  </a:cubicBezTo>
                  <a:cubicBezTo>
                    <a:pt x="35055" y="7687"/>
                    <a:pt x="53614" y="0"/>
                    <a:pt x="72966" y="0"/>
                  </a:cubicBezTo>
                  <a:close/>
                </a:path>
              </a:pathLst>
            </a:custGeom>
            <a:solidFill>
              <a:srgbClr val="FFFFFF"/>
            </a:solidFill>
            <a:ln w="85725" cap="rnd">
              <a:solidFill>
                <a:srgbClr val="48CFAE"/>
              </a:solidFill>
              <a:prstDash val="solid"/>
              <a:round/>
            </a:ln>
          </p:spPr>
        </p:sp>
        <p:sp>
          <p:nvSpPr>
            <p:cNvPr name="TextBox 8" id="8"/>
            <p:cNvSpPr txBox="true"/>
            <p:nvPr/>
          </p:nvSpPr>
          <p:spPr>
            <a:xfrm>
              <a:off x="0" y="-57150"/>
              <a:ext cx="453389" cy="499626"/>
            </a:xfrm>
            <a:prstGeom prst="rect">
              <a:avLst/>
            </a:prstGeom>
          </p:spPr>
          <p:txBody>
            <a:bodyPr anchor="ctr" rtlCol="false" tIns="50800" lIns="50800" bIns="50800" rIns="50800"/>
            <a:lstStyle/>
            <a:p>
              <a:pPr algn="ctr">
                <a:lnSpc>
                  <a:spcPts val="4480"/>
                </a:lnSpc>
              </a:pPr>
            </a:p>
          </p:txBody>
        </p:sp>
      </p:grpSp>
      <p:grpSp>
        <p:nvGrpSpPr>
          <p:cNvPr name="Group 9" id="9"/>
          <p:cNvGrpSpPr/>
          <p:nvPr/>
        </p:nvGrpSpPr>
        <p:grpSpPr>
          <a:xfrm rot="2700000">
            <a:off x="4141458" y="3268973"/>
            <a:ext cx="1833041" cy="1833041"/>
            <a:chOff x="0" y="0"/>
            <a:chExt cx="2444055" cy="2444055"/>
          </a:xfrm>
        </p:grpSpPr>
        <p:grpSp>
          <p:nvGrpSpPr>
            <p:cNvPr name="Group 10" id="10"/>
            <p:cNvGrpSpPr>
              <a:grpSpLocks noChangeAspect="true"/>
            </p:cNvGrpSpPr>
            <p:nvPr/>
          </p:nvGrpSpPr>
          <p:grpSpPr>
            <a:xfrm rot="0">
              <a:off x="0" y="0"/>
              <a:ext cx="2444055" cy="2444055"/>
              <a:chOff x="0" y="0"/>
              <a:chExt cx="14400530" cy="14400530"/>
            </a:xfrm>
          </p:grpSpPr>
          <p:sp>
            <p:nvSpPr>
              <p:cNvPr name="Freeform 11" id="11"/>
              <p:cNvSpPr/>
              <p:nvPr/>
            </p:nvSpPr>
            <p:spPr>
              <a:xfrm flipH="false" flipV="false" rot="0">
                <a:off x="0" y="0"/>
                <a:ext cx="14400530" cy="14399261"/>
              </a:xfrm>
              <a:custGeom>
                <a:avLst/>
                <a:gdLst/>
                <a:ahLst/>
                <a:cxnLst/>
                <a:rect r="r" b="b" t="t" l="l"/>
                <a:pathLst>
                  <a:path h="14399261" w="14400530">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48CFAE"/>
              </a:solidFill>
            </p:spPr>
          </p:sp>
        </p:grpSp>
        <p:grpSp>
          <p:nvGrpSpPr>
            <p:cNvPr name="Group 12" id="12"/>
            <p:cNvGrpSpPr/>
            <p:nvPr/>
          </p:nvGrpSpPr>
          <p:grpSpPr>
            <a:xfrm rot="0">
              <a:off x="299961" y="342043"/>
              <a:ext cx="1838045" cy="1838045"/>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p:spPr>
          </p:sp>
          <p:sp>
            <p:nvSpPr>
              <p:cNvPr name="TextBox 14" id="14"/>
              <p:cNvSpPr txBox="true"/>
              <p:nvPr/>
            </p:nvSpPr>
            <p:spPr>
              <a:xfrm>
                <a:off x="76200" y="19050"/>
                <a:ext cx="660400" cy="717550"/>
              </a:xfrm>
              <a:prstGeom prst="rect">
                <a:avLst/>
              </a:prstGeom>
            </p:spPr>
            <p:txBody>
              <a:bodyPr anchor="ctr" rtlCol="false" tIns="50800" lIns="50800" bIns="50800" rIns="50800"/>
              <a:lstStyle/>
              <a:p>
                <a:pPr algn="ctr">
                  <a:lnSpc>
                    <a:spcPts val="2800"/>
                  </a:lnSpc>
                </a:pPr>
              </a:p>
            </p:txBody>
          </p:sp>
        </p:grpSp>
      </p:grpSp>
      <p:grpSp>
        <p:nvGrpSpPr>
          <p:cNvPr name="Group 15" id="15"/>
          <p:cNvGrpSpPr/>
          <p:nvPr/>
        </p:nvGrpSpPr>
        <p:grpSpPr>
          <a:xfrm rot="-2700000">
            <a:off x="8259257" y="3268973"/>
            <a:ext cx="1833041" cy="1833041"/>
            <a:chOff x="0" y="0"/>
            <a:chExt cx="2444055" cy="2444055"/>
          </a:xfrm>
        </p:grpSpPr>
        <p:grpSp>
          <p:nvGrpSpPr>
            <p:cNvPr name="Group 16" id="16"/>
            <p:cNvGrpSpPr>
              <a:grpSpLocks noChangeAspect="true"/>
            </p:cNvGrpSpPr>
            <p:nvPr/>
          </p:nvGrpSpPr>
          <p:grpSpPr>
            <a:xfrm rot="5400000">
              <a:off x="0" y="0"/>
              <a:ext cx="2444055" cy="2444055"/>
              <a:chOff x="0" y="0"/>
              <a:chExt cx="14400530" cy="14400530"/>
            </a:xfrm>
          </p:grpSpPr>
          <p:sp>
            <p:nvSpPr>
              <p:cNvPr name="Freeform 17" id="17"/>
              <p:cNvSpPr/>
              <p:nvPr/>
            </p:nvSpPr>
            <p:spPr>
              <a:xfrm flipH="false" flipV="false" rot="0">
                <a:off x="0" y="0"/>
                <a:ext cx="14400530" cy="14399261"/>
              </a:xfrm>
              <a:custGeom>
                <a:avLst/>
                <a:gdLst/>
                <a:ahLst/>
                <a:cxnLst/>
                <a:rect r="r" b="b" t="t" l="l"/>
                <a:pathLst>
                  <a:path h="14399261" w="14400530">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33326B"/>
              </a:solidFill>
            </p:spPr>
          </p:sp>
        </p:grpSp>
        <p:grpSp>
          <p:nvGrpSpPr>
            <p:cNvPr name="Group 18" id="18"/>
            <p:cNvGrpSpPr/>
            <p:nvPr/>
          </p:nvGrpSpPr>
          <p:grpSpPr>
            <a:xfrm rot="0">
              <a:off x="283619" y="338366"/>
              <a:ext cx="1841722" cy="1841722"/>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p:spPr>
          </p:sp>
          <p:sp>
            <p:nvSpPr>
              <p:cNvPr name="TextBox 20" id="20"/>
              <p:cNvSpPr txBox="true"/>
              <p:nvPr/>
            </p:nvSpPr>
            <p:spPr>
              <a:xfrm>
                <a:off x="76200" y="19050"/>
                <a:ext cx="660400" cy="717550"/>
              </a:xfrm>
              <a:prstGeom prst="rect">
                <a:avLst/>
              </a:prstGeom>
            </p:spPr>
            <p:txBody>
              <a:bodyPr anchor="ctr" rtlCol="false" tIns="50800" lIns="50800" bIns="50800" rIns="50800"/>
              <a:lstStyle/>
              <a:p>
                <a:pPr algn="ctr">
                  <a:lnSpc>
                    <a:spcPts val="2800"/>
                  </a:lnSpc>
                </a:pPr>
              </a:p>
            </p:txBody>
          </p:sp>
        </p:grpSp>
      </p:grpSp>
      <p:grpSp>
        <p:nvGrpSpPr>
          <p:cNvPr name="Group 21" id="21"/>
          <p:cNvGrpSpPr/>
          <p:nvPr/>
        </p:nvGrpSpPr>
        <p:grpSpPr>
          <a:xfrm rot="0">
            <a:off x="11267120" y="4981376"/>
            <a:ext cx="3925804" cy="3831308"/>
            <a:chOff x="0" y="0"/>
            <a:chExt cx="453389" cy="442476"/>
          </a:xfrm>
        </p:grpSpPr>
        <p:sp>
          <p:nvSpPr>
            <p:cNvPr name="Freeform 22" id="22"/>
            <p:cNvSpPr/>
            <p:nvPr/>
          </p:nvSpPr>
          <p:spPr>
            <a:xfrm flipH="false" flipV="false" rot="0">
              <a:off x="0" y="0"/>
              <a:ext cx="453389" cy="442476"/>
            </a:xfrm>
            <a:custGeom>
              <a:avLst/>
              <a:gdLst/>
              <a:ahLst/>
              <a:cxnLst/>
              <a:rect r="r" b="b" t="t" l="l"/>
              <a:pathLst>
                <a:path h="442476" w="453389">
                  <a:moveTo>
                    <a:pt x="72966" y="0"/>
                  </a:moveTo>
                  <a:lnTo>
                    <a:pt x="380423" y="0"/>
                  </a:lnTo>
                  <a:cubicBezTo>
                    <a:pt x="399775" y="0"/>
                    <a:pt x="418334" y="7687"/>
                    <a:pt x="432018" y="21371"/>
                  </a:cubicBezTo>
                  <a:cubicBezTo>
                    <a:pt x="445702" y="35055"/>
                    <a:pt x="453389" y="53614"/>
                    <a:pt x="453389" y="72966"/>
                  </a:cubicBezTo>
                  <a:lnTo>
                    <a:pt x="453389" y="369510"/>
                  </a:lnTo>
                  <a:cubicBezTo>
                    <a:pt x="453389" y="409808"/>
                    <a:pt x="420721" y="442476"/>
                    <a:pt x="380423" y="442476"/>
                  </a:cubicBezTo>
                  <a:lnTo>
                    <a:pt x="72966" y="442476"/>
                  </a:lnTo>
                  <a:cubicBezTo>
                    <a:pt x="53614" y="442476"/>
                    <a:pt x="35055" y="434788"/>
                    <a:pt x="21371" y="421105"/>
                  </a:cubicBezTo>
                  <a:cubicBezTo>
                    <a:pt x="7687" y="407421"/>
                    <a:pt x="0" y="388861"/>
                    <a:pt x="0" y="369510"/>
                  </a:cubicBezTo>
                  <a:lnTo>
                    <a:pt x="0" y="72966"/>
                  </a:lnTo>
                  <a:cubicBezTo>
                    <a:pt x="0" y="53614"/>
                    <a:pt x="7687" y="35055"/>
                    <a:pt x="21371" y="21371"/>
                  </a:cubicBezTo>
                  <a:cubicBezTo>
                    <a:pt x="35055" y="7687"/>
                    <a:pt x="53614" y="0"/>
                    <a:pt x="72966" y="0"/>
                  </a:cubicBezTo>
                  <a:close/>
                </a:path>
              </a:pathLst>
            </a:custGeom>
            <a:solidFill>
              <a:srgbClr val="FFFFFF"/>
            </a:solidFill>
            <a:ln w="85725" cap="rnd">
              <a:solidFill>
                <a:srgbClr val="48CFAE"/>
              </a:solidFill>
              <a:prstDash val="solid"/>
              <a:round/>
            </a:ln>
          </p:spPr>
        </p:sp>
        <p:sp>
          <p:nvSpPr>
            <p:cNvPr name="TextBox 23" id="23"/>
            <p:cNvSpPr txBox="true"/>
            <p:nvPr/>
          </p:nvSpPr>
          <p:spPr>
            <a:xfrm>
              <a:off x="0" y="-57150"/>
              <a:ext cx="453389" cy="499626"/>
            </a:xfrm>
            <a:prstGeom prst="rect">
              <a:avLst/>
            </a:prstGeom>
          </p:spPr>
          <p:txBody>
            <a:bodyPr anchor="ctr" rtlCol="false" tIns="50800" lIns="50800" bIns="50800" rIns="50800"/>
            <a:lstStyle/>
            <a:p>
              <a:pPr algn="ctr">
                <a:lnSpc>
                  <a:spcPts val="4480"/>
                </a:lnSpc>
              </a:pPr>
            </a:p>
          </p:txBody>
        </p:sp>
      </p:grpSp>
      <p:grpSp>
        <p:nvGrpSpPr>
          <p:cNvPr name="Group 24" id="24"/>
          <p:cNvGrpSpPr/>
          <p:nvPr/>
        </p:nvGrpSpPr>
        <p:grpSpPr>
          <a:xfrm rot="2700000">
            <a:off x="12313501" y="3268973"/>
            <a:ext cx="1833041" cy="1833041"/>
            <a:chOff x="0" y="0"/>
            <a:chExt cx="2444055" cy="2444055"/>
          </a:xfrm>
        </p:grpSpPr>
        <p:grpSp>
          <p:nvGrpSpPr>
            <p:cNvPr name="Group 25" id="25"/>
            <p:cNvGrpSpPr>
              <a:grpSpLocks noChangeAspect="true"/>
            </p:cNvGrpSpPr>
            <p:nvPr/>
          </p:nvGrpSpPr>
          <p:grpSpPr>
            <a:xfrm rot="0">
              <a:off x="0" y="0"/>
              <a:ext cx="2444055" cy="2444055"/>
              <a:chOff x="0" y="0"/>
              <a:chExt cx="14400530" cy="14400530"/>
            </a:xfrm>
          </p:grpSpPr>
          <p:sp>
            <p:nvSpPr>
              <p:cNvPr name="Freeform 26" id="26"/>
              <p:cNvSpPr/>
              <p:nvPr/>
            </p:nvSpPr>
            <p:spPr>
              <a:xfrm flipH="false" flipV="false" rot="0">
                <a:off x="0" y="0"/>
                <a:ext cx="14400530" cy="14399261"/>
              </a:xfrm>
              <a:custGeom>
                <a:avLst/>
                <a:gdLst/>
                <a:ahLst/>
                <a:cxnLst/>
                <a:rect r="r" b="b" t="t" l="l"/>
                <a:pathLst>
                  <a:path h="14399261" w="14400530">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48CFAE"/>
              </a:solidFill>
            </p:spPr>
          </p:sp>
        </p:grpSp>
        <p:grpSp>
          <p:nvGrpSpPr>
            <p:cNvPr name="Group 27" id="27"/>
            <p:cNvGrpSpPr/>
            <p:nvPr/>
          </p:nvGrpSpPr>
          <p:grpSpPr>
            <a:xfrm rot="0">
              <a:off x="299961" y="342043"/>
              <a:ext cx="1838045" cy="1838045"/>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p:spPr>
          </p:sp>
          <p:sp>
            <p:nvSpPr>
              <p:cNvPr name="TextBox 29" id="29"/>
              <p:cNvSpPr txBox="true"/>
              <p:nvPr/>
            </p:nvSpPr>
            <p:spPr>
              <a:xfrm>
                <a:off x="76200" y="19050"/>
                <a:ext cx="660400" cy="717550"/>
              </a:xfrm>
              <a:prstGeom prst="rect">
                <a:avLst/>
              </a:prstGeom>
            </p:spPr>
            <p:txBody>
              <a:bodyPr anchor="ctr" rtlCol="false" tIns="50800" lIns="50800" bIns="50800" rIns="50800"/>
              <a:lstStyle/>
              <a:p>
                <a:pPr algn="ctr">
                  <a:lnSpc>
                    <a:spcPts val="2800"/>
                  </a:lnSpc>
                </a:pPr>
              </a:p>
            </p:txBody>
          </p:sp>
        </p:grpSp>
      </p:grpSp>
      <p:grpSp>
        <p:nvGrpSpPr>
          <p:cNvPr name="Group 30" id="30"/>
          <p:cNvGrpSpPr/>
          <p:nvPr/>
        </p:nvGrpSpPr>
        <p:grpSpPr>
          <a:xfrm rot="-2700000">
            <a:off x="17256279" y="7618209"/>
            <a:ext cx="2388948" cy="2388948"/>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5370" y="0"/>
                  </a:moveTo>
                  <a:lnTo>
                    <a:pt x="767430" y="0"/>
                  </a:lnTo>
                  <a:cubicBezTo>
                    <a:pt x="792487" y="0"/>
                    <a:pt x="812800" y="20313"/>
                    <a:pt x="812800" y="45370"/>
                  </a:cubicBezTo>
                  <a:lnTo>
                    <a:pt x="812800" y="767430"/>
                  </a:lnTo>
                  <a:cubicBezTo>
                    <a:pt x="812800" y="792487"/>
                    <a:pt x="792487" y="812800"/>
                    <a:pt x="767430" y="812800"/>
                  </a:cubicBezTo>
                  <a:lnTo>
                    <a:pt x="45370" y="812800"/>
                  </a:lnTo>
                  <a:cubicBezTo>
                    <a:pt x="20313" y="812800"/>
                    <a:pt x="0" y="792487"/>
                    <a:pt x="0" y="767430"/>
                  </a:cubicBezTo>
                  <a:lnTo>
                    <a:pt x="0" y="45370"/>
                  </a:lnTo>
                  <a:cubicBezTo>
                    <a:pt x="0" y="20313"/>
                    <a:pt x="20313" y="0"/>
                    <a:pt x="45370" y="0"/>
                  </a:cubicBezTo>
                  <a:close/>
                </a:path>
              </a:pathLst>
            </a:custGeom>
            <a:solidFill>
              <a:srgbClr val="33326B"/>
            </a:solidFill>
          </p:spPr>
        </p:sp>
        <p:sp>
          <p:nvSpPr>
            <p:cNvPr name="TextBox 32" id="32"/>
            <p:cNvSpPr txBox="true"/>
            <p:nvPr/>
          </p:nvSpPr>
          <p:spPr>
            <a:xfrm>
              <a:off x="0" y="-47625"/>
              <a:ext cx="812800" cy="860425"/>
            </a:xfrm>
            <a:prstGeom prst="rect">
              <a:avLst/>
            </a:prstGeom>
          </p:spPr>
          <p:txBody>
            <a:bodyPr anchor="ctr" rtlCol="false" tIns="50800" lIns="50800" bIns="50800" rIns="50800"/>
            <a:lstStyle/>
            <a:p>
              <a:pPr algn="ctr">
                <a:lnSpc>
                  <a:spcPts val="2800"/>
                </a:lnSpc>
              </a:pPr>
            </a:p>
          </p:txBody>
        </p:sp>
      </p:grpSp>
      <p:grpSp>
        <p:nvGrpSpPr>
          <p:cNvPr name="Group 33" id="33"/>
          <p:cNvGrpSpPr/>
          <p:nvPr/>
        </p:nvGrpSpPr>
        <p:grpSpPr>
          <a:xfrm rot="-8100000">
            <a:off x="13703799" y="8756087"/>
            <a:ext cx="3895116" cy="3895116"/>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27826" y="0"/>
                  </a:moveTo>
                  <a:lnTo>
                    <a:pt x="784974" y="0"/>
                  </a:lnTo>
                  <a:cubicBezTo>
                    <a:pt x="792354" y="0"/>
                    <a:pt x="799431" y="2932"/>
                    <a:pt x="804650" y="8150"/>
                  </a:cubicBezTo>
                  <a:cubicBezTo>
                    <a:pt x="809868" y="13369"/>
                    <a:pt x="812800" y="20446"/>
                    <a:pt x="812800" y="27826"/>
                  </a:cubicBezTo>
                  <a:lnTo>
                    <a:pt x="812800" y="784974"/>
                  </a:lnTo>
                  <a:cubicBezTo>
                    <a:pt x="812800" y="792354"/>
                    <a:pt x="809868" y="799431"/>
                    <a:pt x="804650" y="804650"/>
                  </a:cubicBezTo>
                  <a:cubicBezTo>
                    <a:pt x="799431" y="809868"/>
                    <a:pt x="792354" y="812800"/>
                    <a:pt x="784974" y="812800"/>
                  </a:cubicBezTo>
                  <a:lnTo>
                    <a:pt x="27826" y="812800"/>
                  </a:lnTo>
                  <a:cubicBezTo>
                    <a:pt x="20446" y="812800"/>
                    <a:pt x="13369" y="809868"/>
                    <a:pt x="8150" y="804650"/>
                  </a:cubicBezTo>
                  <a:cubicBezTo>
                    <a:pt x="2932" y="799431"/>
                    <a:pt x="0" y="792354"/>
                    <a:pt x="0" y="784974"/>
                  </a:cubicBezTo>
                  <a:lnTo>
                    <a:pt x="0" y="27826"/>
                  </a:lnTo>
                  <a:cubicBezTo>
                    <a:pt x="0" y="20446"/>
                    <a:pt x="2932" y="13369"/>
                    <a:pt x="8150" y="8150"/>
                  </a:cubicBezTo>
                  <a:cubicBezTo>
                    <a:pt x="13369" y="2932"/>
                    <a:pt x="20446" y="0"/>
                    <a:pt x="27826" y="0"/>
                  </a:cubicBezTo>
                  <a:close/>
                </a:path>
              </a:pathLst>
            </a:custGeom>
            <a:gradFill rotWithShape="true">
              <a:gsLst>
                <a:gs pos="0">
                  <a:srgbClr val="48CFAE">
                    <a:alpha val="100000"/>
                  </a:srgbClr>
                </a:gs>
                <a:gs pos="100000">
                  <a:srgbClr val="006D83">
                    <a:alpha val="100000"/>
                  </a:srgbClr>
                </a:gs>
              </a:gsLst>
              <a:lin ang="5400000"/>
            </a:gradFill>
          </p:spPr>
        </p:sp>
        <p:sp>
          <p:nvSpPr>
            <p:cNvPr name="TextBox 35" id="35"/>
            <p:cNvSpPr txBox="true"/>
            <p:nvPr/>
          </p:nvSpPr>
          <p:spPr>
            <a:xfrm>
              <a:off x="0" y="-47625"/>
              <a:ext cx="812800" cy="860425"/>
            </a:xfrm>
            <a:prstGeom prst="rect">
              <a:avLst/>
            </a:prstGeom>
          </p:spPr>
          <p:txBody>
            <a:bodyPr anchor="ctr" rtlCol="false" tIns="50800" lIns="50800" bIns="50800" rIns="50800"/>
            <a:lstStyle/>
            <a:p>
              <a:pPr algn="ctr">
                <a:lnSpc>
                  <a:spcPts val="2800"/>
                </a:lnSpc>
              </a:pPr>
            </a:p>
          </p:txBody>
        </p:sp>
      </p:grpSp>
      <p:grpSp>
        <p:nvGrpSpPr>
          <p:cNvPr name="Group 36" id="36"/>
          <p:cNvGrpSpPr/>
          <p:nvPr/>
        </p:nvGrpSpPr>
        <p:grpSpPr>
          <a:xfrm rot="0">
            <a:off x="-411042" y="-720617"/>
            <a:ext cx="19615407" cy="3895402"/>
            <a:chOff x="0" y="0"/>
            <a:chExt cx="5166198" cy="1025950"/>
          </a:xfrm>
        </p:grpSpPr>
        <p:sp>
          <p:nvSpPr>
            <p:cNvPr name="Freeform 37" id="37"/>
            <p:cNvSpPr/>
            <p:nvPr/>
          </p:nvSpPr>
          <p:spPr>
            <a:xfrm flipH="false" flipV="false" rot="0">
              <a:off x="0" y="0"/>
              <a:ext cx="5166198" cy="1025949"/>
            </a:xfrm>
            <a:custGeom>
              <a:avLst/>
              <a:gdLst/>
              <a:ahLst/>
              <a:cxnLst/>
              <a:rect r="r" b="b" t="t" l="l"/>
              <a:pathLst>
                <a:path h="1025949" w="5166198">
                  <a:moveTo>
                    <a:pt x="0" y="0"/>
                  </a:moveTo>
                  <a:lnTo>
                    <a:pt x="5166198" y="0"/>
                  </a:lnTo>
                  <a:lnTo>
                    <a:pt x="5166198" y="1025949"/>
                  </a:lnTo>
                  <a:lnTo>
                    <a:pt x="0" y="1025949"/>
                  </a:lnTo>
                  <a:close/>
                </a:path>
              </a:pathLst>
            </a:custGeom>
            <a:solidFill>
              <a:srgbClr val="195759"/>
            </a:solidFill>
          </p:spPr>
        </p:sp>
        <p:sp>
          <p:nvSpPr>
            <p:cNvPr name="TextBox 38" id="38"/>
            <p:cNvSpPr txBox="true"/>
            <p:nvPr/>
          </p:nvSpPr>
          <p:spPr>
            <a:xfrm>
              <a:off x="0" y="-47625"/>
              <a:ext cx="5166198" cy="1073575"/>
            </a:xfrm>
            <a:prstGeom prst="rect">
              <a:avLst/>
            </a:prstGeom>
          </p:spPr>
          <p:txBody>
            <a:bodyPr anchor="ctr" rtlCol="false" tIns="50800" lIns="50800" bIns="50800" rIns="50800"/>
            <a:lstStyle/>
            <a:p>
              <a:pPr algn="ctr">
                <a:lnSpc>
                  <a:spcPts val="2800"/>
                </a:lnSpc>
              </a:pPr>
            </a:p>
          </p:txBody>
        </p:sp>
      </p:grpSp>
      <p:grpSp>
        <p:nvGrpSpPr>
          <p:cNvPr name="Group 39" id="39"/>
          <p:cNvGrpSpPr/>
          <p:nvPr/>
        </p:nvGrpSpPr>
        <p:grpSpPr>
          <a:xfrm rot="-2700000">
            <a:off x="13398738" y="9028592"/>
            <a:ext cx="1042499" cy="1042499"/>
            <a:chOff x="0" y="0"/>
            <a:chExt cx="812800" cy="812800"/>
          </a:xfrm>
        </p:grpSpPr>
        <p:sp>
          <p:nvSpPr>
            <p:cNvPr name="Freeform 40" id="40"/>
            <p:cNvSpPr/>
            <p:nvPr/>
          </p:nvSpPr>
          <p:spPr>
            <a:xfrm flipH="false" flipV="false" rot="0">
              <a:off x="0" y="0"/>
              <a:ext cx="812800" cy="812800"/>
            </a:xfrm>
            <a:custGeom>
              <a:avLst/>
              <a:gdLst/>
              <a:ahLst/>
              <a:cxnLst/>
              <a:rect r="r" b="b" t="t" l="l"/>
              <a:pathLst>
                <a:path h="812800" w="812800">
                  <a:moveTo>
                    <a:pt x="103968" y="0"/>
                  </a:moveTo>
                  <a:lnTo>
                    <a:pt x="708832" y="0"/>
                  </a:lnTo>
                  <a:cubicBezTo>
                    <a:pt x="736406" y="0"/>
                    <a:pt x="762851" y="10954"/>
                    <a:pt x="782348" y="30452"/>
                  </a:cubicBezTo>
                  <a:cubicBezTo>
                    <a:pt x="801846" y="49949"/>
                    <a:pt x="812800" y="76394"/>
                    <a:pt x="812800" y="103968"/>
                  </a:cubicBezTo>
                  <a:lnTo>
                    <a:pt x="812800" y="708832"/>
                  </a:lnTo>
                  <a:cubicBezTo>
                    <a:pt x="812800" y="736406"/>
                    <a:pt x="801846" y="762851"/>
                    <a:pt x="782348" y="782348"/>
                  </a:cubicBezTo>
                  <a:cubicBezTo>
                    <a:pt x="762851" y="801846"/>
                    <a:pt x="736406" y="812800"/>
                    <a:pt x="708832" y="812800"/>
                  </a:cubicBezTo>
                  <a:lnTo>
                    <a:pt x="103968" y="812800"/>
                  </a:lnTo>
                  <a:cubicBezTo>
                    <a:pt x="76394" y="812800"/>
                    <a:pt x="49949" y="801846"/>
                    <a:pt x="30452" y="782348"/>
                  </a:cubicBezTo>
                  <a:cubicBezTo>
                    <a:pt x="10954" y="762851"/>
                    <a:pt x="0" y="736406"/>
                    <a:pt x="0" y="708832"/>
                  </a:cubicBezTo>
                  <a:lnTo>
                    <a:pt x="0" y="103968"/>
                  </a:lnTo>
                  <a:cubicBezTo>
                    <a:pt x="0" y="76394"/>
                    <a:pt x="10954" y="49949"/>
                    <a:pt x="30452" y="30452"/>
                  </a:cubicBezTo>
                  <a:cubicBezTo>
                    <a:pt x="49949" y="10954"/>
                    <a:pt x="76394" y="0"/>
                    <a:pt x="103968" y="0"/>
                  </a:cubicBezTo>
                  <a:close/>
                </a:path>
              </a:pathLst>
            </a:custGeom>
            <a:solidFill>
              <a:srgbClr val="33326B"/>
            </a:solidFill>
          </p:spPr>
        </p:sp>
        <p:sp>
          <p:nvSpPr>
            <p:cNvPr name="TextBox 41" id="41"/>
            <p:cNvSpPr txBox="true"/>
            <p:nvPr/>
          </p:nvSpPr>
          <p:spPr>
            <a:xfrm>
              <a:off x="0" y="-47625"/>
              <a:ext cx="812800" cy="860425"/>
            </a:xfrm>
            <a:prstGeom prst="rect">
              <a:avLst/>
            </a:prstGeom>
          </p:spPr>
          <p:txBody>
            <a:bodyPr anchor="ctr" rtlCol="false" tIns="50800" lIns="50800" bIns="50800" rIns="50800"/>
            <a:lstStyle/>
            <a:p>
              <a:pPr algn="ctr">
                <a:lnSpc>
                  <a:spcPts val="2800"/>
                </a:lnSpc>
              </a:pPr>
            </a:p>
          </p:txBody>
        </p:sp>
      </p:grpSp>
      <p:sp>
        <p:nvSpPr>
          <p:cNvPr name="Freeform 42" id="42"/>
          <p:cNvSpPr/>
          <p:nvPr/>
        </p:nvSpPr>
        <p:spPr>
          <a:xfrm flipH="false" flipV="false" rot="0">
            <a:off x="4528230" y="3614160"/>
            <a:ext cx="1027291" cy="1207287"/>
          </a:xfrm>
          <a:custGeom>
            <a:avLst/>
            <a:gdLst/>
            <a:ahLst/>
            <a:cxnLst/>
            <a:rect r="r" b="b" t="t" l="l"/>
            <a:pathLst>
              <a:path h="1207287" w="1027291">
                <a:moveTo>
                  <a:pt x="0" y="0"/>
                </a:moveTo>
                <a:lnTo>
                  <a:pt x="1027291" y="0"/>
                </a:lnTo>
                <a:lnTo>
                  <a:pt x="1027291" y="1207287"/>
                </a:lnTo>
                <a:lnTo>
                  <a:pt x="0" y="120728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3" id="43"/>
          <p:cNvSpPr/>
          <p:nvPr/>
        </p:nvSpPr>
        <p:spPr>
          <a:xfrm flipH="false" flipV="false" rot="0">
            <a:off x="12713397" y="3663763"/>
            <a:ext cx="1091962" cy="1108080"/>
          </a:xfrm>
          <a:custGeom>
            <a:avLst/>
            <a:gdLst/>
            <a:ahLst/>
            <a:cxnLst/>
            <a:rect r="r" b="b" t="t" l="l"/>
            <a:pathLst>
              <a:path h="1108080" w="1091962">
                <a:moveTo>
                  <a:pt x="0" y="0"/>
                </a:moveTo>
                <a:lnTo>
                  <a:pt x="1091962" y="0"/>
                </a:lnTo>
                <a:lnTo>
                  <a:pt x="1091962" y="1108080"/>
                </a:lnTo>
                <a:lnTo>
                  <a:pt x="0" y="110808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44" id="44"/>
          <p:cNvSpPr/>
          <p:nvPr/>
        </p:nvSpPr>
        <p:spPr>
          <a:xfrm flipH="false" flipV="false" rot="0">
            <a:off x="8619328" y="3614160"/>
            <a:ext cx="1112899" cy="1207287"/>
          </a:xfrm>
          <a:custGeom>
            <a:avLst/>
            <a:gdLst/>
            <a:ahLst/>
            <a:cxnLst/>
            <a:rect r="r" b="b" t="t" l="l"/>
            <a:pathLst>
              <a:path h="1207287" w="1112899">
                <a:moveTo>
                  <a:pt x="0" y="0"/>
                </a:moveTo>
                <a:lnTo>
                  <a:pt x="1112899" y="0"/>
                </a:lnTo>
                <a:lnTo>
                  <a:pt x="1112899" y="1207287"/>
                </a:lnTo>
                <a:lnTo>
                  <a:pt x="0" y="1207287"/>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45" id="45"/>
          <p:cNvSpPr txBox="true"/>
          <p:nvPr/>
        </p:nvSpPr>
        <p:spPr>
          <a:xfrm rot="0">
            <a:off x="2678634" y="1379484"/>
            <a:ext cx="12930731" cy="1280261"/>
          </a:xfrm>
          <a:prstGeom prst="rect">
            <a:avLst/>
          </a:prstGeom>
        </p:spPr>
        <p:txBody>
          <a:bodyPr anchor="t" rtlCol="false" tIns="0" lIns="0" bIns="0" rIns="0">
            <a:spAutoFit/>
          </a:bodyPr>
          <a:lstStyle/>
          <a:p>
            <a:pPr algn="ctr">
              <a:lnSpc>
                <a:spcPts val="9729"/>
              </a:lnSpc>
            </a:pPr>
            <a:r>
              <a:rPr lang="en-US" b="true" sz="9445" spc="302">
                <a:solidFill>
                  <a:srgbClr val="FFFFFF"/>
                </a:solidFill>
                <a:latin typeface="Be Vietnam Ultra-Bold"/>
                <a:ea typeface="Be Vietnam Ultra-Bold"/>
                <a:cs typeface="Be Vietnam Ultra-Bold"/>
                <a:sym typeface="Be Vietnam Ultra-Bold"/>
              </a:rPr>
              <a:t>BUT WHY?</a:t>
            </a:r>
          </a:p>
        </p:txBody>
      </p:sp>
      <p:sp>
        <p:nvSpPr>
          <p:cNvPr name="TextBox 46" id="46"/>
          <p:cNvSpPr txBox="true"/>
          <p:nvPr/>
        </p:nvSpPr>
        <p:spPr>
          <a:xfrm rot="0">
            <a:off x="3761822" y="5658813"/>
            <a:ext cx="3246266" cy="438785"/>
          </a:xfrm>
          <a:prstGeom prst="rect">
            <a:avLst/>
          </a:prstGeom>
        </p:spPr>
        <p:txBody>
          <a:bodyPr anchor="t" rtlCol="false" tIns="0" lIns="0" bIns="0" rIns="0">
            <a:spAutoFit/>
          </a:bodyPr>
          <a:lstStyle/>
          <a:p>
            <a:pPr algn="l">
              <a:lnSpc>
                <a:spcPts val="3640"/>
              </a:lnSpc>
              <a:spcBef>
                <a:spcPct val="0"/>
              </a:spcBef>
            </a:pPr>
            <a:r>
              <a:rPr lang="en-US" b="true" sz="2600" spc="-59">
                <a:solidFill>
                  <a:srgbClr val="01003B"/>
                </a:solidFill>
                <a:latin typeface="Be Vietnam Ultra-Bold"/>
                <a:ea typeface="Be Vietnam Ultra-Bold"/>
                <a:cs typeface="Be Vietnam Ultra-Bold"/>
                <a:sym typeface="Be Vietnam Ultra-Bold"/>
              </a:rPr>
              <a:t>01. TIME</a:t>
            </a:r>
          </a:p>
        </p:txBody>
      </p:sp>
      <p:sp>
        <p:nvSpPr>
          <p:cNvPr name="TextBox 47" id="47"/>
          <p:cNvSpPr txBox="true"/>
          <p:nvPr/>
        </p:nvSpPr>
        <p:spPr>
          <a:xfrm rot="0">
            <a:off x="3761822" y="6610223"/>
            <a:ext cx="2651024" cy="1215707"/>
          </a:xfrm>
          <a:prstGeom prst="rect">
            <a:avLst/>
          </a:prstGeom>
        </p:spPr>
        <p:txBody>
          <a:bodyPr anchor="t" rtlCol="false" tIns="0" lIns="0" bIns="0" rIns="0">
            <a:spAutoFit/>
          </a:bodyPr>
          <a:lstStyle/>
          <a:p>
            <a:pPr algn="l">
              <a:lnSpc>
                <a:spcPts val="2488"/>
              </a:lnSpc>
            </a:pPr>
            <a:r>
              <a:rPr lang="en-US" sz="1870">
                <a:solidFill>
                  <a:srgbClr val="01003B"/>
                </a:solidFill>
                <a:latin typeface="Be Vietnam"/>
                <a:ea typeface="Be Vietnam"/>
                <a:cs typeface="Be Vietnam"/>
                <a:sym typeface="Be Vietnam"/>
              </a:rPr>
              <a:t>Medical appointments are constrained by time - leaving little room for story taking.</a:t>
            </a:r>
          </a:p>
        </p:txBody>
      </p:sp>
      <p:sp>
        <p:nvSpPr>
          <p:cNvPr name="TextBox 48" id="48"/>
          <p:cNvSpPr txBox="true"/>
          <p:nvPr/>
        </p:nvSpPr>
        <p:spPr>
          <a:xfrm rot="0">
            <a:off x="11933866" y="5658813"/>
            <a:ext cx="3259058" cy="438785"/>
          </a:xfrm>
          <a:prstGeom prst="rect">
            <a:avLst/>
          </a:prstGeom>
        </p:spPr>
        <p:txBody>
          <a:bodyPr anchor="t" rtlCol="false" tIns="0" lIns="0" bIns="0" rIns="0">
            <a:spAutoFit/>
          </a:bodyPr>
          <a:lstStyle/>
          <a:p>
            <a:pPr algn="l">
              <a:lnSpc>
                <a:spcPts val="3640"/>
              </a:lnSpc>
              <a:spcBef>
                <a:spcPct val="0"/>
              </a:spcBef>
            </a:pPr>
            <a:r>
              <a:rPr lang="en-US" b="true" sz="2600" spc="-59">
                <a:solidFill>
                  <a:srgbClr val="01003B"/>
                </a:solidFill>
                <a:latin typeface="Be Vietnam Ultra-Bold"/>
                <a:ea typeface="Be Vietnam Ultra-Bold"/>
                <a:cs typeface="Be Vietnam Ultra-Bold"/>
                <a:sym typeface="Be Vietnam Ultra-Bold"/>
              </a:rPr>
              <a:t>03. EXAMS?</a:t>
            </a:r>
          </a:p>
        </p:txBody>
      </p:sp>
      <p:sp>
        <p:nvSpPr>
          <p:cNvPr name="TextBox 49" id="49"/>
          <p:cNvSpPr txBox="true"/>
          <p:nvPr/>
        </p:nvSpPr>
        <p:spPr>
          <a:xfrm rot="0">
            <a:off x="11933866" y="6610223"/>
            <a:ext cx="2651024" cy="1215707"/>
          </a:xfrm>
          <a:prstGeom prst="rect">
            <a:avLst/>
          </a:prstGeom>
        </p:spPr>
        <p:txBody>
          <a:bodyPr anchor="t" rtlCol="false" tIns="0" lIns="0" bIns="0" rIns="0">
            <a:spAutoFit/>
          </a:bodyPr>
          <a:lstStyle/>
          <a:p>
            <a:pPr algn="l">
              <a:lnSpc>
                <a:spcPts val="2488"/>
              </a:lnSpc>
            </a:pPr>
            <a:r>
              <a:rPr lang="en-US" sz="1870">
                <a:solidFill>
                  <a:srgbClr val="01003B"/>
                </a:solidFill>
                <a:latin typeface="Be Vietnam"/>
                <a:ea typeface="Be Vietnam"/>
                <a:cs typeface="Be Vietnam"/>
                <a:sym typeface="Be Vietnam"/>
              </a:rPr>
              <a:t>Many arrive unprepared, without medical reports or exams.</a:t>
            </a:r>
          </a:p>
        </p:txBody>
      </p:sp>
      <p:sp>
        <p:nvSpPr>
          <p:cNvPr name="TextBox 50" id="50"/>
          <p:cNvSpPr txBox="true"/>
          <p:nvPr/>
        </p:nvSpPr>
        <p:spPr>
          <a:xfrm rot="0">
            <a:off x="7816067" y="5658813"/>
            <a:ext cx="3259058" cy="438785"/>
          </a:xfrm>
          <a:prstGeom prst="rect">
            <a:avLst/>
          </a:prstGeom>
        </p:spPr>
        <p:txBody>
          <a:bodyPr anchor="t" rtlCol="false" tIns="0" lIns="0" bIns="0" rIns="0">
            <a:spAutoFit/>
          </a:bodyPr>
          <a:lstStyle/>
          <a:p>
            <a:pPr algn="l">
              <a:lnSpc>
                <a:spcPts val="3640"/>
              </a:lnSpc>
              <a:spcBef>
                <a:spcPct val="0"/>
              </a:spcBef>
            </a:pPr>
            <a:r>
              <a:rPr lang="en-US" b="true" sz="2600" spc="-59">
                <a:solidFill>
                  <a:srgbClr val="01003B"/>
                </a:solidFill>
                <a:latin typeface="Be Vietnam Ultra-Bold"/>
                <a:ea typeface="Be Vietnam Ultra-Bold"/>
                <a:cs typeface="Be Vietnam Ultra-Bold"/>
                <a:sym typeface="Be Vietnam Ultra-Bold"/>
              </a:rPr>
              <a:t>02. MEMORY</a:t>
            </a:r>
          </a:p>
        </p:txBody>
      </p:sp>
      <p:sp>
        <p:nvSpPr>
          <p:cNvPr name="TextBox 51" id="51"/>
          <p:cNvSpPr txBox="true"/>
          <p:nvPr/>
        </p:nvSpPr>
        <p:spPr>
          <a:xfrm rot="0">
            <a:off x="7816067" y="6610223"/>
            <a:ext cx="2651024" cy="1215707"/>
          </a:xfrm>
          <a:prstGeom prst="rect">
            <a:avLst/>
          </a:prstGeom>
        </p:spPr>
        <p:txBody>
          <a:bodyPr anchor="t" rtlCol="false" tIns="0" lIns="0" bIns="0" rIns="0">
            <a:spAutoFit/>
          </a:bodyPr>
          <a:lstStyle/>
          <a:p>
            <a:pPr algn="l">
              <a:lnSpc>
                <a:spcPts val="2488"/>
              </a:lnSpc>
            </a:pPr>
            <a:r>
              <a:rPr lang="en-US" sz="1870">
                <a:solidFill>
                  <a:srgbClr val="01003B"/>
                </a:solidFill>
                <a:latin typeface="Be Vietnam"/>
                <a:ea typeface="Be Vietnam"/>
                <a:cs typeface="Be Vietnam"/>
                <a:sym typeface="Be Vietnam"/>
              </a:rPr>
              <a:t>Patients often struggle to recall critical information on the spot.</a:t>
            </a:r>
          </a:p>
        </p:txBody>
      </p:sp>
      <p:sp>
        <p:nvSpPr>
          <p:cNvPr name="TextBox 52" id="52"/>
          <p:cNvSpPr txBox="true"/>
          <p:nvPr/>
        </p:nvSpPr>
        <p:spPr>
          <a:xfrm rot="19756">
            <a:off x="1179697" y="9116351"/>
            <a:ext cx="11906036" cy="825010"/>
          </a:xfrm>
          <a:prstGeom prst="rect">
            <a:avLst/>
          </a:prstGeom>
        </p:spPr>
        <p:txBody>
          <a:bodyPr anchor="t" rtlCol="false" tIns="0" lIns="0" bIns="0" rIns="0">
            <a:spAutoFit/>
          </a:bodyPr>
          <a:lstStyle/>
          <a:p>
            <a:pPr algn="l">
              <a:lnSpc>
                <a:spcPts val="3352"/>
              </a:lnSpc>
            </a:pPr>
            <a:r>
              <a:rPr lang="en-US" sz="2394" b="true">
                <a:solidFill>
                  <a:srgbClr val="01003B"/>
                </a:solidFill>
                <a:latin typeface="Be Vietnam Ultra-Bold"/>
                <a:ea typeface="Be Vietnam Ultra-Bold"/>
                <a:cs typeface="Be Vietnam Ultra-Bold"/>
                <a:sym typeface="Be Vietnam Ultra-Bold"/>
              </a:rPr>
              <a:t>There are significant gaps in efficiency, accuracy and preparedness- gaps that</a:t>
            </a:r>
          </a:p>
          <a:p>
            <a:pPr algn="ctr">
              <a:lnSpc>
                <a:spcPts val="3352"/>
              </a:lnSpc>
              <a:spcBef>
                <a:spcPct val="0"/>
              </a:spcBef>
            </a:pPr>
            <a:r>
              <a:rPr lang="en-US" b="true" sz="2394">
                <a:solidFill>
                  <a:srgbClr val="01003B"/>
                </a:solidFill>
                <a:latin typeface="Be Vietnam Ultra-Bold"/>
                <a:ea typeface="Be Vietnam Ultra-Bold"/>
                <a:cs typeface="Be Vietnam Ultra-Bold"/>
                <a:sym typeface="Be Vietnam Ultra-Bold"/>
              </a:rPr>
              <a:t>this solution is designed to close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3"/>
            <a:stretch>
              <a:fillRect l="-9222" t="-4461" r="-20094" b="-4717"/>
            </a:stretch>
          </a:blipFill>
        </p:spPr>
      </p:sp>
      <p:grpSp>
        <p:nvGrpSpPr>
          <p:cNvPr name="Group 3" id="3"/>
          <p:cNvGrpSpPr/>
          <p:nvPr/>
        </p:nvGrpSpPr>
        <p:grpSpPr>
          <a:xfrm rot="0">
            <a:off x="-599155" y="-3283094"/>
            <a:ext cx="19615407" cy="4281840"/>
            <a:chOff x="0" y="0"/>
            <a:chExt cx="5166198" cy="1127727"/>
          </a:xfrm>
        </p:grpSpPr>
        <p:sp>
          <p:nvSpPr>
            <p:cNvPr name="Freeform 4" id="4"/>
            <p:cNvSpPr/>
            <p:nvPr/>
          </p:nvSpPr>
          <p:spPr>
            <a:xfrm flipH="false" flipV="false" rot="0">
              <a:off x="0" y="0"/>
              <a:ext cx="5166198" cy="1127727"/>
            </a:xfrm>
            <a:custGeom>
              <a:avLst/>
              <a:gdLst/>
              <a:ahLst/>
              <a:cxnLst/>
              <a:rect r="r" b="b" t="t" l="l"/>
              <a:pathLst>
                <a:path h="1127727" w="5166198">
                  <a:moveTo>
                    <a:pt x="0" y="0"/>
                  </a:moveTo>
                  <a:lnTo>
                    <a:pt x="5166198" y="0"/>
                  </a:lnTo>
                  <a:lnTo>
                    <a:pt x="5166198" y="1127727"/>
                  </a:lnTo>
                  <a:lnTo>
                    <a:pt x="0" y="1127727"/>
                  </a:lnTo>
                  <a:close/>
                </a:path>
              </a:pathLst>
            </a:custGeom>
            <a:solidFill>
              <a:srgbClr val="195759"/>
            </a:solidFill>
          </p:spPr>
        </p:sp>
        <p:sp>
          <p:nvSpPr>
            <p:cNvPr name="TextBox 5" id="5"/>
            <p:cNvSpPr txBox="true"/>
            <p:nvPr/>
          </p:nvSpPr>
          <p:spPr>
            <a:xfrm>
              <a:off x="0" y="-47625"/>
              <a:ext cx="5166198" cy="1175352"/>
            </a:xfrm>
            <a:prstGeom prst="rect">
              <a:avLst/>
            </a:prstGeom>
          </p:spPr>
          <p:txBody>
            <a:bodyPr anchor="ctr" rtlCol="false" tIns="50800" lIns="50800" bIns="50800" rIns="50800"/>
            <a:lstStyle/>
            <a:p>
              <a:pPr algn="ctr">
                <a:lnSpc>
                  <a:spcPts val="2800"/>
                </a:lnSpc>
              </a:pPr>
            </a:p>
          </p:txBody>
        </p:sp>
      </p:grpSp>
      <p:grpSp>
        <p:nvGrpSpPr>
          <p:cNvPr name="Group 6" id="6"/>
          <p:cNvGrpSpPr/>
          <p:nvPr/>
        </p:nvGrpSpPr>
        <p:grpSpPr>
          <a:xfrm rot="8100000">
            <a:off x="-1793629" y="1798313"/>
            <a:ext cx="2388948" cy="238894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5370" y="0"/>
                  </a:moveTo>
                  <a:lnTo>
                    <a:pt x="767430" y="0"/>
                  </a:lnTo>
                  <a:cubicBezTo>
                    <a:pt x="792487" y="0"/>
                    <a:pt x="812800" y="20313"/>
                    <a:pt x="812800" y="45370"/>
                  </a:cubicBezTo>
                  <a:lnTo>
                    <a:pt x="812800" y="767430"/>
                  </a:lnTo>
                  <a:cubicBezTo>
                    <a:pt x="812800" y="792487"/>
                    <a:pt x="792487" y="812800"/>
                    <a:pt x="767430" y="812800"/>
                  </a:cubicBezTo>
                  <a:lnTo>
                    <a:pt x="45370" y="812800"/>
                  </a:lnTo>
                  <a:cubicBezTo>
                    <a:pt x="20313" y="812800"/>
                    <a:pt x="0" y="792487"/>
                    <a:pt x="0" y="767430"/>
                  </a:cubicBezTo>
                  <a:lnTo>
                    <a:pt x="0" y="45370"/>
                  </a:lnTo>
                  <a:cubicBezTo>
                    <a:pt x="0" y="20313"/>
                    <a:pt x="20313" y="0"/>
                    <a:pt x="45370" y="0"/>
                  </a:cubicBezTo>
                  <a:close/>
                </a:path>
              </a:pathLst>
            </a:custGeom>
            <a:solidFill>
              <a:srgbClr val="33326B"/>
            </a:solidFill>
          </p:spPr>
        </p:sp>
        <p:sp>
          <p:nvSpPr>
            <p:cNvPr name="TextBox 8" id="8"/>
            <p:cNvSpPr txBox="true"/>
            <p:nvPr/>
          </p:nvSpPr>
          <p:spPr>
            <a:xfrm>
              <a:off x="0" y="-47625"/>
              <a:ext cx="812800" cy="860425"/>
            </a:xfrm>
            <a:prstGeom prst="rect">
              <a:avLst/>
            </a:prstGeom>
          </p:spPr>
          <p:txBody>
            <a:bodyPr anchor="ctr" rtlCol="false" tIns="50800" lIns="50800" bIns="50800" rIns="50800"/>
            <a:lstStyle/>
            <a:p>
              <a:pPr algn="ctr">
                <a:lnSpc>
                  <a:spcPts val="2800"/>
                </a:lnSpc>
              </a:pPr>
            </a:p>
          </p:txBody>
        </p:sp>
      </p:grpSp>
      <p:grpSp>
        <p:nvGrpSpPr>
          <p:cNvPr name="Group 9" id="9"/>
          <p:cNvGrpSpPr/>
          <p:nvPr/>
        </p:nvGrpSpPr>
        <p:grpSpPr>
          <a:xfrm rot="2700000">
            <a:off x="252683" y="-845733"/>
            <a:ext cx="3895116" cy="3895116"/>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27826" y="0"/>
                  </a:moveTo>
                  <a:lnTo>
                    <a:pt x="784974" y="0"/>
                  </a:lnTo>
                  <a:cubicBezTo>
                    <a:pt x="792354" y="0"/>
                    <a:pt x="799431" y="2932"/>
                    <a:pt x="804650" y="8150"/>
                  </a:cubicBezTo>
                  <a:cubicBezTo>
                    <a:pt x="809868" y="13369"/>
                    <a:pt x="812800" y="20446"/>
                    <a:pt x="812800" y="27826"/>
                  </a:cubicBezTo>
                  <a:lnTo>
                    <a:pt x="812800" y="784974"/>
                  </a:lnTo>
                  <a:cubicBezTo>
                    <a:pt x="812800" y="792354"/>
                    <a:pt x="809868" y="799431"/>
                    <a:pt x="804650" y="804650"/>
                  </a:cubicBezTo>
                  <a:cubicBezTo>
                    <a:pt x="799431" y="809868"/>
                    <a:pt x="792354" y="812800"/>
                    <a:pt x="784974" y="812800"/>
                  </a:cubicBezTo>
                  <a:lnTo>
                    <a:pt x="27826" y="812800"/>
                  </a:lnTo>
                  <a:cubicBezTo>
                    <a:pt x="20446" y="812800"/>
                    <a:pt x="13369" y="809868"/>
                    <a:pt x="8150" y="804650"/>
                  </a:cubicBezTo>
                  <a:cubicBezTo>
                    <a:pt x="2932" y="799431"/>
                    <a:pt x="0" y="792354"/>
                    <a:pt x="0" y="784974"/>
                  </a:cubicBezTo>
                  <a:lnTo>
                    <a:pt x="0" y="27826"/>
                  </a:lnTo>
                  <a:cubicBezTo>
                    <a:pt x="0" y="20446"/>
                    <a:pt x="2932" y="13369"/>
                    <a:pt x="8150" y="8150"/>
                  </a:cubicBezTo>
                  <a:cubicBezTo>
                    <a:pt x="13369" y="2932"/>
                    <a:pt x="20446" y="0"/>
                    <a:pt x="27826" y="0"/>
                  </a:cubicBezTo>
                  <a:close/>
                </a:path>
              </a:pathLst>
            </a:custGeom>
            <a:gradFill rotWithShape="true">
              <a:gsLst>
                <a:gs pos="0">
                  <a:srgbClr val="48CFAE">
                    <a:alpha val="100000"/>
                  </a:srgbClr>
                </a:gs>
                <a:gs pos="100000">
                  <a:srgbClr val="006D83">
                    <a:alpha val="100000"/>
                  </a:srgbClr>
                </a:gs>
              </a:gsLst>
              <a:lin ang="5400000"/>
            </a:gradFill>
          </p:spPr>
        </p:sp>
        <p:sp>
          <p:nvSpPr>
            <p:cNvPr name="TextBox 11" id="11"/>
            <p:cNvSpPr txBox="true"/>
            <p:nvPr/>
          </p:nvSpPr>
          <p:spPr>
            <a:xfrm>
              <a:off x="0" y="-47625"/>
              <a:ext cx="812800" cy="860425"/>
            </a:xfrm>
            <a:prstGeom prst="rect">
              <a:avLst/>
            </a:prstGeom>
          </p:spPr>
          <p:txBody>
            <a:bodyPr anchor="ctr" rtlCol="false" tIns="50800" lIns="50800" bIns="50800" rIns="50800"/>
            <a:lstStyle/>
            <a:p>
              <a:pPr algn="ctr">
                <a:lnSpc>
                  <a:spcPts val="2800"/>
                </a:lnSpc>
              </a:pPr>
            </a:p>
          </p:txBody>
        </p:sp>
      </p:grpSp>
      <p:grpSp>
        <p:nvGrpSpPr>
          <p:cNvPr name="Group 12" id="12"/>
          <p:cNvGrpSpPr/>
          <p:nvPr/>
        </p:nvGrpSpPr>
        <p:grpSpPr>
          <a:xfrm rot="8100000">
            <a:off x="3410361" y="1734379"/>
            <a:ext cx="1042499" cy="1042499"/>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103968" y="0"/>
                  </a:moveTo>
                  <a:lnTo>
                    <a:pt x="708832" y="0"/>
                  </a:lnTo>
                  <a:cubicBezTo>
                    <a:pt x="736406" y="0"/>
                    <a:pt x="762851" y="10954"/>
                    <a:pt x="782348" y="30452"/>
                  </a:cubicBezTo>
                  <a:cubicBezTo>
                    <a:pt x="801846" y="49949"/>
                    <a:pt x="812800" y="76394"/>
                    <a:pt x="812800" y="103968"/>
                  </a:cubicBezTo>
                  <a:lnTo>
                    <a:pt x="812800" y="708832"/>
                  </a:lnTo>
                  <a:cubicBezTo>
                    <a:pt x="812800" y="736406"/>
                    <a:pt x="801846" y="762851"/>
                    <a:pt x="782348" y="782348"/>
                  </a:cubicBezTo>
                  <a:cubicBezTo>
                    <a:pt x="762851" y="801846"/>
                    <a:pt x="736406" y="812800"/>
                    <a:pt x="708832" y="812800"/>
                  </a:cubicBezTo>
                  <a:lnTo>
                    <a:pt x="103968" y="812800"/>
                  </a:lnTo>
                  <a:cubicBezTo>
                    <a:pt x="76394" y="812800"/>
                    <a:pt x="49949" y="801846"/>
                    <a:pt x="30452" y="782348"/>
                  </a:cubicBezTo>
                  <a:cubicBezTo>
                    <a:pt x="10954" y="762851"/>
                    <a:pt x="0" y="736406"/>
                    <a:pt x="0" y="708832"/>
                  </a:cubicBezTo>
                  <a:lnTo>
                    <a:pt x="0" y="103968"/>
                  </a:lnTo>
                  <a:cubicBezTo>
                    <a:pt x="0" y="76394"/>
                    <a:pt x="10954" y="49949"/>
                    <a:pt x="30452" y="30452"/>
                  </a:cubicBezTo>
                  <a:cubicBezTo>
                    <a:pt x="49949" y="10954"/>
                    <a:pt x="76394" y="0"/>
                    <a:pt x="103968" y="0"/>
                  </a:cubicBezTo>
                  <a:close/>
                </a:path>
              </a:pathLst>
            </a:custGeom>
            <a:solidFill>
              <a:srgbClr val="33326B"/>
            </a:solidFill>
          </p:spPr>
        </p:sp>
        <p:sp>
          <p:nvSpPr>
            <p:cNvPr name="TextBox 14" id="14"/>
            <p:cNvSpPr txBox="true"/>
            <p:nvPr/>
          </p:nvSpPr>
          <p:spPr>
            <a:xfrm>
              <a:off x="0" y="-47625"/>
              <a:ext cx="812800" cy="860425"/>
            </a:xfrm>
            <a:prstGeom prst="rect">
              <a:avLst/>
            </a:prstGeom>
          </p:spPr>
          <p:txBody>
            <a:bodyPr anchor="ctr" rtlCol="false" tIns="50800" lIns="50800" bIns="50800" rIns="50800"/>
            <a:lstStyle/>
            <a:p>
              <a:pPr algn="ctr">
                <a:lnSpc>
                  <a:spcPts val="2800"/>
                </a:lnSpc>
              </a:pPr>
            </a:p>
          </p:txBody>
        </p:sp>
      </p:grpSp>
      <p:grpSp>
        <p:nvGrpSpPr>
          <p:cNvPr name="Group 15" id="15"/>
          <p:cNvGrpSpPr/>
          <p:nvPr/>
        </p:nvGrpSpPr>
        <p:grpSpPr>
          <a:xfrm rot="0">
            <a:off x="6126304" y="1840978"/>
            <a:ext cx="11132996" cy="1998818"/>
            <a:chOff x="0" y="0"/>
            <a:chExt cx="3498255" cy="628077"/>
          </a:xfrm>
        </p:grpSpPr>
        <p:sp>
          <p:nvSpPr>
            <p:cNvPr name="Freeform 16" id="16"/>
            <p:cNvSpPr/>
            <p:nvPr/>
          </p:nvSpPr>
          <p:spPr>
            <a:xfrm flipH="false" flipV="false" rot="0">
              <a:off x="0" y="0"/>
              <a:ext cx="3498255" cy="628077"/>
            </a:xfrm>
            <a:custGeom>
              <a:avLst/>
              <a:gdLst/>
              <a:ahLst/>
              <a:cxnLst/>
              <a:rect r="r" b="b" t="t" l="l"/>
              <a:pathLst>
                <a:path h="628077" w="3498255">
                  <a:moveTo>
                    <a:pt x="9736" y="0"/>
                  </a:moveTo>
                  <a:lnTo>
                    <a:pt x="3488519" y="0"/>
                  </a:lnTo>
                  <a:cubicBezTo>
                    <a:pt x="3493896" y="0"/>
                    <a:pt x="3498255" y="4359"/>
                    <a:pt x="3498255" y="9736"/>
                  </a:cubicBezTo>
                  <a:lnTo>
                    <a:pt x="3498255" y="618341"/>
                  </a:lnTo>
                  <a:cubicBezTo>
                    <a:pt x="3498255" y="620923"/>
                    <a:pt x="3497229" y="623399"/>
                    <a:pt x="3495403" y="625225"/>
                  </a:cubicBezTo>
                  <a:cubicBezTo>
                    <a:pt x="3493577" y="627051"/>
                    <a:pt x="3491101" y="628077"/>
                    <a:pt x="3488519" y="628077"/>
                  </a:cubicBezTo>
                  <a:lnTo>
                    <a:pt x="9736" y="628077"/>
                  </a:lnTo>
                  <a:cubicBezTo>
                    <a:pt x="4359" y="628077"/>
                    <a:pt x="0" y="623718"/>
                    <a:pt x="0" y="618341"/>
                  </a:cubicBezTo>
                  <a:lnTo>
                    <a:pt x="0" y="9736"/>
                  </a:lnTo>
                  <a:cubicBezTo>
                    <a:pt x="0" y="4359"/>
                    <a:pt x="4359" y="0"/>
                    <a:pt x="9736" y="0"/>
                  </a:cubicBezTo>
                  <a:close/>
                </a:path>
              </a:pathLst>
            </a:custGeom>
            <a:solidFill>
              <a:srgbClr val="000000">
                <a:alpha val="0"/>
              </a:srgbClr>
            </a:solidFill>
            <a:ln w="95250" cap="sq">
              <a:solidFill>
                <a:srgbClr val="195759"/>
              </a:solidFill>
              <a:prstDash val="solid"/>
              <a:miter/>
            </a:ln>
          </p:spPr>
        </p:sp>
        <p:sp>
          <p:nvSpPr>
            <p:cNvPr name="TextBox 17" id="17"/>
            <p:cNvSpPr txBox="true"/>
            <p:nvPr/>
          </p:nvSpPr>
          <p:spPr>
            <a:xfrm>
              <a:off x="0" y="-47625"/>
              <a:ext cx="3498255" cy="675702"/>
            </a:xfrm>
            <a:prstGeom prst="rect">
              <a:avLst/>
            </a:prstGeom>
          </p:spPr>
          <p:txBody>
            <a:bodyPr anchor="ctr" rtlCol="false" tIns="50800" lIns="50800" bIns="50800" rIns="50800"/>
            <a:lstStyle/>
            <a:p>
              <a:pPr algn="ctr">
                <a:lnSpc>
                  <a:spcPts val="2800"/>
                </a:lnSpc>
              </a:pPr>
            </a:p>
          </p:txBody>
        </p:sp>
      </p:grpSp>
      <p:grpSp>
        <p:nvGrpSpPr>
          <p:cNvPr name="Group 18" id="18"/>
          <p:cNvGrpSpPr/>
          <p:nvPr/>
        </p:nvGrpSpPr>
        <p:grpSpPr>
          <a:xfrm rot="0">
            <a:off x="1294619" y="4961396"/>
            <a:ext cx="3202043" cy="3202043"/>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4"/>
              <a:stretch>
                <a:fillRect l="0" t="-5198" r="0" b="-5198"/>
              </a:stretch>
            </a:blipFill>
          </p:spPr>
        </p:sp>
      </p:grpSp>
      <p:grpSp>
        <p:nvGrpSpPr>
          <p:cNvPr name="Group 20" id="20"/>
          <p:cNvGrpSpPr/>
          <p:nvPr/>
        </p:nvGrpSpPr>
        <p:grpSpPr>
          <a:xfrm rot="0">
            <a:off x="1245113" y="4911890"/>
            <a:ext cx="3301055" cy="3301055"/>
            <a:chOff x="0" y="0"/>
            <a:chExt cx="812800" cy="812800"/>
          </a:xfrm>
        </p:grpSpPr>
        <p:sp>
          <p:nvSpPr>
            <p:cNvPr name="Freeform 21" id="2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0000">
                <a:alpha val="0"/>
              </a:srgbClr>
            </a:solidFill>
            <a:ln w="66675" cap="sq">
              <a:solidFill>
                <a:srgbClr val="48CFAE"/>
              </a:solidFill>
              <a:prstDash val="solid"/>
              <a:miter/>
            </a:ln>
          </p:spPr>
        </p:sp>
        <p:sp>
          <p:nvSpPr>
            <p:cNvPr name="TextBox 22" id="22"/>
            <p:cNvSpPr txBox="true"/>
            <p:nvPr/>
          </p:nvSpPr>
          <p:spPr>
            <a:xfrm>
              <a:off x="76200" y="28575"/>
              <a:ext cx="660400" cy="708025"/>
            </a:xfrm>
            <a:prstGeom prst="rect">
              <a:avLst/>
            </a:prstGeom>
          </p:spPr>
          <p:txBody>
            <a:bodyPr anchor="ctr" rtlCol="false" tIns="50800" lIns="50800" bIns="50800" rIns="50800"/>
            <a:lstStyle/>
            <a:p>
              <a:pPr algn="ctr">
                <a:lnSpc>
                  <a:spcPts val="2800"/>
                </a:lnSpc>
              </a:pPr>
            </a:p>
          </p:txBody>
        </p:sp>
      </p:grpSp>
      <p:grpSp>
        <p:nvGrpSpPr>
          <p:cNvPr name="Group 23" id="23"/>
          <p:cNvGrpSpPr/>
          <p:nvPr/>
        </p:nvGrpSpPr>
        <p:grpSpPr>
          <a:xfrm rot="0">
            <a:off x="9561330" y="5010902"/>
            <a:ext cx="3202043" cy="3202043"/>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blipFill>
              <a:blip r:embed="rId5"/>
              <a:stretch>
                <a:fillRect l="0" t="-6361" r="0" b="-38599"/>
              </a:stretch>
            </a:blipFill>
          </p:spPr>
        </p:sp>
      </p:grpSp>
      <p:grpSp>
        <p:nvGrpSpPr>
          <p:cNvPr name="Group 25" id="25"/>
          <p:cNvGrpSpPr/>
          <p:nvPr/>
        </p:nvGrpSpPr>
        <p:grpSpPr>
          <a:xfrm rot="0">
            <a:off x="9511824" y="5010902"/>
            <a:ext cx="3301055" cy="3202043"/>
            <a:chOff x="0" y="0"/>
            <a:chExt cx="812800" cy="788421"/>
          </a:xfrm>
        </p:grpSpPr>
        <p:sp>
          <p:nvSpPr>
            <p:cNvPr name="Freeform 26" id="26"/>
            <p:cNvSpPr/>
            <p:nvPr/>
          </p:nvSpPr>
          <p:spPr>
            <a:xfrm flipH="false" flipV="false" rot="0">
              <a:off x="0" y="0"/>
              <a:ext cx="812800" cy="788421"/>
            </a:xfrm>
            <a:custGeom>
              <a:avLst/>
              <a:gdLst/>
              <a:ahLst/>
              <a:cxnLst/>
              <a:rect r="r" b="b" t="t" l="l"/>
              <a:pathLst>
                <a:path h="788421" w="812800">
                  <a:moveTo>
                    <a:pt x="406400" y="0"/>
                  </a:moveTo>
                  <a:cubicBezTo>
                    <a:pt x="181951" y="0"/>
                    <a:pt x="0" y="176494"/>
                    <a:pt x="0" y="394210"/>
                  </a:cubicBezTo>
                  <a:cubicBezTo>
                    <a:pt x="0" y="611927"/>
                    <a:pt x="181951" y="788421"/>
                    <a:pt x="406400" y="788421"/>
                  </a:cubicBezTo>
                  <a:cubicBezTo>
                    <a:pt x="630849" y="788421"/>
                    <a:pt x="812800" y="611927"/>
                    <a:pt x="812800" y="394210"/>
                  </a:cubicBezTo>
                  <a:cubicBezTo>
                    <a:pt x="812800" y="176494"/>
                    <a:pt x="630849" y="0"/>
                    <a:pt x="406400" y="0"/>
                  </a:cubicBezTo>
                  <a:close/>
                </a:path>
              </a:pathLst>
            </a:custGeom>
            <a:solidFill>
              <a:srgbClr val="000000">
                <a:alpha val="0"/>
              </a:srgbClr>
            </a:solidFill>
            <a:ln w="66675" cap="sq">
              <a:solidFill>
                <a:srgbClr val="48CFAE"/>
              </a:solidFill>
              <a:prstDash val="solid"/>
              <a:miter/>
            </a:ln>
          </p:spPr>
        </p:sp>
        <p:sp>
          <p:nvSpPr>
            <p:cNvPr name="TextBox 27" id="27"/>
            <p:cNvSpPr txBox="true"/>
            <p:nvPr/>
          </p:nvSpPr>
          <p:spPr>
            <a:xfrm>
              <a:off x="76200" y="26289"/>
              <a:ext cx="660400" cy="688217"/>
            </a:xfrm>
            <a:prstGeom prst="rect">
              <a:avLst/>
            </a:prstGeom>
          </p:spPr>
          <p:txBody>
            <a:bodyPr anchor="ctr" rtlCol="false" tIns="50800" lIns="50800" bIns="50800" rIns="50800"/>
            <a:lstStyle/>
            <a:p>
              <a:pPr algn="ctr">
                <a:lnSpc>
                  <a:spcPts val="2800"/>
                </a:lnSpc>
              </a:pPr>
            </a:p>
          </p:txBody>
        </p:sp>
      </p:grpSp>
      <p:sp>
        <p:nvSpPr>
          <p:cNvPr name="TextBox 28" id="28"/>
          <p:cNvSpPr txBox="true"/>
          <p:nvPr/>
        </p:nvSpPr>
        <p:spPr>
          <a:xfrm rot="0">
            <a:off x="6126304" y="2200257"/>
            <a:ext cx="11132996" cy="1280261"/>
          </a:xfrm>
          <a:prstGeom prst="rect">
            <a:avLst/>
          </a:prstGeom>
        </p:spPr>
        <p:txBody>
          <a:bodyPr anchor="t" rtlCol="false" tIns="0" lIns="0" bIns="0" rIns="0">
            <a:spAutoFit/>
          </a:bodyPr>
          <a:lstStyle/>
          <a:p>
            <a:pPr algn="ctr">
              <a:lnSpc>
                <a:spcPts val="9729"/>
              </a:lnSpc>
            </a:pPr>
            <a:r>
              <a:rPr lang="en-US" b="true" sz="9445" spc="302">
                <a:solidFill>
                  <a:srgbClr val="01003B"/>
                </a:solidFill>
                <a:latin typeface="Be Vietnam Ultra-Bold"/>
                <a:ea typeface="Be Vietnam Ultra-Bold"/>
                <a:cs typeface="Be Vietnam Ultra-Bold"/>
                <a:sym typeface="Be Vietnam Ultra-Bold"/>
              </a:rPr>
              <a:t>TESTIMONIALS</a:t>
            </a:r>
          </a:p>
        </p:txBody>
      </p:sp>
      <p:sp>
        <p:nvSpPr>
          <p:cNvPr name="TextBox 29" id="29"/>
          <p:cNvSpPr txBox="true"/>
          <p:nvPr/>
        </p:nvSpPr>
        <p:spPr>
          <a:xfrm rot="0">
            <a:off x="5445908" y="5044662"/>
            <a:ext cx="3339312" cy="438785"/>
          </a:xfrm>
          <a:prstGeom prst="rect">
            <a:avLst/>
          </a:prstGeom>
        </p:spPr>
        <p:txBody>
          <a:bodyPr anchor="t" rtlCol="false" tIns="0" lIns="0" bIns="0" rIns="0">
            <a:spAutoFit/>
          </a:bodyPr>
          <a:lstStyle/>
          <a:p>
            <a:pPr algn="l">
              <a:lnSpc>
                <a:spcPts val="3640"/>
              </a:lnSpc>
              <a:spcBef>
                <a:spcPct val="0"/>
              </a:spcBef>
            </a:pPr>
            <a:r>
              <a:rPr lang="en-US" b="true" sz="2600" spc="-59">
                <a:solidFill>
                  <a:srgbClr val="01003B"/>
                </a:solidFill>
                <a:latin typeface="Be Vietnam Ultra-Bold"/>
                <a:ea typeface="Be Vietnam Ultra-Bold"/>
                <a:cs typeface="Be Vietnam Ultra-Bold"/>
                <a:sym typeface="Be Vietnam Ultra-Bold"/>
              </a:rPr>
              <a:t>Lidiane de Castro</a:t>
            </a:r>
          </a:p>
        </p:txBody>
      </p:sp>
      <p:sp>
        <p:nvSpPr>
          <p:cNvPr name="TextBox 30" id="30"/>
          <p:cNvSpPr txBox="true"/>
          <p:nvPr/>
        </p:nvSpPr>
        <p:spPr>
          <a:xfrm rot="0">
            <a:off x="5445908" y="5945039"/>
            <a:ext cx="2651024" cy="1829479"/>
          </a:xfrm>
          <a:prstGeom prst="rect">
            <a:avLst/>
          </a:prstGeom>
        </p:spPr>
        <p:txBody>
          <a:bodyPr anchor="t" rtlCol="false" tIns="0" lIns="0" bIns="0" rIns="0">
            <a:spAutoFit/>
          </a:bodyPr>
          <a:lstStyle/>
          <a:p>
            <a:pPr algn="l">
              <a:lnSpc>
                <a:spcPts val="2488"/>
              </a:lnSpc>
            </a:pPr>
            <a:r>
              <a:rPr lang="en-US" sz="1870">
                <a:solidFill>
                  <a:srgbClr val="01003B"/>
                </a:solidFill>
                <a:latin typeface="Be Vietnam"/>
                <a:ea typeface="Be Vietnam"/>
                <a:cs typeface="Be Vietnam"/>
                <a:sym typeface="Be Vietnam"/>
              </a:rPr>
              <a:t>“Patients almost never remember their passwords to access online exams. They always send it to me later!”</a:t>
            </a:r>
          </a:p>
        </p:txBody>
      </p:sp>
      <p:sp>
        <p:nvSpPr>
          <p:cNvPr name="TextBox 31" id="31"/>
          <p:cNvSpPr txBox="true"/>
          <p:nvPr/>
        </p:nvSpPr>
        <p:spPr>
          <a:xfrm rot="0">
            <a:off x="13539483" y="5044662"/>
            <a:ext cx="3339312" cy="438785"/>
          </a:xfrm>
          <a:prstGeom prst="rect">
            <a:avLst/>
          </a:prstGeom>
        </p:spPr>
        <p:txBody>
          <a:bodyPr anchor="t" rtlCol="false" tIns="0" lIns="0" bIns="0" rIns="0">
            <a:spAutoFit/>
          </a:bodyPr>
          <a:lstStyle/>
          <a:p>
            <a:pPr algn="l">
              <a:lnSpc>
                <a:spcPts val="3640"/>
              </a:lnSpc>
              <a:spcBef>
                <a:spcPct val="0"/>
              </a:spcBef>
            </a:pPr>
            <a:r>
              <a:rPr lang="en-US" b="true" sz="2600" spc="-59">
                <a:solidFill>
                  <a:srgbClr val="01003B"/>
                </a:solidFill>
                <a:latin typeface="Be Vietnam Ultra-Bold"/>
                <a:ea typeface="Be Vietnam Ultra-Bold"/>
                <a:cs typeface="Be Vietnam Ultra-Bold"/>
                <a:sym typeface="Be Vietnam Ultra-Bold"/>
              </a:rPr>
              <a:t>Marcelo Morato</a:t>
            </a:r>
          </a:p>
        </p:txBody>
      </p:sp>
      <p:sp>
        <p:nvSpPr>
          <p:cNvPr name="TextBox 32" id="32"/>
          <p:cNvSpPr txBox="true"/>
          <p:nvPr/>
        </p:nvSpPr>
        <p:spPr>
          <a:xfrm rot="0">
            <a:off x="13539483" y="5730288"/>
            <a:ext cx="2651024" cy="2136365"/>
          </a:xfrm>
          <a:prstGeom prst="rect">
            <a:avLst/>
          </a:prstGeom>
        </p:spPr>
        <p:txBody>
          <a:bodyPr anchor="t" rtlCol="false" tIns="0" lIns="0" bIns="0" rIns="0">
            <a:spAutoFit/>
          </a:bodyPr>
          <a:lstStyle/>
          <a:p>
            <a:pPr algn="l">
              <a:lnSpc>
                <a:spcPts val="2488"/>
              </a:lnSpc>
            </a:pPr>
            <a:r>
              <a:rPr lang="en-US" sz="1870">
                <a:solidFill>
                  <a:srgbClr val="01003B"/>
                </a:solidFill>
                <a:latin typeface="Be Vietnam"/>
                <a:ea typeface="Be Vietnam"/>
                <a:cs typeface="Be Vietnam"/>
                <a:sym typeface="Be Vietnam"/>
              </a:rPr>
              <a:t>“Waiting for patients to look at their medicines boxes or call relatives takes a lot of time from me to look at their chief complaint.”</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3"/>
            <a:stretch>
              <a:fillRect l="-9222" t="-4461" r="-20094" b="-4717"/>
            </a:stretch>
          </a:blipFill>
        </p:spPr>
      </p:sp>
      <p:grpSp>
        <p:nvGrpSpPr>
          <p:cNvPr name="Group 3" id="3"/>
          <p:cNvGrpSpPr/>
          <p:nvPr/>
        </p:nvGrpSpPr>
        <p:grpSpPr>
          <a:xfrm rot="0">
            <a:off x="-599155" y="-3283094"/>
            <a:ext cx="19615407" cy="4281840"/>
            <a:chOff x="0" y="0"/>
            <a:chExt cx="5166198" cy="1127727"/>
          </a:xfrm>
        </p:grpSpPr>
        <p:sp>
          <p:nvSpPr>
            <p:cNvPr name="Freeform 4" id="4"/>
            <p:cNvSpPr/>
            <p:nvPr/>
          </p:nvSpPr>
          <p:spPr>
            <a:xfrm flipH="false" flipV="false" rot="0">
              <a:off x="0" y="0"/>
              <a:ext cx="5166198" cy="1127727"/>
            </a:xfrm>
            <a:custGeom>
              <a:avLst/>
              <a:gdLst/>
              <a:ahLst/>
              <a:cxnLst/>
              <a:rect r="r" b="b" t="t" l="l"/>
              <a:pathLst>
                <a:path h="1127727" w="5166198">
                  <a:moveTo>
                    <a:pt x="0" y="0"/>
                  </a:moveTo>
                  <a:lnTo>
                    <a:pt x="5166198" y="0"/>
                  </a:lnTo>
                  <a:lnTo>
                    <a:pt x="5166198" y="1127727"/>
                  </a:lnTo>
                  <a:lnTo>
                    <a:pt x="0" y="1127727"/>
                  </a:lnTo>
                  <a:close/>
                </a:path>
              </a:pathLst>
            </a:custGeom>
            <a:solidFill>
              <a:srgbClr val="195759"/>
            </a:solidFill>
          </p:spPr>
        </p:sp>
        <p:sp>
          <p:nvSpPr>
            <p:cNvPr name="TextBox 5" id="5"/>
            <p:cNvSpPr txBox="true"/>
            <p:nvPr/>
          </p:nvSpPr>
          <p:spPr>
            <a:xfrm>
              <a:off x="0" y="-47625"/>
              <a:ext cx="5166198" cy="1175352"/>
            </a:xfrm>
            <a:prstGeom prst="rect">
              <a:avLst/>
            </a:prstGeom>
          </p:spPr>
          <p:txBody>
            <a:bodyPr anchor="ctr" rtlCol="false" tIns="50800" lIns="50800" bIns="50800" rIns="50800"/>
            <a:lstStyle/>
            <a:p>
              <a:pPr algn="ctr">
                <a:lnSpc>
                  <a:spcPts val="2800"/>
                </a:lnSpc>
              </a:pPr>
            </a:p>
          </p:txBody>
        </p:sp>
      </p:grpSp>
      <p:grpSp>
        <p:nvGrpSpPr>
          <p:cNvPr name="Group 6" id="6"/>
          <p:cNvGrpSpPr/>
          <p:nvPr/>
        </p:nvGrpSpPr>
        <p:grpSpPr>
          <a:xfrm rot="8100000">
            <a:off x="-1793629" y="1798313"/>
            <a:ext cx="2388948" cy="238894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5370" y="0"/>
                  </a:moveTo>
                  <a:lnTo>
                    <a:pt x="767430" y="0"/>
                  </a:lnTo>
                  <a:cubicBezTo>
                    <a:pt x="792487" y="0"/>
                    <a:pt x="812800" y="20313"/>
                    <a:pt x="812800" y="45370"/>
                  </a:cubicBezTo>
                  <a:lnTo>
                    <a:pt x="812800" y="767430"/>
                  </a:lnTo>
                  <a:cubicBezTo>
                    <a:pt x="812800" y="792487"/>
                    <a:pt x="792487" y="812800"/>
                    <a:pt x="767430" y="812800"/>
                  </a:cubicBezTo>
                  <a:lnTo>
                    <a:pt x="45370" y="812800"/>
                  </a:lnTo>
                  <a:cubicBezTo>
                    <a:pt x="20313" y="812800"/>
                    <a:pt x="0" y="792487"/>
                    <a:pt x="0" y="767430"/>
                  </a:cubicBezTo>
                  <a:lnTo>
                    <a:pt x="0" y="45370"/>
                  </a:lnTo>
                  <a:cubicBezTo>
                    <a:pt x="0" y="20313"/>
                    <a:pt x="20313" y="0"/>
                    <a:pt x="45370" y="0"/>
                  </a:cubicBezTo>
                  <a:close/>
                </a:path>
              </a:pathLst>
            </a:custGeom>
            <a:solidFill>
              <a:srgbClr val="33326B"/>
            </a:solidFill>
          </p:spPr>
        </p:sp>
        <p:sp>
          <p:nvSpPr>
            <p:cNvPr name="TextBox 8" id="8"/>
            <p:cNvSpPr txBox="true"/>
            <p:nvPr/>
          </p:nvSpPr>
          <p:spPr>
            <a:xfrm>
              <a:off x="0" y="-47625"/>
              <a:ext cx="812800" cy="860425"/>
            </a:xfrm>
            <a:prstGeom prst="rect">
              <a:avLst/>
            </a:prstGeom>
          </p:spPr>
          <p:txBody>
            <a:bodyPr anchor="ctr" rtlCol="false" tIns="50800" lIns="50800" bIns="50800" rIns="50800"/>
            <a:lstStyle/>
            <a:p>
              <a:pPr algn="ctr">
                <a:lnSpc>
                  <a:spcPts val="2800"/>
                </a:lnSpc>
              </a:pPr>
            </a:p>
          </p:txBody>
        </p:sp>
      </p:grpSp>
      <p:grpSp>
        <p:nvGrpSpPr>
          <p:cNvPr name="Group 9" id="9"/>
          <p:cNvGrpSpPr/>
          <p:nvPr/>
        </p:nvGrpSpPr>
        <p:grpSpPr>
          <a:xfrm rot="2700000">
            <a:off x="252683" y="-845733"/>
            <a:ext cx="3895116" cy="3895116"/>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27826" y="0"/>
                  </a:moveTo>
                  <a:lnTo>
                    <a:pt x="784974" y="0"/>
                  </a:lnTo>
                  <a:cubicBezTo>
                    <a:pt x="792354" y="0"/>
                    <a:pt x="799431" y="2932"/>
                    <a:pt x="804650" y="8150"/>
                  </a:cubicBezTo>
                  <a:cubicBezTo>
                    <a:pt x="809868" y="13369"/>
                    <a:pt x="812800" y="20446"/>
                    <a:pt x="812800" y="27826"/>
                  </a:cubicBezTo>
                  <a:lnTo>
                    <a:pt x="812800" y="784974"/>
                  </a:lnTo>
                  <a:cubicBezTo>
                    <a:pt x="812800" y="792354"/>
                    <a:pt x="809868" y="799431"/>
                    <a:pt x="804650" y="804650"/>
                  </a:cubicBezTo>
                  <a:cubicBezTo>
                    <a:pt x="799431" y="809868"/>
                    <a:pt x="792354" y="812800"/>
                    <a:pt x="784974" y="812800"/>
                  </a:cubicBezTo>
                  <a:lnTo>
                    <a:pt x="27826" y="812800"/>
                  </a:lnTo>
                  <a:cubicBezTo>
                    <a:pt x="20446" y="812800"/>
                    <a:pt x="13369" y="809868"/>
                    <a:pt x="8150" y="804650"/>
                  </a:cubicBezTo>
                  <a:cubicBezTo>
                    <a:pt x="2932" y="799431"/>
                    <a:pt x="0" y="792354"/>
                    <a:pt x="0" y="784974"/>
                  </a:cubicBezTo>
                  <a:lnTo>
                    <a:pt x="0" y="27826"/>
                  </a:lnTo>
                  <a:cubicBezTo>
                    <a:pt x="0" y="20446"/>
                    <a:pt x="2932" y="13369"/>
                    <a:pt x="8150" y="8150"/>
                  </a:cubicBezTo>
                  <a:cubicBezTo>
                    <a:pt x="13369" y="2932"/>
                    <a:pt x="20446" y="0"/>
                    <a:pt x="27826" y="0"/>
                  </a:cubicBezTo>
                  <a:close/>
                </a:path>
              </a:pathLst>
            </a:custGeom>
            <a:gradFill rotWithShape="true">
              <a:gsLst>
                <a:gs pos="0">
                  <a:srgbClr val="48CFAE">
                    <a:alpha val="100000"/>
                  </a:srgbClr>
                </a:gs>
                <a:gs pos="100000">
                  <a:srgbClr val="006D83">
                    <a:alpha val="100000"/>
                  </a:srgbClr>
                </a:gs>
              </a:gsLst>
              <a:lin ang="5400000"/>
            </a:gradFill>
          </p:spPr>
        </p:sp>
        <p:sp>
          <p:nvSpPr>
            <p:cNvPr name="TextBox 11" id="11"/>
            <p:cNvSpPr txBox="true"/>
            <p:nvPr/>
          </p:nvSpPr>
          <p:spPr>
            <a:xfrm>
              <a:off x="0" y="-47625"/>
              <a:ext cx="812800" cy="860425"/>
            </a:xfrm>
            <a:prstGeom prst="rect">
              <a:avLst/>
            </a:prstGeom>
          </p:spPr>
          <p:txBody>
            <a:bodyPr anchor="ctr" rtlCol="false" tIns="50800" lIns="50800" bIns="50800" rIns="50800"/>
            <a:lstStyle/>
            <a:p>
              <a:pPr algn="ctr">
                <a:lnSpc>
                  <a:spcPts val="2800"/>
                </a:lnSpc>
              </a:pPr>
            </a:p>
          </p:txBody>
        </p:sp>
      </p:grpSp>
      <p:grpSp>
        <p:nvGrpSpPr>
          <p:cNvPr name="Group 12" id="12"/>
          <p:cNvGrpSpPr/>
          <p:nvPr/>
        </p:nvGrpSpPr>
        <p:grpSpPr>
          <a:xfrm rot="8100000">
            <a:off x="3410361" y="1734379"/>
            <a:ext cx="1042499" cy="1042499"/>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103968" y="0"/>
                  </a:moveTo>
                  <a:lnTo>
                    <a:pt x="708832" y="0"/>
                  </a:lnTo>
                  <a:cubicBezTo>
                    <a:pt x="736406" y="0"/>
                    <a:pt x="762851" y="10954"/>
                    <a:pt x="782348" y="30452"/>
                  </a:cubicBezTo>
                  <a:cubicBezTo>
                    <a:pt x="801846" y="49949"/>
                    <a:pt x="812800" y="76394"/>
                    <a:pt x="812800" y="103968"/>
                  </a:cubicBezTo>
                  <a:lnTo>
                    <a:pt x="812800" y="708832"/>
                  </a:lnTo>
                  <a:cubicBezTo>
                    <a:pt x="812800" y="736406"/>
                    <a:pt x="801846" y="762851"/>
                    <a:pt x="782348" y="782348"/>
                  </a:cubicBezTo>
                  <a:cubicBezTo>
                    <a:pt x="762851" y="801846"/>
                    <a:pt x="736406" y="812800"/>
                    <a:pt x="708832" y="812800"/>
                  </a:cubicBezTo>
                  <a:lnTo>
                    <a:pt x="103968" y="812800"/>
                  </a:lnTo>
                  <a:cubicBezTo>
                    <a:pt x="76394" y="812800"/>
                    <a:pt x="49949" y="801846"/>
                    <a:pt x="30452" y="782348"/>
                  </a:cubicBezTo>
                  <a:cubicBezTo>
                    <a:pt x="10954" y="762851"/>
                    <a:pt x="0" y="736406"/>
                    <a:pt x="0" y="708832"/>
                  </a:cubicBezTo>
                  <a:lnTo>
                    <a:pt x="0" y="103968"/>
                  </a:lnTo>
                  <a:cubicBezTo>
                    <a:pt x="0" y="76394"/>
                    <a:pt x="10954" y="49949"/>
                    <a:pt x="30452" y="30452"/>
                  </a:cubicBezTo>
                  <a:cubicBezTo>
                    <a:pt x="49949" y="10954"/>
                    <a:pt x="76394" y="0"/>
                    <a:pt x="103968" y="0"/>
                  </a:cubicBezTo>
                  <a:close/>
                </a:path>
              </a:pathLst>
            </a:custGeom>
            <a:solidFill>
              <a:srgbClr val="33326B"/>
            </a:solidFill>
          </p:spPr>
        </p:sp>
        <p:sp>
          <p:nvSpPr>
            <p:cNvPr name="TextBox 14" id="14"/>
            <p:cNvSpPr txBox="true"/>
            <p:nvPr/>
          </p:nvSpPr>
          <p:spPr>
            <a:xfrm>
              <a:off x="0" y="-47625"/>
              <a:ext cx="812800" cy="860425"/>
            </a:xfrm>
            <a:prstGeom prst="rect">
              <a:avLst/>
            </a:prstGeom>
          </p:spPr>
          <p:txBody>
            <a:bodyPr anchor="ctr" rtlCol="false" tIns="50800" lIns="50800" bIns="50800" rIns="50800"/>
            <a:lstStyle/>
            <a:p>
              <a:pPr algn="ctr">
                <a:lnSpc>
                  <a:spcPts val="2800"/>
                </a:lnSpc>
              </a:pPr>
            </a:p>
          </p:txBody>
        </p:sp>
      </p:grpSp>
      <p:grpSp>
        <p:nvGrpSpPr>
          <p:cNvPr name="Group 15" id="15"/>
          <p:cNvGrpSpPr/>
          <p:nvPr/>
        </p:nvGrpSpPr>
        <p:grpSpPr>
          <a:xfrm rot="0">
            <a:off x="6126304" y="1518471"/>
            <a:ext cx="11132996" cy="1884815"/>
            <a:chOff x="0" y="0"/>
            <a:chExt cx="3498255" cy="592254"/>
          </a:xfrm>
        </p:grpSpPr>
        <p:sp>
          <p:nvSpPr>
            <p:cNvPr name="Freeform 16" id="16"/>
            <p:cNvSpPr/>
            <p:nvPr/>
          </p:nvSpPr>
          <p:spPr>
            <a:xfrm flipH="false" flipV="false" rot="0">
              <a:off x="0" y="0"/>
              <a:ext cx="3498255" cy="592254"/>
            </a:xfrm>
            <a:custGeom>
              <a:avLst/>
              <a:gdLst/>
              <a:ahLst/>
              <a:cxnLst/>
              <a:rect r="r" b="b" t="t" l="l"/>
              <a:pathLst>
                <a:path h="592254" w="3498255">
                  <a:moveTo>
                    <a:pt x="9736" y="0"/>
                  </a:moveTo>
                  <a:lnTo>
                    <a:pt x="3488519" y="0"/>
                  </a:lnTo>
                  <a:cubicBezTo>
                    <a:pt x="3493896" y="0"/>
                    <a:pt x="3498255" y="4359"/>
                    <a:pt x="3498255" y="9736"/>
                  </a:cubicBezTo>
                  <a:lnTo>
                    <a:pt x="3498255" y="582518"/>
                  </a:lnTo>
                  <a:cubicBezTo>
                    <a:pt x="3498255" y="587895"/>
                    <a:pt x="3493896" y="592254"/>
                    <a:pt x="3488519" y="592254"/>
                  </a:cubicBezTo>
                  <a:lnTo>
                    <a:pt x="9736" y="592254"/>
                  </a:lnTo>
                  <a:cubicBezTo>
                    <a:pt x="7154" y="592254"/>
                    <a:pt x="4677" y="591228"/>
                    <a:pt x="2852" y="589402"/>
                  </a:cubicBezTo>
                  <a:cubicBezTo>
                    <a:pt x="1026" y="587577"/>
                    <a:pt x="0" y="585100"/>
                    <a:pt x="0" y="582518"/>
                  </a:cubicBezTo>
                  <a:lnTo>
                    <a:pt x="0" y="9736"/>
                  </a:lnTo>
                  <a:cubicBezTo>
                    <a:pt x="0" y="4359"/>
                    <a:pt x="4359" y="0"/>
                    <a:pt x="9736" y="0"/>
                  </a:cubicBezTo>
                  <a:close/>
                </a:path>
              </a:pathLst>
            </a:custGeom>
            <a:solidFill>
              <a:srgbClr val="000000">
                <a:alpha val="0"/>
              </a:srgbClr>
            </a:solidFill>
            <a:ln w="95250" cap="sq">
              <a:solidFill>
                <a:srgbClr val="195759"/>
              </a:solidFill>
              <a:prstDash val="solid"/>
              <a:miter/>
            </a:ln>
          </p:spPr>
        </p:sp>
        <p:sp>
          <p:nvSpPr>
            <p:cNvPr name="TextBox 17" id="17"/>
            <p:cNvSpPr txBox="true"/>
            <p:nvPr/>
          </p:nvSpPr>
          <p:spPr>
            <a:xfrm>
              <a:off x="0" y="-47625"/>
              <a:ext cx="3498255" cy="639879"/>
            </a:xfrm>
            <a:prstGeom prst="rect">
              <a:avLst/>
            </a:prstGeom>
          </p:spPr>
          <p:txBody>
            <a:bodyPr anchor="ctr" rtlCol="false" tIns="50800" lIns="50800" bIns="50800" rIns="50800"/>
            <a:lstStyle/>
            <a:p>
              <a:pPr algn="ctr">
                <a:lnSpc>
                  <a:spcPts val="2800"/>
                </a:lnSpc>
              </a:pPr>
            </a:p>
          </p:txBody>
        </p:sp>
      </p:grpSp>
      <p:sp>
        <p:nvSpPr>
          <p:cNvPr name="TextBox 18" id="18"/>
          <p:cNvSpPr txBox="true"/>
          <p:nvPr/>
        </p:nvSpPr>
        <p:spPr>
          <a:xfrm rot="0">
            <a:off x="5237638" y="2022406"/>
            <a:ext cx="11132996" cy="1280261"/>
          </a:xfrm>
          <a:prstGeom prst="rect">
            <a:avLst/>
          </a:prstGeom>
        </p:spPr>
        <p:txBody>
          <a:bodyPr anchor="t" rtlCol="false" tIns="0" lIns="0" bIns="0" rIns="0">
            <a:spAutoFit/>
          </a:bodyPr>
          <a:lstStyle/>
          <a:p>
            <a:pPr algn="ctr">
              <a:lnSpc>
                <a:spcPts val="9729"/>
              </a:lnSpc>
            </a:pPr>
            <a:r>
              <a:rPr lang="en-US" b="true" sz="9445" spc="302">
                <a:solidFill>
                  <a:srgbClr val="01003B"/>
                </a:solidFill>
                <a:latin typeface="Be Vietnam Ultra-Bold"/>
                <a:ea typeface="Be Vietnam Ultra-Bold"/>
                <a:cs typeface="Be Vietnam Ultra-Bold"/>
                <a:sym typeface="Be Vietnam Ultra-Bold"/>
              </a:rPr>
              <a:t>INTERVIEWS </a:t>
            </a:r>
          </a:p>
        </p:txBody>
      </p:sp>
      <p:sp>
        <p:nvSpPr>
          <p:cNvPr name="TextBox 19" id="19"/>
          <p:cNvSpPr txBox="true"/>
          <p:nvPr/>
        </p:nvSpPr>
        <p:spPr>
          <a:xfrm rot="0">
            <a:off x="14810627" y="2375153"/>
            <a:ext cx="2011263" cy="705486"/>
          </a:xfrm>
          <a:prstGeom prst="rect">
            <a:avLst/>
          </a:prstGeom>
        </p:spPr>
        <p:txBody>
          <a:bodyPr anchor="t" rtlCol="false" tIns="0" lIns="0" bIns="0" rIns="0">
            <a:spAutoFit/>
          </a:bodyPr>
          <a:lstStyle/>
          <a:p>
            <a:pPr algn="ctr">
              <a:lnSpc>
                <a:spcPts val="5739"/>
              </a:lnSpc>
              <a:spcBef>
                <a:spcPct val="0"/>
              </a:spcBef>
            </a:pPr>
            <a:r>
              <a:rPr lang="en-US" sz="4099">
                <a:solidFill>
                  <a:srgbClr val="01003B"/>
                </a:solidFill>
                <a:latin typeface="Trocchi"/>
                <a:ea typeface="Trocchi"/>
                <a:cs typeface="Trocchi"/>
                <a:sym typeface="Trocchi"/>
              </a:rPr>
              <a:t>Doctors</a:t>
            </a:r>
          </a:p>
        </p:txBody>
      </p:sp>
      <p:sp>
        <p:nvSpPr>
          <p:cNvPr name="TextBox 20" id="20"/>
          <p:cNvSpPr txBox="true"/>
          <p:nvPr/>
        </p:nvSpPr>
        <p:spPr>
          <a:xfrm rot="0">
            <a:off x="4358431" y="4332338"/>
            <a:ext cx="3339312" cy="438785"/>
          </a:xfrm>
          <a:prstGeom prst="rect">
            <a:avLst/>
          </a:prstGeom>
        </p:spPr>
        <p:txBody>
          <a:bodyPr anchor="t" rtlCol="false" tIns="0" lIns="0" bIns="0" rIns="0">
            <a:spAutoFit/>
          </a:bodyPr>
          <a:lstStyle/>
          <a:p>
            <a:pPr algn="l">
              <a:lnSpc>
                <a:spcPts val="3640"/>
              </a:lnSpc>
              <a:spcBef>
                <a:spcPct val="0"/>
              </a:spcBef>
            </a:pPr>
            <a:r>
              <a:rPr lang="en-US" b="true" sz="2600" spc="-59">
                <a:solidFill>
                  <a:srgbClr val="01003B"/>
                </a:solidFill>
                <a:latin typeface="Be Vietnam Ultra-Bold"/>
                <a:ea typeface="Be Vietnam Ultra-Bold"/>
                <a:cs typeface="Be Vietnam Ultra-Bold"/>
                <a:sym typeface="Be Vietnam Ultra-Bold"/>
              </a:rPr>
              <a:t>Willingness to Test</a:t>
            </a:r>
          </a:p>
        </p:txBody>
      </p:sp>
      <p:pic>
        <p:nvPicPr>
          <p:cNvPr name="Picture 21" id="21"/>
          <p:cNvPicPr>
            <a:picLocks noChangeAspect="true"/>
          </p:cNvPicPr>
          <p:nvPr/>
        </p:nvPicPr>
        <p:blipFill>
          <a:blip r:embed="rId4"/>
          <a:stretch>
            <a:fillRect/>
          </a:stretch>
        </p:blipFill>
        <p:spPr>
          <a:xfrm rot="0">
            <a:off x="8678967" y="3835242"/>
            <a:ext cx="8390910" cy="7034009"/>
          </a:xfrm>
          <a:prstGeom prst="rect">
            <a:avLst/>
          </a:prstGeom>
        </p:spPr>
      </p:pic>
      <p:sp>
        <p:nvSpPr>
          <p:cNvPr name="TextBox 22" id="22"/>
          <p:cNvSpPr txBox="true"/>
          <p:nvPr/>
        </p:nvSpPr>
        <p:spPr>
          <a:xfrm rot="0">
            <a:off x="11166259" y="3687454"/>
            <a:ext cx="3972795" cy="438785"/>
          </a:xfrm>
          <a:prstGeom prst="rect">
            <a:avLst/>
          </a:prstGeom>
        </p:spPr>
        <p:txBody>
          <a:bodyPr anchor="t" rtlCol="false" tIns="0" lIns="0" bIns="0" rIns="0">
            <a:spAutoFit/>
          </a:bodyPr>
          <a:lstStyle/>
          <a:p>
            <a:pPr algn="l">
              <a:lnSpc>
                <a:spcPts val="3640"/>
              </a:lnSpc>
              <a:spcBef>
                <a:spcPct val="0"/>
              </a:spcBef>
            </a:pPr>
            <a:r>
              <a:rPr lang="en-US" b="true" sz="2600" spc="-59">
                <a:solidFill>
                  <a:srgbClr val="01003B"/>
                </a:solidFill>
                <a:latin typeface="Be Vietnam Ultra-Bold"/>
                <a:ea typeface="Be Vietnam Ultra-Bold"/>
                <a:cs typeface="Be Vietnam Ultra-Bold"/>
                <a:sym typeface="Be Vietnam Ultra-Bold"/>
              </a:rPr>
              <a:t>What do you want to see?</a:t>
            </a:r>
          </a:p>
        </p:txBody>
      </p:sp>
      <p:pic>
        <p:nvPicPr>
          <p:cNvPr name="Picture 23" id="23"/>
          <p:cNvPicPr>
            <a:picLocks noChangeAspect="true"/>
          </p:cNvPicPr>
          <p:nvPr/>
        </p:nvPicPr>
        <p:blipFill>
          <a:blip r:embed="rId5"/>
          <a:stretch>
            <a:fillRect/>
          </a:stretch>
        </p:blipFill>
        <p:spPr>
          <a:xfrm rot="0">
            <a:off x="2871417" y="4560568"/>
            <a:ext cx="6150985" cy="5583355"/>
          </a:xfrm>
          <a:prstGeom prst="rect">
            <a:avLst/>
          </a:prstGeom>
        </p:spPr>
      </p:pic>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3"/>
            <a:stretch>
              <a:fillRect l="-9222" t="-4461" r="-20094" b="-4717"/>
            </a:stretch>
          </a:blipFill>
        </p:spPr>
      </p:sp>
      <p:grpSp>
        <p:nvGrpSpPr>
          <p:cNvPr name="Group 3" id="3"/>
          <p:cNvGrpSpPr/>
          <p:nvPr/>
        </p:nvGrpSpPr>
        <p:grpSpPr>
          <a:xfrm rot="0">
            <a:off x="-599155" y="-3283094"/>
            <a:ext cx="19615407" cy="4281840"/>
            <a:chOff x="0" y="0"/>
            <a:chExt cx="5166198" cy="1127727"/>
          </a:xfrm>
        </p:grpSpPr>
        <p:sp>
          <p:nvSpPr>
            <p:cNvPr name="Freeform 4" id="4"/>
            <p:cNvSpPr/>
            <p:nvPr/>
          </p:nvSpPr>
          <p:spPr>
            <a:xfrm flipH="false" flipV="false" rot="0">
              <a:off x="0" y="0"/>
              <a:ext cx="5166198" cy="1127727"/>
            </a:xfrm>
            <a:custGeom>
              <a:avLst/>
              <a:gdLst/>
              <a:ahLst/>
              <a:cxnLst/>
              <a:rect r="r" b="b" t="t" l="l"/>
              <a:pathLst>
                <a:path h="1127727" w="5166198">
                  <a:moveTo>
                    <a:pt x="0" y="0"/>
                  </a:moveTo>
                  <a:lnTo>
                    <a:pt x="5166198" y="0"/>
                  </a:lnTo>
                  <a:lnTo>
                    <a:pt x="5166198" y="1127727"/>
                  </a:lnTo>
                  <a:lnTo>
                    <a:pt x="0" y="1127727"/>
                  </a:lnTo>
                  <a:close/>
                </a:path>
              </a:pathLst>
            </a:custGeom>
            <a:solidFill>
              <a:srgbClr val="195759"/>
            </a:solidFill>
          </p:spPr>
        </p:sp>
        <p:sp>
          <p:nvSpPr>
            <p:cNvPr name="TextBox 5" id="5"/>
            <p:cNvSpPr txBox="true"/>
            <p:nvPr/>
          </p:nvSpPr>
          <p:spPr>
            <a:xfrm>
              <a:off x="0" y="-47625"/>
              <a:ext cx="5166198" cy="1175352"/>
            </a:xfrm>
            <a:prstGeom prst="rect">
              <a:avLst/>
            </a:prstGeom>
          </p:spPr>
          <p:txBody>
            <a:bodyPr anchor="ctr" rtlCol="false" tIns="50800" lIns="50800" bIns="50800" rIns="50800"/>
            <a:lstStyle/>
            <a:p>
              <a:pPr algn="ctr">
                <a:lnSpc>
                  <a:spcPts val="2800"/>
                </a:lnSpc>
              </a:pPr>
            </a:p>
          </p:txBody>
        </p:sp>
      </p:grpSp>
      <p:grpSp>
        <p:nvGrpSpPr>
          <p:cNvPr name="Group 6" id="6"/>
          <p:cNvGrpSpPr/>
          <p:nvPr/>
        </p:nvGrpSpPr>
        <p:grpSpPr>
          <a:xfrm rot="8100000">
            <a:off x="-1793629" y="1798313"/>
            <a:ext cx="2388948" cy="238894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5370" y="0"/>
                  </a:moveTo>
                  <a:lnTo>
                    <a:pt x="767430" y="0"/>
                  </a:lnTo>
                  <a:cubicBezTo>
                    <a:pt x="792487" y="0"/>
                    <a:pt x="812800" y="20313"/>
                    <a:pt x="812800" y="45370"/>
                  </a:cubicBezTo>
                  <a:lnTo>
                    <a:pt x="812800" y="767430"/>
                  </a:lnTo>
                  <a:cubicBezTo>
                    <a:pt x="812800" y="792487"/>
                    <a:pt x="792487" y="812800"/>
                    <a:pt x="767430" y="812800"/>
                  </a:cubicBezTo>
                  <a:lnTo>
                    <a:pt x="45370" y="812800"/>
                  </a:lnTo>
                  <a:cubicBezTo>
                    <a:pt x="20313" y="812800"/>
                    <a:pt x="0" y="792487"/>
                    <a:pt x="0" y="767430"/>
                  </a:cubicBezTo>
                  <a:lnTo>
                    <a:pt x="0" y="45370"/>
                  </a:lnTo>
                  <a:cubicBezTo>
                    <a:pt x="0" y="20313"/>
                    <a:pt x="20313" y="0"/>
                    <a:pt x="45370" y="0"/>
                  </a:cubicBezTo>
                  <a:close/>
                </a:path>
              </a:pathLst>
            </a:custGeom>
            <a:solidFill>
              <a:srgbClr val="33326B"/>
            </a:solidFill>
          </p:spPr>
        </p:sp>
        <p:sp>
          <p:nvSpPr>
            <p:cNvPr name="TextBox 8" id="8"/>
            <p:cNvSpPr txBox="true"/>
            <p:nvPr/>
          </p:nvSpPr>
          <p:spPr>
            <a:xfrm>
              <a:off x="0" y="-47625"/>
              <a:ext cx="812800" cy="860425"/>
            </a:xfrm>
            <a:prstGeom prst="rect">
              <a:avLst/>
            </a:prstGeom>
          </p:spPr>
          <p:txBody>
            <a:bodyPr anchor="ctr" rtlCol="false" tIns="50800" lIns="50800" bIns="50800" rIns="50800"/>
            <a:lstStyle/>
            <a:p>
              <a:pPr algn="ctr">
                <a:lnSpc>
                  <a:spcPts val="2800"/>
                </a:lnSpc>
              </a:pPr>
            </a:p>
          </p:txBody>
        </p:sp>
      </p:grpSp>
      <p:grpSp>
        <p:nvGrpSpPr>
          <p:cNvPr name="Group 9" id="9"/>
          <p:cNvGrpSpPr/>
          <p:nvPr/>
        </p:nvGrpSpPr>
        <p:grpSpPr>
          <a:xfrm rot="2700000">
            <a:off x="252683" y="-845733"/>
            <a:ext cx="3895116" cy="3895116"/>
            <a:chOff x="0" y="0"/>
            <a:chExt cx="812800" cy="812800"/>
          </a:xfrm>
        </p:grpSpPr>
        <p:sp>
          <p:nvSpPr>
            <p:cNvPr name="Freeform 10" id="10"/>
            <p:cNvSpPr/>
            <p:nvPr/>
          </p:nvSpPr>
          <p:spPr>
            <a:xfrm flipH="false" flipV="false" rot="0">
              <a:off x="0" y="0"/>
              <a:ext cx="812800" cy="812800"/>
            </a:xfrm>
            <a:custGeom>
              <a:avLst/>
              <a:gdLst/>
              <a:ahLst/>
              <a:cxnLst/>
              <a:rect r="r" b="b" t="t" l="l"/>
              <a:pathLst>
                <a:path h="812800" w="812800">
                  <a:moveTo>
                    <a:pt x="27826" y="0"/>
                  </a:moveTo>
                  <a:lnTo>
                    <a:pt x="784974" y="0"/>
                  </a:lnTo>
                  <a:cubicBezTo>
                    <a:pt x="792354" y="0"/>
                    <a:pt x="799431" y="2932"/>
                    <a:pt x="804650" y="8150"/>
                  </a:cubicBezTo>
                  <a:cubicBezTo>
                    <a:pt x="809868" y="13369"/>
                    <a:pt x="812800" y="20446"/>
                    <a:pt x="812800" y="27826"/>
                  </a:cubicBezTo>
                  <a:lnTo>
                    <a:pt x="812800" y="784974"/>
                  </a:lnTo>
                  <a:cubicBezTo>
                    <a:pt x="812800" y="792354"/>
                    <a:pt x="809868" y="799431"/>
                    <a:pt x="804650" y="804650"/>
                  </a:cubicBezTo>
                  <a:cubicBezTo>
                    <a:pt x="799431" y="809868"/>
                    <a:pt x="792354" y="812800"/>
                    <a:pt x="784974" y="812800"/>
                  </a:cubicBezTo>
                  <a:lnTo>
                    <a:pt x="27826" y="812800"/>
                  </a:lnTo>
                  <a:cubicBezTo>
                    <a:pt x="20446" y="812800"/>
                    <a:pt x="13369" y="809868"/>
                    <a:pt x="8150" y="804650"/>
                  </a:cubicBezTo>
                  <a:cubicBezTo>
                    <a:pt x="2932" y="799431"/>
                    <a:pt x="0" y="792354"/>
                    <a:pt x="0" y="784974"/>
                  </a:cubicBezTo>
                  <a:lnTo>
                    <a:pt x="0" y="27826"/>
                  </a:lnTo>
                  <a:cubicBezTo>
                    <a:pt x="0" y="20446"/>
                    <a:pt x="2932" y="13369"/>
                    <a:pt x="8150" y="8150"/>
                  </a:cubicBezTo>
                  <a:cubicBezTo>
                    <a:pt x="13369" y="2932"/>
                    <a:pt x="20446" y="0"/>
                    <a:pt x="27826" y="0"/>
                  </a:cubicBezTo>
                  <a:close/>
                </a:path>
              </a:pathLst>
            </a:custGeom>
            <a:gradFill rotWithShape="true">
              <a:gsLst>
                <a:gs pos="0">
                  <a:srgbClr val="48CFAE">
                    <a:alpha val="100000"/>
                  </a:srgbClr>
                </a:gs>
                <a:gs pos="100000">
                  <a:srgbClr val="006D83">
                    <a:alpha val="100000"/>
                  </a:srgbClr>
                </a:gs>
              </a:gsLst>
              <a:lin ang="5400000"/>
            </a:gradFill>
          </p:spPr>
        </p:sp>
        <p:sp>
          <p:nvSpPr>
            <p:cNvPr name="TextBox 11" id="11"/>
            <p:cNvSpPr txBox="true"/>
            <p:nvPr/>
          </p:nvSpPr>
          <p:spPr>
            <a:xfrm>
              <a:off x="0" y="-47625"/>
              <a:ext cx="812800" cy="860425"/>
            </a:xfrm>
            <a:prstGeom prst="rect">
              <a:avLst/>
            </a:prstGeom>
          </p:spPr>
          <p:txBody>
            <a:bodyPr anchor="ctr" rtlCol="false" tIns="50800" lIns="50800" bIns="50800" rIns="50800"/>
            <a:lstStyle/>
            <a:p>
              <a:pPr algn="ctr">
                <a:lnSpc>
                  <a:spcPts val="2800"/>
                </a:lnSpc>
              </a:pPr>
            </a:p>
          </p:txBody>
        </p:sp>
      </p:grpSp>
      <p:grpSp>
        <p:nvGrpSpPr>
          <p:cNvPr name="Group 12" id="12"/>
          <p:cNvGrpSpPr/>
          <p:nvPr/>
        </p:nvGrpSpPr>
        <p:grpSpPr>
          <a:xfrm rot="8100000">
            <a:off x="3410361" y="1734379"/>
            <a:ext cx="1042499" cy="1042499"/>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103968" y="0"/>
                  </a:moveTo>
                  <a:lnTo>
                    <a:pt x="708832" y="0"/>
                  </a:lnTo>
                  <a:cubicBezTo>
                    <a:pt x="736406" y="0"/>
                    <a:pt x="762851" y="10954"/>
                    <a:pt x="782348" y="30452"/>
                  </a:cubicBezTo>
                  <a:cubicBezTo>
                    <a:pt x="801846" y="49949"/>
                    <a:pt x="812800" y="76394"/>
                    <a:pt x="812800" y="103968"/>
                  </a:cubicBezTo>
                  <a:lnTo>
                    <a:pt x="812800" y="708832"/>
                  </a:lnTo>
                  <a:cubicBezTo>
                    <a:pt x="812800" y="736406"/>
                    <a:pt x="801846" y="762851"/>
                    <a:pt x="782348" y="782348"/>
                  </a:cubicBezTo>
                  <a:cubicBezTo>
                    <a:pt x="762851" y="801846"/>
                    <a:pt x="736406" y="812800"/>
                    <a:pt x="708832" y="812800"/>
                  </a:cubicBezTo>
                  <a:lnTo>
                    <a:pt x="103968" y="812800"/>
                  </a:lnTo>
                  <a:cubicBezTo>
                    <a:pt x="76394" y="812800"/>
                    <a:pt x="49949" y="801846"/>
                    <a:pt x="30452" y="782348"/>
                  </a:cubicBezTo>
                  <a:cubicBezTo>
                    <a:pt x="10954" y="762851"/>
                    <a:pt x="0" y="736406"/>
                    <a:pt x="0" y="708832"/>
                  </a:cubicBezTo>
                  <a:lnTo>
                    <a:pt x="0" y="103968"/>
                  </a:lnTo>
                  <a:cubicBezTo>
                    <a:pt x="0" y="76394"/>
                    <a:pt x="10954" y="49949"/>
                    <a:pt x="30452" y="30452"/>
                  </a:cubicBezTo>
                  <a:cubicBezTo>
                    <a:pt x="49949" y="10954"/>
                    <a:pt x="76394" y="0"/>
                    <a:pt x="103968" y="0"/>
                  </a:cubicBezTo>
                  <a:close/>
                </a:path>
              </a:pathLst>
            </a:custGeom>
            <a:solidFill>
              <a:srgbClr val="33326B"/>
            </a:solidFill>
          </p:spPr>
        </p:sp>
        <p:sp>
          <p:nvSpPr>
            <p:cNvPr name="TextBox 14" id="14"/>
            <p:cNvSpPr txBox="true"/>
            <p:nvPr/>
          </p:nvSpPr>
          <p:spPr>
            <a:xfrm>
              <a:off x="0" y="-47625"/>
              <a:ext cx="812800" cy="860425"/>
            </a:xfrm>
            <a:prstGeom prst="rect">
              <a:avLst/>
            </a:prstGeom>
          </p:spPr>
          <p:txBody>
            <a:bodyPr anchor="ctr" rtlCol="false" tIns="50800" lIns="50800" bIns="50800" rIns="50800"/>
            <a:lstStyle/>
            <a:p>
              <a:pPr algn="ctr">
                <a:lnSpc>
                  <a:spcPts val="2800"/>
                </a:lnSpc>
              </a:pPr>
            </a:p>
          </p:txBody>
        </p:sp>
      </p:grpSp>
      <p:grpSp>
        <p:nvGrpSpPr>
          <p:cNvPr name="Group 15" id="15"/>
          <p:cNvGrpSpPr/>
          <p:nvPr/>
        </p:nvGrpSpPr>
        <p:grpSpPr>
          <a:xfrm rot="0">
            <a:off x="6126304" y="1518471"/>
            <a:ext cx="11132996" cy="1884815"/>
            <a:chOff x="0" y="0"/>
            <a:chExt cx="3498255" cy="592254"/>
          </a:xfrm>
        </p:grpSpPr>
        <p:sp>
          <p:nvSpPr>
            <p:cNvPr name="Freeform 16" id="16"/>
            <p:cNvSpPr/>
            <p:nvPr/>
          </p:nvSpPr>
          <p:spPr>
            <a:xfrm flipH="false" flipV="false" rot="0">
              <a:off x="0" y="0"/>
              <a:ext cx="3498255" cy="592254"/>
            </a:xfrm>
            <a:custGeom>
              <a:avLst/>
              <a:gdLst/>
              <a:ahLst/>
              <a:cxnLst/>
              <a:rect r="r" b="b" t="t" l="l"/>
              <a:pathLst>
                <a:path h="592254" w="3498255">
                  <a:moveTo>
                    <a:pt x="9736" y="0"/>
                  </a:moveTo>
                  <a:lnTo>
                    <a:pt x="3488519" y="0"/>
                  </a:lnTo>
                  <a:cubicBezTo>
                    <a:pt x="3493896" y="0"/>
                    <a:pt x="3498255" y="4359"/>
                    <a:pt x="3498255" y="9736"/>
                  </a:cubicBezTo>
                  <a:lnTo>
                    <a:pt x="3498255" y="582518"/>
                  </a:lnTo>
                  <a:cubicBezTo>
                    <a:pt x="3498255" y="587895"/>
                    <a:pt x="3493896" y="592254"/>
                    <a:pt x="3488519" y="592254"/>
                  </a:cubicBezTo>
                  <a:lnTo>
                    <a:pt x="9736" y="592254"/>
                  </a:lnTo>
                  <a:cubicBezTo>
                    <a:pt x="7154" y="592254"/>
                    <a:pt x="4677" y="591228"/>
                    <a:pt x="2852" y="589402"/>
                  </a:cubicBezTo>
                  <a:cubicBezTo>
                    <a:pt x="1026" y="587577"/>
                    <a:pt x="0" y="585100"/>
                    <a:pt x="0" y="582518"/>
                  </a:cubicBezTo>
                  <a:lnTo>
                    <a:pt x="0" y="9736"/>
                  </a:lnTo>
                  <a:cubicBezTo>
                    <a:pt x="0" y="4359"/>
                    <a:pt x="4359" y="0"/>
                    <a:pt x="9736" y="0"/>
                  </a:cubicBezTo>
                  <a:close/>
                </a:path>
              </a:pathLst>
            </a:custGeom>
            <a:solidFill>
              <a:srgbClr val="000000">
                <a:alpha val="0"/>
              </a:srgbClr>
            </a:solidFill>
            <a:ln w="95250" cap="sq">
              <a:solidFill>
                <a:srgbClr val="195759"/>
              </a:solidFill>
              <a:prstDash val="solid"/>
              <a:miter/>
            </a:ln>
          </p:spPr>
        </p:sp>
        <p:sp>
          <p:nvSpPr>
            <p:cNvPr name="TextBox 17" id="17"/>
            <p:cNvSpPr txBox="true"/>
            <p:nvPr/>
          </p:nvSpPr>
          <p:spPr>
            <a:xfrm>
              <a:off x="0" y="-47625"/>
              <a:ext cx="3498255" cy="639879"/>
            </a:xfrm>
            <a:prstGeom prst="rect">
              <a:avLst/>
            </a:prstGeom>
          </p:spPr>
          <p:txBody>
            <a:bodyPr anchor="ctr" rtlCol="false" tIns="50800" lIns="50800" bIns="50800" rIns="50800"/>
            <a:lstStyle/>
            <a:p>
              <a:pPr algn="ctr">
                <a:lnSpc>
                  <a:spcPts val="2800"/>
                </a:lnSpc>
              </a:pPr>
            </a:p>
          </p:txBody>
        </p:sp>
      </p:grpSp>
      <p:sp>
        <p:nvSpPr>
          <p:cNvPr name="TextBox 18" id="18"/>
          <p:cNvSpPr txBox="true"/>
          <p:nvPr/>
        </p:nvSpPr>
        <p:spPr>
          <a:xfrm rot="0">
            <a:off x="5237638" y="2022406"/>
            <a:ext cx="11132996" cy="1280261"/>
          </a:xfrm>
          <a:prstGeom prst="rect">
            <a:avLst/>
          </a:prstGeom>
        </p:spPr>
        <p:txBody>
          <a:bodyPr anchor="t" rtlCol="false" tIns="0" lIns="0" bIns="0" rIns="0">
            <a:spAutoFit/>
          </a:bodyPr>
          <a:lstStyle/>
          <a:p>
            <a:pPr algn="ctr">
              <a:lnSpc>
                <a:spcPts val="9729"/>
              </a:lnSpc>
            </a:pPr>
            <a:r>
              <a:rPr lang="en-US" b="true" sz="9445" spc="302">
                <a:solidFill>
                  <a:srgbClr val="01003B"/>
                </a:solidFill>
                <a:latin typeface="Be Vietnam Ultra-Bold"/>
                <a:ea typeface="Be Vietnam Ultra-Bold"/>
                <a:cs typeface="Be Vietnam Ultra-Bold"/>
                <a:sym typeface="Be Vietnam Ultra-Bold"/>
              </a:rPr>
              <a:t>INTERVIEWS </a:t>
            </a:r>
          </a:p>
        </p:txBody>
      </p:sp>
      <p:sp>
        <p:nvSpPr>
          <p:cNvPr name="TextBox 19" id="19"/>
          <p:cNvSpPr txBox="true"/>
          <p:nvPr/>
        </p:nvSpPr>
        <p:spPr>
          <a:xfrm rot="0">
            <a:off x="14740083" y="2375153"/>
            <a:ext cx="2152352" cy="705486"/>
          </a:xfrm>
          <a:prstGeom prst="rect">
            <a:avLst/>
          </a:prstGeom>
        </p:spPr>
        <p:txBody>
          <a:bodyPr anchor="t" rtlCol="false" tIns="0" lIns="0" bIns="0" rIns="0">
            <a:spAutoFit/>
          </a:bodyPr>
          <a:lstStyle/>
          <a:p>
            <a:pPr algn="ctr">
              <a:lnSpc>
                <a:spcPts val="5739"/>
              </a:lnSpc>
              <a:spcBef>
                <a:spcPct val="0"/>
              </a:spcBef>
            </a:pPr>
            <a:r>
              <a:rPr lang="en-US" sz="4099">
                <a:solidFill>
                  <a:srgbClr val="01003B"/>
                </a:solidFill>
                <a:latin typeface="Trocchi"/>
                <a:ea typeface="Trocchi"/>
                <a:cs typeface="Trocchi"/>
                <a:sym typeface="Trocchi"/>
              </a:rPr>
              <a:t>Patients</a:t>
            </a:r>
          </a:p>
        </p:txBody>
      </p:sp>
      <p:pic>
        <p:nvPicPr>
          <p:cNvPr name="Picture 20" id="20"/>
          <p:cNvPicPr>
            <a:picLocks noChangeAspect="true"/>
          </p:cNvPicPr>
          <p:nvPr/>
        </p:nvPicPr>
        <p:blipFill>
          <a:blip r:embed="rId4"/>
          <a:stretch>
            <a:fillRect/>
          </a:stretch>
        </p:blipFill>
        <p:spPr>
          <a:xfrm rot="0">
            <a:off x="3186601" y="4280555"/>
            <a:ext cx="5879405" cy="6057986"/>
          </a:xfrm>
          <a:prstGeom prst="rect">
            <a:avLst/>
          </a:prstGeom>
        </p:spPr>
      </p:pic>
      <p:sp>
        <p:nvSpPr>
          <p:cNvPr name="TextBox 21" id="21"/>
          <p:cNvSpPr txBox="true"/>
          <p:nvPr/>
        </p:nvSpPr>
        <p:spPr>
          <a:xfrm rot="0">
            <a:off x="4456647" y="3736831"/>
            <a:ext cx="3339312" cy="895985"/>
          </a:xfrm>
          <a:prstGeom prst="rect">
            <a:avLst/>
          </a:prstGeom>
        </p:spPr>
        <p:txBody>
          <a:bodyPr anchor="t" rtlCol="false" tIns="0" lIns="0" bIns="0" rIns="0">
            <a:spAutoFit/>
          </a:bodyPr>
          <a:lstStyle/>
          <a:p>
            <a:pPr algn="l">
              <a:lnSpc>
                <a:spcPts val="3640"/>
              </a:lnSpc>
              <a:spcBef>
                <a:spcPct val="0"/>
              </a:spcBef>
            </a:pPr>
            <a:r>
              <a:rPr lang="en-US" b="true" sz="2600" spc="-59">
                <a:solidFill>
                  <a:srgbClr val="01003B"/>
                </a:solidFill>
                <a:latin typeface="Be Vietnam Ultra-Bold"/>
                <a:ea typeface="Be Vietnam Ultra-Bold"/>
                <a:cs typeface="Be Vietnam Ultra-Bold"/>
                <a:sym typeface="Be Vietnam Ultra-Bold"/>
              </a:rPr>
              <a:t>Do you prefer the chatbot over a form?</a:t>
            </a:r>
          </a:p>
        </p:txBody>
      </p:sp>
      <p:grpSp>
        <p:nvGrpSpPr>
          <p:cNvPr name="Group 22" id="22"/>
          <p:cNvGrpSpPr/>
          <p:nvPr/>
        </p:nvGrpSpPr>
        <p:grpSpPr>
          <a:xfrm rot="0">
            <a:off x="10176550" y="3924537"/>
            <a:ext cx="6194084" cy="5909171"/>
            <a:chOff x="0" y="0"/>
            <a:chExt cx="8258779" cy="7878895"/>
          </a:xfrm>
        </p:grpSpPr>
        <p:pic>
          <p:nvPicPr>
            <p:cNvPr name="Picture 23" id="23"/>
            <p:cNvPicPr>
              <a:picLocks noChangeAspect="true"/>
            </p:cNvPicPr>
            <p:nvPr/>
          </p:nvPicPr>
          <p:blipFill>
            <a:blip r:embed="rId5"/>
            <a:stretch>
              <a:fillRect/>
            </a:stretch>
          </p:blipFill>
          <p:spPr>
            <a:xfrm rot="0">
              <a:off x="-825878" y="85871"/>
              <a:ext cx="9910535" cy="8618902"/>
            </a:xfrm>
            <a:prstGeom prst="rect">
              <a:avLst/>
            </a:prstGeom>
          </p:spPr>
        </p:pic>
        <p:sp>
          <p:nvSpPr>
            <p:cNvPr name="TextBox 24" id="24"/>
            <p:cNvSpPr txBox="true"/>
            <p:nvPr/>
          </p:nvSpPr>
          <p:spPr>
            <a:xfrm rot="0">
              <a:off x="1571900" y="-47625"/>
              <a:ext cx="4762824" cy="569172"/>
            </a:xfrm>
            <a:prstGeom prst="rect">
              <a:avLst/>
            </a:prstGeom>
          </p:spPr>
          <p:txBody>
            <a:bodyPr anchor="t" rtlCol="false" tIns="0" lIns="0" bIns="0" rIns="0">
              <a:spAutoFit/>
            </a:bodyPr>
            <a:lstStyle/>
            <a:p>
              <a:pPr algn="l">
                <a:lnSpc>
                  <a:spcPts val="3640"/>
                </a:lnSpc>
                <a:spcBef>
                  <a:spcPct val="0"/>
                </a:spcBef>
              </a:pPr>
              <a:r>
                <a:rPr lang="en-US" b="true" sz="2600" spc="-59">
                  <a:solidFill>
                    <a:srgbClr val="01003B"/>
                  </a:solidFill>
                  <a:latin typeface="Be Vietnam Ultra-Bold"/>
                  <a:ea typeface="Be Vietnam Ultra-Bold"/>
                  <a:cs typeface="Be Vietnam Ultra-Bold"/>
                  <a:sym typeface="Be Vietnam Ultra-Bold"/>
                </a:rPr>
                <a:t>What do you prioritize?</a:t>
              </a:r>
            </a:p>
          </p:txBody>
        </p:sp>
      </p:gr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3"/>
            <a:stretch>
              <a:fillRect l="-9222" t="-4461" r="-20094" b="-4717"/>
            </a:stretch>
          </a:blipFill>
        </p:spPr>
      </p:sp>
      <p:sp>
        <p:nvSpPr>
          <p:cNvPr name="TextBox 3" id="3"/>
          <p:cNvSpPr txBox="true"/>
          <p:nvPr/>
        </p:nvSpPr>
        <p:spPr>
          <a:xfrm rot="0">
            <a:off x="3919631" y="1192614"/>
            <a:ext cx="10679709" cy="1076325"/>
          </a:xfrm>
          <a:prstGeom prst="rect">
            <a:avLst/>
          </a:prstGeom>
        </p:spPr>
        <p:txBody>
          <a:bodyPr anchor="t" rtlCol="false" tIns="0" lIns="0" bIns="0" rIns="0">
            <a:spAutoFit/>
          </a:bodyPr>
          <a:lstStyle/>
          <a:p>
            <a:pPr algn="ctr">
              <a:lnSpc>
                <a:spcPts val="8400"/>
              </a:lnSpc>
            </a:pPr>
            <a:r>
              <a:rPr lang="en-US" b="true" sz="7000">
                <a:solidFill>
                  <a:srgbClr val="01003B"/>
                </a:solidFill>
                <a:latin typeface="Be Vietnam Ultra-Bold"/>
                <a:ea typeface="Be Vietnam Ultra-Bold"/>
                <a:cs typeface="Be Vietnam Ultra-Bold"/>
                <a:sym typeface="Be Vietnam Ultra-Bold"/>
              </a:rPr>
              <a:t>WHAT IS ALREADY HERE?</a:t>
            </a:r>
          </a:p>
        </p:txBody>
      </p:sp>
      <p:grpSp>
        <p:nvGrpSpPr>
          <p:cNvPr name="Group 4" id="4"/>
          <p:cNvGrpSpPr/>
          <p:nvPr/>
        </p:nvGrpSpPr>
        <p:grpSpPr>
          <a:xfrm rot="-10800000">
            <a:off x="-1964784" y="5720631"/>
            <a:ext cx="21640247" cy="5734287"/>
            <a:chOff x="0" y="0"/>
            <a:chExt cx="5699489" cy="1510265"/>
          </a:xfrm>
        </p:grpSpPr>
        <p:sp>
          <p:nvSpPr>
            <p:cNvPr name="Freeform 5" id="5"/>
            <p:cNvSpPr/>
            <p:nvPr/>
          </p:nvSpPr>
          <p:spPr>
            <a:xfrm flipH="false" flipV="false" rot="0">
              <a:off x="0" y="0"/>
              <a:ext cx="5699489" cy="1510265"/>
            </a:xfrm>
            <a:custGeom>
              <a:avLst/>
              <a:gdLst/>
              <a:ahLst/>
              <a:cxnLst/>
              <a:rect r="r" b="b" t="t" l="l"/>
              <a:pathLst>
                <a:path h="1510265" w="5699489">
                  <a:moveTo>
                    <a:pt x="0" y="0"/>
                  </a:moveTo>
                  <a:lnTo>
                    <a:pt x="5699489" y="0"/>
                  </a:lnTo>
                  <a:lnTo>
                    <a:pt x="5699489" y="1510265"/>
                  </a:lnTo>
                  <a:lnTo>
                    <a:pt x="0" y="1510265"/>
                  </a:lnTo>
                  <a:close/>
                </a:path>
              </a:pathLst>
            </a:custGeom>
            <a:solidFill>
              <a:srgbClr val="195759"/>
            </a:solidFill>
          </p:spPr>
        </p:sp>
        <p:sp>
          <p:nvSpPr>
            <p:cNvPr name="TextBox 6" id="6"/>
            <p:cNvSpPr txBox="true"/>
            <p:nvPr/>
          </p:nvSpPr>
          <p:spPr>
            <a:xfrm>
              <a:off x="0" y="-47625"/>
              <a:ext cx="5699489" cy="1557890"/>
            </a:xfrm>
            <a:prstGeom prst="rect">
              <a:avLst/>
            </a:prstGeom>
          </p:spPr>
          <p:txBody>
            <a:bodyPr anchor="ctr" rtlCol="false" tIns="50800" lIns="50800" bIns="50800" rIns="50800"/>
            <a:lstStyle/>
            <a:p>
              <a:pPr algn="ctr">
                <a:lnSpc>
                  <a:spcPts val="2800"/>
                </a:lnSpc>
              </a:pPr>
            </a:p>
          </p:txBody>
        </p:sp>
      </p:grpSp>
      <p:graphicFrame>
        <p:nvGraphicFramePr>
          <p:cNvPr name="Table 7" id="7"/>
          <p:cNvGraphicFramePr>
            <a:graphicFrameLocks noGrp="true"/>
          </p:cNvGraphicFramePr>
          <p:nvPr/>
        </p:nvGraphicFramePr>
        <p:xfrm>
          <a:off x="1071563" y="3021739"/>
          <a:ext cx="16202025" cy="6320092"/>
        </p:xfrm>
        <a:graphic>
          <a:graphicData uri="http://schemas.openxmlformats.org/drawingml/2006/table">
            <a:tbl>
              <a:tblPr/>
              <a:tblGrid>
                <a:gridCol w="4050506"/>
                <a:gridCol w="4050506"/>
                <a:gridCol w="4303486"/>
                <a:gridCol w="3797527"/>
              </a:tblGrid>
              <a:tr h="1253152">
                <a:tc>
                  <a:txBody>
                    <a:bodyPr anchor="t" rtlCol="false"/>
                    <a:lstStyle/>
                    <a:p>
                      <a:pPr algn="ctr">
                        <a:lnSpc>
                          <a:spcPts val="4759"/>
                        </a:lnSpc>
                        <a:defRPr/>
                      </a:pPr>
                      <a:r>
                        <a:rPr lang="en-US" b="true" sz="3399">
                          <a:solidFill>
                            <a:srgbClr val="F8F8F8"/>
                          </a:solidFill>
                          <a:latin typeface="Be Vietnam Ultra-Bold"/>
                          <a:ea typeface="Be Vietnam Ultra-Bold"/>
                          <a:cs typeface="Be Vietnam Ultra-Bold"/>
                          <a:sym typeface="Be Vietnam Ultra-Bold"/>
                        </a:rPr>
                        <a:t>FEATURE</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33326B"/>
                    </a:solidFill>
                  </a:tcPr>
                </a:tc>
                <a:tc>
                  <a:txBody>
                    <a:bodyPr anchor="t" rtlCol="false"/>
                    <a:lstStyle/>
                    <a:p>
                      <a:pPr algn="ctr">
                        <a:lnSpc>
                          <a:spcPts val="4899"/>
                        </a:lnSpc>
                        <a:defRPr/>
                      </a:pPr>
                      <a:r>
                        <a:rPr lang="en-US" b="true" sz="3499">
                          <a:solidFill>
                            <a:srgbClr val="01003B"/>
                          </a:solidFill>
                          <a:latin typeface="Be Vietnam Ultra-Bold"/>
                          <a:ea typeface="Be Vietnam Ultra-Bold"/>
                          <a:cs typeface="Be Vietnam Ultra-Bold"/>
                          <a:sym typeface="Be Vietnam Ultra-Bold"/>
                        </a:rPr>
                        <a:t>OUR CHATBOT</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48CFAE"/>
                    </a:solidFill>
                  </a:tcPr>
                </a:tc>
                <a:tc>
                  <a:txBody>
                    <a:bodyPr anchor="t" rtlCol="false"/>
                    <a:lstStyle/>
                    <a:p>
                      <a:pPr algn="ctr">
                        <a:lnSpc>
                          <a:spcPts val="4899"/>
                        </a:lnSpc>
                        <a:defRPr/>
                      </a:pPr>
                      <a:r>
                        <a:rPr lang="en-US" b="true" sz="3499">
                          <a:solidFill>
                            <a:srgbClr val="01003B"/>
                          </a:solidFill>
                          <a:latin typeface="Be Vietnam Ultra-Bold"/>
                          <a:ea typeface="Be Vietnam Ultra-Bold"/>
                          <a:cs typeface="Be Vietnam Ultra-Bold"/>
                          <a:sym typeface="Be Vietnam Ultra-Bold"/>
                        </a:rPr>
                        <a:t>PATIENTINTAKE.AI</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48CFAE"/>
                    </a:solidFill>
                  </a:tcPr>
                </a:tc>
                <a:tc>
                  <a:txBody>
                    <a:bodyPr anchor="t" rtlCol="false"/>
                    <a:lstStyle/>
                    <a:p>
                      <a:pPr algn="ctr">
                        <a:lnSpc>
                          <a:spcPts val="4899"/>
                        </a:lnSpc>
                        <a:defRPr/>
                      </a:pPr>
                      <a:r>
                        <a:rPr lang="en-US" b="true" sz="3499">
                          <a:solidFill>
                            <a:srgbClr val="01003B"/>
                          </a:solidFill>
                          <a:latin typeface="Be Vietnam Ultra-Bold"/>
                          <a:ea typeface="Be Vietnam Ultra-Bold"/>
                          <a:cs typeface="Be Vietnam Ultra-Bold"/>
                          <a:sym typeface="Be Vietnam Ultra-Bold"/>
                        </a:rPr>
                        <a:t>INFERMEDICA</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48CFAE"/>
                    </a:solidFill>
                  </a:tcPr>
                </a:tc>
              </a:tr>
              <a:tr h="979925">
                <a:tc>
                  <a:txBody>
                    <a:bodyPr anchor="t" rtlCol="false"/>
                    <a:lstStyle/>
                    <a:p>
                      <a:pPr algn="l">
                        <a:lnSpc>
                          <a:spcPts val="2519"/>
                        </a:lnSpc>
                        <a:defRPr/>
                      </a:pPr>
                      <a:r>
                        <a:rPr lang="en-US" sz="1799" b="true">
                          <a:solidFill>
                            <a:srgbClr val="000000"/>
                          </a:solidFill>
                          <a:latin typeface="Arimo Bold"/>
                          <a:ea typeface="Arimo Bold"/>
                          <a:cs typeface="Arimo Bold"/>
                          <a:sym typeface="Arimo Bold"/>
                        </a:rPr>
                        <a:t>Portuguese Language</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DFDFD"/>
                    </a:solidFill>
                  </a:tcPr>
                </a:tc>
                <a:tc>
                  <a:txBody>
                    <a:bodyPr anchor="t" rtlCol="false"/>
                    <a:lstStyle/>
                    <a:p>
                      <a:pPr algn="l">
                        <a:lnSpc>
                          <a:spcPts val="2519"/>
                        </a:lnSpc>
                        <a:defRPr/>
                      </a:pPr>
                      <a:r>
                        <a:rPr lang="en-US" sz="1799">
                          <a:solidFill>
                            <a:srgbClr val="000000"/>
                          </a:solidFill>
                          <a:latin typeface="Arimo"/>
                          <a:ea typeface="Arimo"/>
                          <a:cs typeface="Arimo"/>
                          <a:sym typeface="Arimo"/>
                        </a:rPr>
                        <a:t>✅ Native AI</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FFFFF"/>
                    </a:solidFill>
                  </a:tcPr>
                </a:tc>
                <a:tc>
                  <a:txBody>
                    <a:bodyPr anchor="t" rtlCol="false"/>
                    <a:lstStyle/>
                    <a:p>
                      <a:pPr algn="l">
                        <a:lnSpc>
                          <a:spcPts val="2519"/>
                        </a:lnSpc>
                        <a:defRPr/>
                      </a:pPr>
                      <a:r>
                        <a:rPr lang="en-US" sz="1799">
                          <a:solidFill>
                            <a:srgbClr val="000000"/>
                          </a:solidFill>
                          <a:latin typeface="Arimo"/>
                          <a:ea typeface="Arimo"/>
                          <a:cs typeface="Arimo"/>
                          <a:sym typeface="Arimo"/>
                        </a:rPr>
                        <a:t>❌ English only</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FFFFF"/>
                    </a:solidFill>
                  </a:tcPr>
                </a:tc>
                <a:tc>
                  <a:txBody>
                    <a:bodyPr anchor="t" rtlCol="false"/>
                    <a:lstStyle/>
                    <a:p>
                      <a:pPr algn="l">
                        <a:lnSpc>
                          <a:spcPts val="2519"/>
                        </a:lnSpc>
                        <a:defRPr/>
                      </a:pPr>
                      <a:r>
                        <a:rPr lang="en-US" sz="1799">
                          <a:solidFill>
                            <a:srgbClr val="000000"/>
                          </a:solidFill>
                          <a:latin typeface="Arimo"/>
                          <a:ea typeface="Arimo"/>
                          <a:cs typeface="Arimo"/>
                          <a:sym typeface="Arimo"/>
                        </a:rPr>
                        <a:t>⚠️ Limited PT</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FFFFF"/>
                    </a:solidFill>
                  </a:tcPr>
                </a:tc>
              </a:tr>
              <a:tr h="979925">
                <a:tc>
                  <a:txBody>
                    <a:bodyPr anchor="t" rtlCol="false"/>
                    <a:lstStyle/>
                    <a:p>
                      <a:pPr algn="l">
                        <a:lnSpc>
                          <a:spcPts val="2519"/>
                        </a:lnSpc>
                        <a:defRPr/>
                      </a:pPr>
                      <a:r>
                        <a:rPr lang="en-US" sz="1799" b="true">
                          <a:solidFill>
                            <a:srgbClr val="000000"/>
                          </a:solidFill>
                          <a:latin typeface="Arimo Bold"/>
                          <a:ea typeface="Arimo Bold"/>
                          <a:cs typeface="Arimo Bold"/>
                          <a:sym typeface="Arimo Bold"/>
                        </a:rPr>
                        <a:t>Conversational Interface</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DFDFD"/>
                    </a:solidFill>
                  </a:tcPr>
                </a:tc>
                <a:tc>
                  <a:txBody>
                    <a:bodyPr anchor="t" rtlCol="false"/>
                    <a:lstStyle/>
                    <a:p>
                      <a:pPr algn="l">
                        <a:lnSpc>
                          <a:spcPts val="2519"/>
                        </a:lnSpc>
                        <a:defRPr/>
                      </a:pPr>
                      <a:r>
                        <a:rPr lang="en-US" sz="1799">
                          <a:solidFill>
                            <a:srgbClr val="000000"/>
                          </a:solidFill>
                          <a:latin typeface="Arimo"/>
                          <a:ea typeface="Arimo"/>
                          <a:cs typeface="Arimo"/>
                          <a:sym typeface="Arimo"/>
                        </a:rPr>
                        <a:t>✅ Full AI</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FFFFF"/>
                    </a:solidFill>
                  </a:tcPr>
                </a:tc>
                <a:tc>
                  <a:txBody>
                    <a:bodyPr anchor="t" rtlCol="false"/>
                    <a:lstStyle/>
                    <a:p>
                      <a:pPr algn="l">
                        <a:lnSpc>
                          <a:spcPts val="2519"/>
                        </a:lnSpc>
                        <a:defRPr/>
                      </a:pPr>
                      <a:r>
                        <a:rPr lang="en-US" sz="1799">
                          <a:solidFill>
                            <a:srgbClr val="000000"/>
                          </a:solidFill>
                          <a:latin typeface="Arimo"/>
                          <a:ea typeface="Arimo"/>
                          <a:cs typeface="Arimo"/>
                          <a:sym typeface="Arimo"/>
                        </a:rPr>
                        <a:t>✅ AI Chatbot</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FFFFF"/>
                    </a:solidFill>
                  </a:tcPr>
                </a:tc>
                <a:tc>
                  <a:txBody>
                    <a:bodyPr anchor="t" rtlCol="false"/>
                    <a:lstStyle/>
                    <a:p>
                      <a:pPr algn="l">
                        <a:lnSpc>
                          <a:spcPts val="2519"/>
                        </a:lnSpc>
                        <a:defRPr/>
                      </a:pPr>
                      <a:r>
                        <a:rPr lang="en-US" sz="1799">
                          <a:solidFill>
                            <a:srgbClr val="000000"/>
                          </a:solidFill>
                          <a:latin typeface="Arimo"/>
                          <a:ea typeface="Arimo"/>
                          <a:cs typeface="Arimo"/>
                          <a:sym typeface="Arimo"/>
                        </a:rPr>
                        <a:t>✅ AI Chatbot</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FFFFF"/>
                    </a:solidFill>
                  </a:tcPr>
                </a:tc>
              </a:tr>
              <a:tr h="979925">
                <a:tc>
                  <a:txBody>
                    <a:bodyPr anchor="t" rtlCol="false"/>
                    <a:lstStyle/>
                    <a:p>
                      <a:pPr algn="l">
                        <a:lnSpc>
                          <a:spcPts val="2519"/>
                        </a:lnSpc>
                        <a:defRPr/>
                      </a:pPr>
                      <a:r>
                        <a:rPr lang="en-US" sz="1799" b="true">
                          <a:solidFill>
                            <a:srgbClr val="000000"/>
                          </a:solidFill>
                          <a:latin typeface="Arimo Bold"/>
                          <a:ea typeface="Arimo Bold"/>
                          <a:cs typeface="Arimo Bold"/>
                          <a:sym typeface="Arimo Bold"/>
                        </a:rPr>
                        <a:t>Medical History</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DFDFD"/>
                    </a:solidFill>
                  </a:tcPr>
                </a:tc>
                <a:tc>
                  <a:txBody>
                    <a:bodyPr anchor="t" rtlCol="false"/>
                    <a:lstStyle/>
                    <a:p>
                      <a:pPr algn="l">
                        <a:lnSpc>
                          <a:spcPts val="2519"/>
                        </a:lnSpc>
                        <a:defRPr/>
                      </a:pPr>
                      <a:r>
                        <a:rPr lang="en-US" sz="1799">
                          <a:solidFill>
                            <a:srgbClr val="000000"/>
                          </a:solidFill>
                          <a:latin typeface="Arimo"/>
                          <a:ea typeface="Arimo"/>
                          <a:cs typeface="Arimo"/>
                          <a:sym typeface="Arimo"/>
                        </a:rPr>
                        <a:t>✅ Comprehensive</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FFFFF"/>
                    </a:solidFill>
                  </a:tcPr>
                </a:tc>
                <a:tc>
                  <a:txBody>
                    <a:bodyPr anchor="t" rtlCol="false"/>
                    <a:lstStyle/>
                    <a:p>
                      <a:pPr algn="l">
                        <a:lnSpc>
                          <a:spcPts val="2519"/>
                        </a:lnSpc>
                        <a:defRPr/>
                      </a:pPr>
                      <a:r>
                        <a:rPr lang="en-US" sz="1799">
                          <a:solidFill>
                            <a:srgbClr val="000000"/>
                          </a:solidFill>
                          <a:latin typeface="Arimo"/>
                          <a:ea typeface="Arimo"/>
                          <a:cs typeface="Arimo"/>
                          <a:sym typeface="Arimo"/>
                        </a:rPr>
                        <a:t>✅ Structured</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FFFFF"/>
                    </a:solidFill>
                  </a:tcPr>
                </a:tc>
                <a:tc>
                  <a:txBody>
                    <a:bodyPr anchor="t" rtlCol="false"/>
                    <a:lstStyle/>
                    <a:p>
                      <a:pPr algn="l">
                        <a:lnSpc>
                          <a:spcPts val="2519"/>
                        </a:lnSpc>
                        <a:defRPr/>
                      </a:pPr>
                      <a:r>
                        <a:rPr lang="en-US" sz="1799">
                          <a:solidFill>
                            <a:srgbClr val="000000"/>
                          </a:solidFill>
                          <a:latin typeface="Arimo"/>
                          <a:ea typeface="Arimo"/>
                          <a:cs typeface="Arimo"/>
                          <a:sym typeface="Arimo"/>
                        </a:rPr>
                        <a:t>⚠️ Symptom</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FFFFF"/>
                    </a:solidFill>
                  </a:tcPr>
                </a:tc>
              </a:tr>
              <a:tr h="1063582">
                <a:tc>
                  <a:txBody>
                    <a:bodyPr anchor="t" rtlCol="false"/>
                    <a:lstStyle/>
                    <a:p>
                      <a:pPr algn="l">
                        <a:lnSpc>
                          <a:spcPts val="2519"/>
                        </a:lnSpc>
                        <a:defRPr/>
                      </a:pPr>
                      <a:r>
                        <a:rPr lang="en-US" sz="1799" b="true">
                          <a:solidFill>
                            <a:srgbClr val="000000"/>
                          </a:solidFill>
                          <a:latin typeface="Arimo Bold"/>
                          <a:ea typeface="Arimo Bold"/>
                          <a:cs typeface="Arimo Bold"/>
                          <a:sym typeface="Arimo Bold"/>
                        </a:rPr>
                        <a:t>Brazilian Market</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9525">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DFDFD"/>
                    </a:solidFill>
                  </a:tcPr>
                </a:tc>
                <a:tc>
                  <a:txBody>
                    <a:bodyPr anchor="t" rtlCol="false"/>
                    <a:lstStyle/>
                    <a:p>
                      <a:pPr algn="l">
                        <a:lnSpc>
                          <a:spcPts val="2519"/>
                        </a:lnSpc>
                        <a:defRPr/>
                      </a:pPr>
                      <a:r>
                        <a:rPr lang="en-US" sz="1799">
                          <a:solidFill>
                            <a:srgbClr val="000000"/>
                          </a:solidFill>
                          <a:latin typeface="Arimo"/>
                          <a:ea typeface="Arimo"/>
                          <a:cs typeface="Arimo"/>
                          <a:sym typeface="Arimo"/>
                        </a:rPr>
                        <a:t>✅</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9525">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FFFFF"/>
                    </a:solidFill>
                  </a:tcPr>
                </a:tc>
                <a:tc>
                  <a:txBody>
                    <a:bodyPr anchor="t" rtlCol="false"/>
                    <a:lstStyle/>
                    <a:p>
                      <a:pPr algn="l">
                        <a:lnSpc>
                          <a:spcPts val="2519"/>
                        </a:lnSpc>
                        <a:defRPr/>
                      </a:pPr>
                      <a:r>
                        <a:rPr lang="en-US" sz="1799">
                          <a:solidFill>
                            <a:srgbClr val="000000"/>
                          </a:solidFill>
                          <a:latin typeface="Arimo"/>
                          <a:ea typeface="Arimo"/>
                          <a:cs typeface="Arimo"/>
                          <a:sym typeface="Arimo"/>
                        </a:rPr>
                        <a:t>❌ US-focused/Frontdesk</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9525">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FFFFF"/>
                    </a:solidFill>
                  </a:tcPr>
                </a:tc>
                <a:tc>
                  <a:txBody>
                    <a:bodyPr anchor="t" rtlCol="false"/>
                    <a:lstStyle/>
                    <a:p>
                      <a:pPr algn="l">
                        <a:lnSpc>
                          <a:spcPts val="2519"/>
                        </a:lnSpc>
                        <a:defRPr/>
                      </a:pPr>
                      <a:r>
                        <a:rPr lang="en-US" sz="1799">
                          <a:solidFill>
                            <a:srgbClr val="000000"/>
                          </a:solidFill>
                          <a:latin typeface="Arimo"/>
                          <a:ea typeface="Arimo"/>
                          <a:cs typeface="Arimo"/>
                          <a:sym typeface="Arimo"/>
                        </a:rPr>
                        <a:t>⚠️ Global API</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9525">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FFFFF"/>
                    </a:solidFill>
                  </a:tcPr>
                </a:tc>
              </a:tr>
              <a:tr h="1063582">
                <a:tc>
                  <a:txBody>
                    <a:bodyPr anchor="t" rtlCol="false"/>
                    <a:lstStyle/>
                    <a:p>
                      <a:pPr algn="l">
                        <a:lnSpc>
                          <a:spcPts val="2519"/>
                        </a:lnSpc>
                        <a:defRPr/>
                      </a:pPr>
                      <a:r>
                        <a:rPr lang="en-US" sz="1799" b="true">
                          <a:solidFill>
                            <a:srgbClr val="000000"/>
                          </a:solidFill>
                          <a:latin typeface="Arimo Bold"/>
                          <a:ea typeface="Arimo Bold"/>
                          <a:cs typeface="Arimo Bold"/>
                          <a:sym typeface="Arimo Bold"/>
                        </a:rPr>
                        <a:t>LGPD Compliance</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9525">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DFDFD"/>
                    </a:solidFill>
                  </a:tcPr>
                </a:tc>
                <a:tc>
                  <a:txBody>
                    <a:bodyPr anchor="t" rtlCol="false"/>
                    <a:lstStyle/>
                    <a:p>
                      <a:pPr algn="l">
                        <a:lnSpc>
                          <a:spcPts val="2519"/>
                        </a:lnSpc>
                        <a:defRPr/>
                      </a:pPr>
                      <a:r>
                        <a:rPr lang="en-US" sz="1799">
                          <a:solidFill>
                            <a:srgbClr val="000000"/>
                          </a:solidFill>
                          <a:latin typeface="Arimo"/>
                          <a:ea typeface="Arimo"/>
                          <a:cs typeface="Arimo"/>
                          <a:sym typeface="Arimo"/>
                        </a:rPr>
                        <a:t>✅</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9525">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FFFFF"/>
                    </a:solidFill>
                  </a:tcPr>
                </a:tc>
                <a:tc>
                  <a:txBody>
                    <a:bodyPr anchor="t" rtlCol="false"/>
                    <a:lstStyle/>
                    <a:p>
                      <a:pPr algn="l">
                        <a:lnSpc>
                          <a:spcPts val="2519"/>
                        </a:lnSpc>
                        <a:defRPr/>
                      </a:pPr>
                      <a:r>
                        <a:rPr lang="en-US" sz="1799">
                          <a:solidFill>
                            <a:srgbClr val="000000"/>
                          </a:solidFill>
                          <a:latin typeface="Arimo"/>
                          <a:ea typeface="Arimo"/>
                          <a:cs typeface="Arimo"/>
                          <a:sym typeface="Arimo"/>
                        </a:rPr>
                        <a:t>❌ HIPAA only</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9525">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FFFFF"/>
                    </a:solidFill>
                  </a:tcPr>
                </a:tc>
                <a:tc>
                  <a:txBody>
                    <a:bodyPr anchor="t" rtlCol="false"/>
                    <a:lstStyle/>
                    <a:p>
                      <a:pPr algn="l">
                        <a:lnSpc>
                          <a:spcPts val="2519"/>
                        </a:lnSpc>
                        <a:defRPr/>
                      </a:pPr>
                      <a:r>
                        <a:rPr lang="en-US" sz="1799">
                          <a:solidFill>
                            <a:srgbClr val="000000"/>
                          </a:solidFill>
                          <a:latin typeface="Arimo"/>
                          <a:ea typeface="Arimo"/>
                          <a:cs typeface="Arimo"/>
                          <a:sym typeface="Arimo"/>
                        </a:rPr>
                        <a:t>⚠️ GDPR</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9525">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3"/>
            <a:stretch>
              <a:fillRect l="-9222" t="-4461" r="-20094" b="-4717"/>
            </a:stretch>
          </a:blipFill>
        </p:spPr>
      </p:sp>
      <p:grpSp>
        <p:nvGrpSpPr>
          <p:cNvPr name="Group 3" id="3"/>
          <p:cNvGrpSpPr/>
          <p:nvPr/>
        </p:nvGrpSpPr>
        <p:grpSpPr>
          <a:xfrm rot="0">
            <a:off x="6042889" y="2993932"/>
            <a:ext cx="3101111" cy="3101111"/>
            <a:chOff x="0" y="0"/>
            <a:chExt cx="4134814" cy="4134814"/>
          </a:xfrm>
        </p:grpSpPr>
        <p:grpSp>
          <p:nvGrpSpPr>
            <p:cNvPr name="Group 4" id="4"/>
            <p:cNvGrpSpPr>
              <a:grpSpLocks noChangeAspect="true"/>
            </p:cNvGrpSpPr>
            <p:nvPr/>
          </p:nvGrpSpPr>
          <p:grpSpPr>
            <a:xfrm rot="0">
              <a:off x="0" y="0"/>
              <a:ext cx="4134814" cy="4134814"/>
              <a:chOff x="0" y="0"/>
              <a:chExt cx="14400530" cy="14400530"/>
            </a:xfrm>
          </p:grpSpPr>
          <p:sp>
            <p:nvSpPr>
              <p:cNvPr name="Freeform 5" id="5"/>
              <p:cNvSpPr/>
              <p:nvPr/>
            </p:nvSpPr>
            <p:spPr>
              <a:xfrm flipH="false" flipV="false" rot="0">
                <a:off x="0" y="0"/>
                <a:ext cx="14400530" cy="14399261"/>
              </a:xfrm>
              <a:custGeom>
                <a:avLst/>
                <a:gdLst/>
                <a:ahLst/>
                <a:cxnLst/>
                <a:rect r="r" b="b" t="t" l="l"/>
                <a:pathLst>
                  <a:path h="14399261" w="14400530">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48CFAE"/>
              </a:solidFill>
            </p:spPr>
          </p:sp>
        </p:grpSp>
        <p:grpSp>
          <p:nvGrpSpPr>
            <p:cNvPr name="Group 6" id="6"/>
            <p:cNvGrpSpPr/>
            <p:nvPr/>
          </p:nvGrpSpPr>
          <p:grpSpPr>
            <a:xfrm rot="0">
              <a:off x="507469" y="578664"/>
              <a:ext cx="3109576" cy="3109576"/>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p:spPr>
          </p:sp>
          <p:sp>
            <p:nvSpPr>
              <p:cNvPr name="TextBox 8" id="8"/>
              <p:cNvSpPr txBox="true"/>
              <p:nvPr/>
            </p:nvSpPr>
            <p:spPr>
              <a:xfrm>
                <a:off x="76200" y="19050"/>
                <a:ext cx="660400" cy="717550"/>
              </a:xfrm>
              <a:prstGeom prst="rect">
                <a:avLst/>
              </a:prstGeom>
            </p:spPr>
            <p:txBody>
              <a:bodyPr anchor="ctr" rtlCol="false" tIns="50800" lIns="50800" bIns="50800" rIns="50800"/>
              <a:lstStyle/>
              <a:p>
                <a:pPr algn="ctr">
                  <a:lnSpc>
                    <a:spcPts val="2800"/>
                  </a:lnSpc>
                </a:pPr>
              </a:p>
            </p:txBody>
          </p:sp>
        </p:grpSp>
      </p:grpSp>
      <p:grpSp>
        <p:nvGrpSpPr>
          <p:cNvPr name="Group 9" id="9"/>
          <p:cNvGrpSpPr/>
          <p:nvPr/>
        </p:nvGrpSpPr>
        <p:grpSpPr>
          <a:xfrm rot="0">
            <a:off x="9370918" y="2993932"/>
            <a:ext cx="3101111" cy="3101111"/>
            <a:chOff x="0" y="0"/>
            <a:chExt cx="4134814" cy="4134814"/>
          </a:xfrm>
        </p:grpSpPr>
        <p:grpSp>
          <p:nvGrpSpPr>
            <p:cNvPr name="Group 10" id="10"/>
            <p:cNvGrpSpPr>
              <a:grpSpLocks noChangeAspect="true"/>
            </p:cNvGrpSpPr>
            <p:nvPr/>
          </p:nvGrpSpPr>
          <p:grpSpPr>
            <a:xfrm rot="5400000">
              <a:off x="0" y="0"/>
              <a:ext cx="4134814" cy="4134814"/>
              <a:chOff x="0" y="0"/>
              <a:chExt cx="14400530" cy="14400530"/>
            </a:xfrm>
          </p:grpSpPr>
          <p:sp>
            <p:nvSpPr>
              <p:cNvPr name="Freeform 11" id="11"/>
              <p:cNvSpPr/>
              <p:nvPr/>
            </p:nvSpPr>
            <p:spPr>
              <a:xfrm flipH="false" flipV="false" rot="0">
                <a:off x="0" y="0"/>
                <a:ext cx="14400530" cy="14399261"/>
              </a:xfrm>
              <a:custGeom>
                <a:avLst/>
                <a:gdLst/>
                <a:ahLst/>
                <a:cxnLst/>
                <a:rect r="r" b="b" t="t" l="l"/>
                <a:pathLst>
                  <a:path h="14399261" w="14400530">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33326B"/>
              </a:solidFill>
            </p:spPr>
          </p:sp>
        </p:grpSp>
        <p:grpSp>
          <p:nvGrpSpPr>
            <p:cNvPr name="Group 12" id="12"/>
            <p:cNvGrpSpPr/>
            <p:nvPr/>
          </p:nvGrpSpPr>
          <p:grpSpPr>
            <a:xfrm rot="0">
              <a:off x="479822" y="572443"/>
              <a:ext cx="3115797" cy="3115797"/>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p:spPr>
          </p:sp>
          <p:sp>
            <p:nvSpPr>
              <p:cNvPr name="TextBox 14" id="14"/>
              <p:cNvSpPr txBox="true"/>
              <p:nvPr/>
            </p:nvSpPr>
            <p:spPr>
              <a:xfrm>
                <a:off x="76200" y="19050"/>
                <a:ext cx="660400" cy="717550"/>
              </a:xfrm>
              <a:prstGeom prst="rect">
                <a:avLst/>
              </a:prstGeom>
            </p:spPr>
            <p:txBody>
              <a:bodyPr anchor="ctr" rtlCol="false" tIns="50800" lIns="50800" bIns="50800" rIns="50800"/>
              <a:lstStyle/>
              <a:p>
                <a:pPr algn="ctr">
                  <a:lnSpc>
                    <a:spcPts val="2800"/>
                  </a:lnSpc>
                </a:pPr>
              </a:p>
            </p:txBody>
          </p:sp>
        </p:grpSp>
      </p:grpSp>
      <p:grpSp>
        <p:nvGrpSpPr>
          <p:cNvPr name="Group 15" id="15"/>
          <p:cNvGrpSpPr/>
          <p:nvPr/>
        </p:nvGrpSpPr>
        <p:grpSpPr>
          <a:xfrm rot="0">
            <a:off x="9370918" y="6257852"/>
            <a:ext cx="3101111" cy="3101111"/>
            <a:chOff x="0" y="0"/>
            <a:chExt cx="4134814" cy="4134814"/>
          </a:xfrm>
        </p:grpSpPr>
        <p:grpSp>
          <p:nvGrpSpPr>
            <p:cNvPr name="Group 16" id="16"/>
            <p:cNvGrpSpPr>
              <a:grpSpLocks noChangeAspect="true"/>
            </p:cNvGrpSpPr>
            <p:nvPr/>
          </p:nvGrpSpPr>
          <p:grpSpPr>
            <a:xfrm rot="-10800000">
              <a:off x="0" y="0"/>
              <a:ext cx="4134814" cy="4134814"/>
              <a:chOff x="0" y="0"/>
              <a:chExt cx="14400530" cy="14400530"/>
            </a:xfrm>
          </p:grpSpPr>
          <p:sp>
            <p:nvSpPr>
              <p:cNvPr name="Freeform 17" id="17"/>
              <p:cNvSpPr/>
              <p:nvPr/>
            </p:nvSpPr>
            <p:spPr>
              <a:xfrm flipH="false" flipV="false" rot="0">
                <a:off x="0" y="0"/>
                <a:ext cx="14400530" cy="14399261"/>
              </a:xfrm>
              <a:custGeom>
                <a:avLst/>
                <a:gdLst/>
                <a:ahLst/>
                <a:cxnLst/>
                <a:rect r="r" b="b" t="t" l="l"/>
                <a:pathLst>
                  <a:path h="14399261" w="14400530">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48CFAE"/>
              </a:solidFill>
            </p:spPr>
          </p:sp>
        </p:grpSp>
        <p:grpSp>
          <p:nvGrpSpPr>
            <p:cNvPr name="Group 18" id="18"/>
            <p:cNvGrpSpPr/>
            <p:nvPr/>
          </p:nvGrpSpPr>
          <p:grpSpPr>
            <a:xfrm rot="0">
              <a:off x="465225" y="465225"/>
              <a:ext cx="3140001" cy="3140001"/>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p:spPr>
          </p:sp>
          <p:sp>
            <p:nvSpPr>
              <p:cNvPr name="TextBox 20" id="20"/>
              <p:cNvSpPr txBox="true"/>
              <p:nvPr/>
            </p:nvSpPr>
            <p:spPr>
              <a:xfrm>
                <a:off x="76200" y="19050"/>
                <a:ext cx="660400" cy="717550"/>
              </a:xfrm>
              <a:prstGeom prst="rect">
                <a:avLst/>
              </a:prstGeom>
            </p:spPr>
            <p:txBody>
              <a:bodyPr anchor="ctr" rtlCol="false" tIns="50800" lIns="50800" bIns="50800" rIns="50800"/>
              <a:lstStyle/>
              <a:p>
                <a:pPr algn="ctr">
                  <a:lnSpc>
                    <a:spcPts val="2800"/>
                  </a:lnSpc>
                </a:pPr>
              </a:p>
            </p:txBody>
          </p:sp>
        </p:grpSp>
      </p:grpSp>
      <p:grpSp>
        <p:nvGrpSpPr>
          <p:cNvPr name="Group 21" id="21"/>
          <p:cNvGrpSpPr/>
          <p:nvPr/>
        </p:nvGrpSpPr>
        <p:grpSpPr>
          <a:xfrm rot="0">
            <a:off x="6042889" y="6257852"/>
            <a:ext cx="3128639" cy="3128639"/>
            <a:chOff x="0" y="0"/>
            <a:chExt cx="4171519" cy="4171519"/>
          </a:xfrm>
        </p:grpSpPr>
        <p:grpSp>
          <p:nvGrpSpPr>
            <p:cNvPr name="Group 22" id="22"/>
            <p:cNvGrpSpPr>
              <a:grpSpLocks noChangeAspect="true"/>
            </p:cNvGrpSpPr>
            <p:nvPr/>
          </p:nvGrpSpPr>
          <p:grpSpPr>
            <a:xfrm rot="-5400000">
              <a:off x="0" y="0"/>
              <a:ext cx="4171519" cy="4171519"/>
              <a:chOff x="0" y="0"/>
              <a:chExt cx="14400530" cy="14400530"/>
            </a:xfrm>
          </p:grpSpPr>
          <p:sp>
            <p:nvSpPr>
              <p:cNvPr name="Freeform 23" id="23"/>
              <p:cNvSpPr/>
              <p:nvPr/>
            </p:nvSpPr>
            <p:spPr>
              <a:xfrm flipH="false" flipV="false" rot="0">
                <a:off x="0" y="0"/>
                <a:ext cx="14400530" cy="14399261"/>
              </a:xfrm>
              <a:custGeom>
                <a:avLst/>
                <a:gdLst/>
                <a:ahLst/>
                <a:cxnLst/>
                <a:rect r="r" b="b" t="t" l="l"/>
                <a:pathLst>
                  <a:path h="14399261" w="14400530">
                    <a:moveTo>
                      <a:pt x="7199630" y="0"/>
                    </a:moveTo>
                    <a:cubicBezTo>
                      <a:pt x="3223260" y="0"/>
                      <a:pt x="0" y="3223260"/>
                      <a:pt x="0" y="7199630"/>
                    </a:cubicBezTo>
                    <a:cubicBezTo>
                      <a:pt x="0" y="11176001"/>
                      <a:pt x="3223260" y="14399261"/>
                      <a:pt x="7199630" y="14399261"/>
                    </a:cubicBezTo>
                    <a:lnTo>
                      <a:pt x="14399261" y="14399261"/>
                    </a:lnTo>
                    <a:lnTo>
                      <a:pt x="14399261" y="7199630"/>
                    </a:lnTo>
                    <a:cubicBezTo>
                      <a:pt x="14400530" y="3223260"/>
                      <a:pt x="11176000" y="0"/>
                      <a:pt x="7199630" y="0"/>
                    </a:cubicBezTo>
                    <a:close/>
                  </a:path>
                </a:pathLst>
              </a:custGeom>
              <a:solidFill>
                <a:srgbClr val="33326B"/>
              </a:solidFill>
            </p:spPr>
          </p:sp>
        </p:grpSp>
        <p:grpSp>
          <p:nvGrpSpPr>
            <p:cNvPr name="Group 24" id="24"/>
            <p:cNvGrpSpPr/>
            <p:nvPr/>
          </p:nvGrpSpPr>
          <p:grpSpPr>
            <a:xfrm rot="0">
              <a:off x="507469" y="550524"/>
              <a:ext cx="3113527" cy="3113527"/>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FDFD"/>
              </a:solidFill>
            </p:spPr>
          </p:sp>
          <p:sp>
            <p:nvSpPr>
              <p:cNvPr name="TextBox 26" id="26"/>
              <p:cNvSpPr txBox="true"/>
              <p:nvPr/>
            </p:nvSpPr>
            <p:spPr>
              <a:xfrm>
                <a:off x="76200" y="19050"/>
                <a:ext cx="660400" cy="717550"/>
              </a:xfrm>
              <a:prstGeom prst="rect">
                <a:avLst/>
              </a:prstGeom>
            </p:spPr>
            <p:txBody>
              <a:bodyPr anchor="ctr" rtlCol="false" tIns="50800" lIns="50800" bIns="50800" rIns="50800"/>
              <a:lstStyle/>
              <a:p>
                <a:pPr algn="ctr">
                  <a:lnSpc>
                    <a:spcPts val="2800"/>
                  </a:lnSpc>
                </a:pPr>
              </a:p>
            </p:txBody>
          </p:sp>
        </p:grpSp>
      </p:grpSp>
      <p:sp>
        <p:nvSpPr>
          <p:cNvPr name="Freeform 27" id="27"/>
          <p:cNvSpPr/>
          <p:nvPr/>
        </p:nvSpPr>
        <p:spPr>
          <a:xfrm flipH="false" flipV="false" rot="0">
            <a:off x="10317527" y="7131589"/>
            <a:ext cx="1207892" cy="1381166"/>
          </a:xfrm>
          <a:custGeom>
            <a:avLst/>
            <a:gdLst/>
            <a:ahLst/>
            <a:cxnLst/>
            <a:rect r="r" b="b" t="t" l="l"/>
            <a:pathLst>
              <a:path h="1381166" w="1207892">
                <a:moveTo>
                  <a:pt x="0" y="0"/>
                </a:moveTo>
                <a:lnTo>
                  <a:pt x="1207892" y="0"/>
                </a:lnTo>
                <a:lnTo>
                  <a:pt x="1207892" y="1381166"/>
                </a:lnTo>
                <a:lnTo>
                  <a:pt x="0" y="13811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28" id="28"/>
          <p:cNvSpPr/>
          <p:nvPr/>
        </p:nvSpPr>
        <p:spPr>
          <a:xfrm flipH="false" flipV="false" rot="0">
            <a:off x="10260111" y="3903989"/>
            <a:ext cx="1322725" cy="1207287"/>
          </a:xfrm>
          <a:custGeom>
            <a:avLst/>
            <a:gdLst/>
            <a:ahLst/>
            <a:cxnLst/>
            <a:rect r="r" b="b" t="t" l="l"/>
            <a:pathLst>
              <a:path h="1207287" w="1322725">
                <a:moveTo>
                  <a:pt x="0" y="0"/>
                </a:moveTo>
                <a:lnTo>
                  <a:pt x="1322724" y="0"/>
                </a:lnTo>
                <a:lnTo>
                  <a:pt x="1322724" y="1207287"/>
                </a:lnTo>
                <a:lnTo>
                  <a:pt x="0" y="1207287"/>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29" id="29"/>
          <p:cNvSpPr/>
          <p:nvPr/>
        </p:nvSpPr>
        <p:spPr>
          <a:xfrm flipH="false" flipV="false" rot="0">
            <a:off x="6701522" y="3776771"/>
            <a:ext cx="1783846" cy="1869150"/>
          </a:xfrm>
          <a:custGeom>
            <a:avLst/>
            <a:gdLst/>
            <a:ahLst/>
            <a:cxnLst/>
            <a:rect r="r" b="b" t="t" l="l"/>
            <a:pathLst>
              <a:path h="1869150" w="1783846">
                <a:moveTo>
                  <a:pt x="0" y="0"/>
                </a:moveTo>
                <a:lnTo>
                  <a:pt x="1783846" y="0"/>
                </a:lnTo>
                <a:lnTo>
                  <a:pt x="1783846" y="1869150"/>
                </a:lnTo>
                <a:lnTo>
                  <a:pt x="0" y="1869150"/>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AutoShape 30" id="30"/>
          <p:cNvSpPr/>
          <p:nvPr/>
        </p:nvSpPr>
        <p:spPr>
          <a:xfrm flipV="true">
            <a:off x="5257455" y="8328246"/>
            <a:ext cx="2299769" cy="1372116"/>
          </a:xfrm>
          <a:prstGeom prst="line">
            <a:avLst/>
          </a:prstGeom>
          <a:ln cap="flat" w="38100">
            <a:solidFill>
              <a:srgbClr val="262262"/>
            </a:solidFill>
            <a:prstDash val="solid"/>
            <a:headEnd type="none" len="sm" w="sm"/>
            <a:tailEnd type="none" len="sm" w="sm"/>
          </a:ln>
        </p:spPr>
      </p:sp>
      <p:grpSp>
        <p:nvGrpSpPr>
          <p:cNvPr name="Group 31" id="31"/>
          <p:cNvGrpSpPr/>
          <p:nvPr/>
        </p:nvGrpSpPr>
        <p:grpSpPr>
          <a:xfrm rot="0">
            <a:off x="1028700" y="6714074"/>
            <a:ext cx="4241096" cy="3086100"/>
            <a:chOff x="0" y="0"/>
            <a:chExt cx="1116997" cy="812800"/>
          </a:xfrm>
        </p:grpSpPr>
        <p:sp>
          <p:nvSpPr>
            <p:cNvPr name="Freeform 32" id="32"/>
            <p:cNvSpPr/>
            <p:nvPr/>
          </p:nvSpPr>
          <p:spPr>
            <a:xfrm flipH="false" flipV="false" rot="0">
              <a:off x="0" y="0"/>
              <a:ext cx="1116997" cy="812800"/>
            </a:xfrm>
            <a:custGeom>
              <a:avLst/>
              <a:gdLst/>
              <a:ahLst/>
              <a:cxnLst/>
              <a:rect r="r" b="b" t="t" l="l"/>
              <a:pathLst>
                <a:path h="812800" w="1116997">
                  <a:moveTo>
                    <a:pt x="31033" y="0"/>
                  </a:moveTo>
                  <a:lnTo>
                    <a:pt x="1085964" y="0"/>
                  </a:lnTo>
                  <a:cubicBezTo>
                    <a:pt x="1094194" y="0"/>
                    <a:pt x="1102087" y="3270"/>
                    <a:pt x="1107907" y="9089"/>
                  </a:cubicBezTo>
                  <a:cubicBezTo>
                    <a:pt x="1113727" y="14909"/>
                    <a:pt x="1116997" y="22802"/>
                    <a:pt x="1116997" y="31033"/>
                  </a:cubicBezTo>
                  <a:lnTo>
                    <a:pt x="1116997" y="781767"/>
                  </a:lnTo>
                  <a:cubicBezTo>
                    <a:pt x="1116997" y="789998"/>
                    <a:pt x="1113727" y="797891"/>
                    <a:pt x="1107907" y="803711"/>
                  </a:cubicBezTo>
                  <a:cubicBezTo>
                    <a:pt x="1102087" y="809530"/>
                    <a:pt x="1094194" y="812800"/>
                    <a:pt x="1085964" y="812800"/>
                  </a:cubicBezTo>
                  <a:lnTo>
                    <a:pt x="31033" y="812800"/>
                  </a:lnTo>
                  <a:cubicBezTo>
                    <a:pt x="22802" y="812800"/>
                    <a:pt x="14909" y="809530"/>
                    <a:pt x="9089" y="803711"/>
                  </a:cubicBezTo>
                  <a:cubicBezTo>
                    <a:pt x="3270" y="797891"/>
                    <a:pt x="0" y="789998"/>
                    <a:pt x="0" y="781767"/>
                  </a:cubicBezTo>
                  <a:lnTo>
                    <a:pt x="0" y="31033"/>
                  </a:lnTo>
                  <a:cubicBezTo>
                    <a:pt x="0" y="22802"/>
                    <a:pt x="3270" y="14909"/>
                    <a:pt x="9089" y="9089"/>
                  </a:cubicBezTo>
                  <a:cubicBezTo>
                    <a:pt x="14909" y="3270"/>
                    <a:pt x="22802" y="0"/>
                    <a:pt x="31033" y="0"/>
                  </a:cubicBezTo>
                  <a:close/>
                </a:path>
              </a:pathLst>
            </a:custGeom>
            <a:solidFill>
              <a:srgbClr val="000000">
                <a:alpha val="0"/>
              </a:srgbClr>
            </a:solidFill>
            <a:ln w="38100" cap="sq">
              <a:solidFill>
                <a:srgbClr val="262262"/>
              </a:solidFill>
              <a:prstDash val="solid"/>
              <a:miter/>
            </a:ln>
          </p:spPr>
        </p:sp>
        <p:sp>
          <p:nvSpPr>
            <p:cNvPr name="TextBox 33" id="33"/>
            <p:cNvSpPr txBox="true"/>
            <p:nvPr/>
          </p:nvSpPr>
          <p:spPr>
            <a:xfrm>
              <a:off x="0" y="-47625"/>
              <a:ext cx="1116997" cy="860425"/>
            </a:xfrm>
            <a:prstGeom prst="rect">
              <a:avLst/>
            </a:prstGeom>
          </p:spPr>
          <p:txBody>
            <a:bodyPr anchor="ctr" rtlCol="false" tIns="50800" lIns="50800" bIns="50800" rIns="50800"/>
            <a:lstStyle/>
            <a:p>
              <a:pPr algn="ctr">
                <a:lnSpc>
                  <a:spcPts val="2800"/>
                </a:lnSpc>
              </a:pPr>
            </a:p>
          </p:txBody>
        </p:sp>
      </p:grpSp>
      <p:sp>
        <p:nvSpPr>
          <p:cNvPr name="Freeform 34" id="34"/>
          <p:cNvSpPr/>
          <p:nvPr/>
        </p:nvSpPr>
        <p:spPr>
          <a:xfrm flipH="false" flipV="false" rot="0">
            <a:off x="6701522" y="7092139"/>
            <a:ext cx="1783846" cy="1869150"/>
          </a:xfrm>
          <a:custGeom>
            <a:avLst/>
            <a:gdLst/>
            <a:ahLst/>
            <a:cxnLst/>
            <a:rect r="r" b="b" t="t" l="l"/>
            <a:pathLst>
              <a:path h="1869150" w="1783846">
                <a:moveTo>
                  <a:pt x="0" y="0"/>
                </a:moveTo>
                <a:lnTo>
                  <a:pt x="1783846" y="0"/>
                </a:lnTo>
                <a:lnTo>
                  <a:pt x="1783846" y="1869149"/>
                </a:lnTo>
                <a:lnTo>
                  <a:pt x="0" y="1869149"/>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grpSp>
        <p:nvGrpSpPr>
          <p:cNvPr name="Group 35" id="35"/>
          <p:cNvGrpSpPr/>
          <p:nvPr/>
        </p:nvGrpSpPr>
        <p:grpSpPr>
          <a:xfrm rot="0">
            <a:off x="7493764" y="7865264"/>
            <a:ext cx="734154" cy="491671"/>
            <a:chOff x="0" y="0"/>
            <a:chExt cx="251587" cy="168529"/>
          </a:xfrm>
        </p:grpSpPr>
        <p:sp>
          <p:nvSpPr>
            <p:cNvPr name="Freeform 36" id="36"/>
            <p:cNvSpPr/>
            <p:nvPr/>
          </p:nvSpPr>
          <p:spPr>
            <a:xfrm flipH="false" flipV="false" rot="0">
              <a:off x="0" y="0"/>
              <a:ext cx="251587" cy="168529"/>
            </a:xfrm>
            <a:custGeom>
              <a:avLst/>
              <a:gdLst/>
              <a:ahLst/>
              <a:cxnLst/>
              <a:rect r="r" b="b" t="t" l="l"/>
              <a:pathLst>
                <a:path h="168529" w="251587">
                  <a:moveTo>
                    <a:pt x="251587" y="84265"/>
                  </a:moveTo>
                  <a:lnTo>
                    <a:pt x="251587" y="84265"/>
                  </a:lnTo>
                  <a:cubicBezTo>
                    <a:pt x="251587" y="130803"/>
                    <a:pt x="213860" y="168529"/>
                    <a:pt x="167322" y="168529"/>
                  </a:cubicBezTo>
                  <a:lnTo>
                    <a:pt x="84265" y="168529"/>
                  </a:lnTo>
                  <a:cubicBezTo>
                    <a:pt x="37727" y="168529"/>
                    <a:pt x="0" y="130803"/>
                    <a:pt x="0" y="84265"/>
                  </a:cubicBezTo>
                  <a:lnTo>
                    <a:pt x="0" y="84265"/>
                  </a:lnTo>
                  <a:cubicBezTo>
                    <a:pt x="0" y="37727"/>
                    <a:pt x="37727" y="0"/>
                    <a:pt x="84265" y="0"/>
                  </a:cubicBezTo>
                  <a:lnTo>
                    <a:pt x="167322" y="0"/>
                  </a:lnTo>
                  <a:cubicBezTo>
                    <a:pt x="189671" y="0"/>
                    <a:pt x="211104" y="8878"/>
                    <a:pt x="226906" y="24681"/>
                  </a:cubicBezTo>
                  <a:cubicBezTo>
                    <a:pt x="242709" y="40483"/>
                    <a:pt x="251587" y="61916"/>
                    <a:pt x="251587" y="84265"/>
                  </a:cubicBezTo>
                  <a:close/>
                </a:path>
              </a:pathLst>
            </a:custGeom>
            <a:solidFill>
              <a:srgbClr val="000000">
                <a:alpha val="0"/>
              </a:srgbClr>
            </a:solidFill>
            <a:ln w="19050" cap="sq">
              <a:solidFill>
                <a:srgbClr val="262262"/>
              </a:solidFill>
              <a:prstDash val="solid"/>
              <a:miter/>
            </a:ln>
          </p:spPr>
        </p:sp>
        <p:sp>
          <p:nvSpPr>
            <p:cNvPr name="TextBox 37" id="37"/>
            <p:cNvSpPr txBox="true"/>
            <p:nvPr/>
          </p:nvSpPr>
          <p:spPr>
            <a:xfrm>
              <a:off x="0" y="-47625"/>
              <a:ext cx="251587" cy="216154"/>
            </a:xfrm>
            <a:prstGeom prst="rect">
              <a:avLst/>
            </a:prstGeom>
          </p:spPr>
          <p:txBody>
            <a:bodyPr anchor="ctr" rtlCol="false" tIns="50800" lIns="50800" bIns="50800" rIns="50800"/>
            <a:lstStyle/>
            <a:p>
              <a:pPr algn="ctr">
                <a:lnSpc>
                  <a:spcPts val="2800"/>
                </a:lnSpc>
              </a:pPr>
            </a:p>
          </p:txBody>
        </p:sp>
      </p:grpSp>
      <p:sp>
        <p:nvSpPr>
          <p:cNvPr name="AutoShape 38" id="38"/>
          <p:cNvSpPr/>
          <p:nvPr/>
        </p:nvSpPr>
        <p:spPr>
          <a:xfrm>
            <a:off x="5188869" y="6735757"/>
            <a:ext cx="2322119" cy="1211621"/>
          </a:xfrm>
          <a:prstGeom prst="line">
            <a:avLst/>
          </a:prstGeom>
          <a:ln cap="flat" w="38100">
            <a:solidFill>
              <a:srgbClr val="262262"/>
            </a:solidFill>
            <a:prstDash val="solid"/>
            <a:headEnd type="none" len="sm" w="sm"/>
            <a:tailEnd type="none" len="sm" w="sm"/>
          </a:ln>
        </p:spPr>
      </p:sp>
      <p:sp>
        <p:nvSpPr>
          <p:cNvPr name="TextBox 39" id="39"/>
          <p:cNvSpPr txBox="true"/>
          <p:nvPr/>
        </p:nvSpPr>
        <p:spPr>
          <a:xfrm rot="0">
            <a:off x="3659889" y="1181100"/>
            <a:ext cx="11195139" cy="1280261"/>
          </a:xfrm>
          <a:prstGeom prst="rect">
            <a:avLst/>
          </a:prstGeom>
        </p:spPr>
        <p:txBody>
          <a:bodyPr anchor="t" rtlCol="false" tIns="0" lIns="0" bIns="0" rIns="0">
            <a:spAutoFit/>
          </a:bodyPr>
          <a:lstStyle/>
          <a:p>
            <a:pPr algn="ctr">
              <a:lnSpc>
                <a:spcPts val="9729"/>
              </a:lnSpc>
            </a:pPr>
            <a:r>
              <a:rPr lang="en-US" b="true" sz="9445" spc="302">
                <a:solidFill>
                  <a:srgbClr val="01003B"/>
                </a:solidFill>
                <a:latin typeface="Be Vietnam Ultra-Bold"/>
                <a:ea typeface="Be Vietnam Ultra-Bold"/>
                <a:cs typeface="Be Vietnam Ultra-Bold"/>
                <a:sym typeface="Be Vietnam Ultra-Bold"/>
              </a:rPr>
              <a:t>MARKET SIZE</a:t>
            </a:r>
          </a:p>
        </p:txBody>
      </p:sp>
      <p:sp>
        <p:nvSpPr>
          <p:cNvPr name="TextBox 40" id="40"/>
          <p:cNvSpPr txBox="true"/>
          <p:nvPr/>
        </p:nvSpPr>
        <p:spPr>
          <a:xfrm rot="0">
            <a:off x="1980415" y="3180089"/>
            <a:ext cx="3358950" cy="523875"/>
          </a:xfrm>
          <a:prstGeom prst="rect">
            <a:avLst/>
          </a:prstGeom>
        </p:spPr>
        <p:txBody>
          <a:bodyPr anchor="t" rtlCol="false" tIns="0" lIns="0" bIns="0" rIns="0">
            <a:spAutoFit/>
          </a:bodyPr>
          <a:lstStyle/>
          <a:p>
            <a:pPr algn="l">
              <a:lnSpc>
                <a:spcPts val="4200"/>
              </a:lnSpc>
              <a:spcBef>
                <a:spcPct val="0"/>
              </a:spcBef>
            </a:pPr>
            <a:r>
              <a:rPr lang="en-US" b="true" sz="3000" spc="-69">
                <a:solidFill>
                  <a:srgbClr val="01003B"/>
                </a:solidFill>
                <a:latin typeface="Be Vietnam Ultra-Bold"/>
                <a:ea typeface="Be Vietnam Ultra-Bold"/>
                <a:cs typeface="Be Vietnam Ultra-Bold"/>
                <a:sym typeface="Be Vietnam Ultra-Bold"/>
              </a:rPr>
              <a:t>01. TAM</a:t>
            </a:r>
          </a:p>
        </p:txBody>
      </p:sp>
      <p:sp>
        <p:nvSpPr>
          <p:cNvPr name="TextBox 41" id="41"/>
          <p:cNvSpPr txBox="true"/>
          <p:nvPr/>
        </p:nvSpPr>
        <p:spPr>
          <a:xfrm rot="0">
            <a:off x="13444420" y="3180089"/>
            <a:ext cx="3737965" cy="523875"/>
          </a:xfrm>
          <a:prstGeom prst="rect">
            <a:avLst/>
          </a:prstGeom>
        </p:spPr>
        <p:txBody>
          <a:bodyPr anchor="t" rtlCol="false" tIns="0" lIns="0" bIns="0" rIns="0">
            <a:spAutoFit/>
          </a:bodyPr>
          <a:lstStyle/>
          <a:p>
            <a:pPr algn="l">
              <a:lnSpc>
                <a:spcPts val="4200"/>
              </a:lnSpc>
              <a:spcBef>
                <a:spcPct val="0"/>
              </a:spcBef>
            </a:pPr>
            <a:r>
              <a:rPr lang="en-US" b="true" sz="3000" spc="-69">
                <a:solidFill>
                  <a:srgbClr val="01003B"/>
                </a:solidFill>
                <a:latin typeface="Be Vietnam Ultra-Bold"/>
                <a:ea typeface="Be Vietnam Ultra-Bold"/>
                <a:cs typeface="Be Vietnam Ultra-Bold"/>
                <a:sym typeface="Be Vietnam Ultra-Bold"/>
              </a:rPr>
              <a:t>SOM</a:t>
            </a:r>
          </a:p>
        </p:txBody>
      </p:sp>
      <p:sp>
        <p:nvSpPr>
          <p:cNvPr name="TextBox 42" id="42"/>
          <p:cNvSpPr txBox="true"/>
          <p:nvPr/>
        </p:nvSpPr>
        <p:spPr>
          <a:xfrm rot="0">
            <a:off x="13508951" y="6360296"/>
            <a:ext cx="3673434" cy="523875"/>
          </a:xfrm>
          <a:prstGeom prst="rect">
            <a:avLst/>
          </a:prstGeom>
        </p:spPr>
        <p:txBody>
          <a:bodyPr anchor="t" rtlCol="false" tIns="0" lIns="0" bIns="0" rIns="0">
            <a:spAutoFit/>
          </a:bodyPr>
          <a:lstStyle/>
          <a:p>
            <a:pPr algn="l">
              <a:lnSpc>
                <a:spcPts val="4200"/>
              </a:lnSpc>
              <a:spcBef>
                <a:spcPct val="0"/>
              </a:spcBef>
            </a:pPr>
            <a:r>
              <a:rPr lang="en-US" b="true" sz="3000" spc="-69">
                <a:solidFill>
                  <a:srgbClr val="01003B"/>
                </a:solidFill>
                <a:latin typeface="Be Vietnam Ultra-Bold"/>
                <a:ea typeface="Be Vietnam Ultra-Bold"/>
                <a:cs typeface="Be Vietnam Ultra-Bold"/>
                <a:sym typeface="Be Vietnam Ultra-Bold"/>
              </a:rPr>
              <a:t>04. Timeline</a:t>
            </a:r>
          </a:p>
        </p:txBody>
      </p:sp>
      <p:sp>
        <p:nvSpPr>
          <p:cNvPr name="TextBox 43" id="43"/>
          <p:cNvSpPr txBox="true"/>
          <p:nvPr/>
        </p:nvSpPr>
        <p:spPr>
          <a:xfrm rot="0">
            <a:off x="1767160" y="5903096"/>
            <a:ext cx="3358950" cy="523875"/>
          </a:xfrm>
          <a:prstGeom prst="rect">
            <a:avLst/>
          </a:prstGeom>
        </p:spPr>
        <p:txBody>
          <a:bodyPr anchor="t" rtlCol="false" tIns="0" lIns="0" bIns="0" rIns="0">
            <a:spAutoFit/>
          </a:bodyPr>
          <a:lstStyle/>
          <a:p>
            <a:pPr algn="l">
              <a:lnSpc>
                <a:spcPts val="4200"/>
              </a:lnSpc>
              <a:spcBef>
                <a:spcPct val="0"/>
              </a:spcBef>
            </a:pPr>
            <a:r>
              <a:rPr lang="en-US" b="true" sz="3000" spc="-69">
                <a:solidFill>
                  <a:srgbClr val="01003B"/>
                </a:solidFill>
                <a:latin typeface="Be Vietnam Ultra-Bold"/>
                <a:ea typeface="Be Vietnam Ultra-Bold"/>
                <a:cs typeface="Be Vietnam Ultra-Bold"/>
                <a:sym typeface="Be Vietnam Ultra-Bold"/>
              </a:rPr>
              <a:t>02. SAM</a:t>
            </a:r>
          </a:p>
        </p:txBody>
      </p:sp>
      <p:sp>
        <p:nvSpPr>
          <p:cNvPr name="TextBox 44" id="44"/>
          <p:cNvSpPr txBox="true"/>
          <p:nvPr/>
        </p:nvSpPr>
        <p:spPr>
          <a:xfrm rot="0">
            <a:off x="1980415" y="3876540"/>
            <a:ext cx="2140636" cy="1106678"/>
          </a:xfrm>
          <a:prstGeom prst="rect">
            <a:avLst/>
          </a:prstGeom>
        </p:spPr>
        <p:txBody>
          <a:bodyPr anchor="t" rtlCol="false" tIns="0" lIns="0" bIns="0" rIns="0">
            <a:spAutoFit/>
          </a:bodyPr>
          <a:lstStyle/>
          <a:p>
            <a:pPr algn="l">
              <a:lnSpc>
                <a:spcPts val="2925"/>
              </a:lnSpc>
            </a:pPr>
            <a:r>
              <a:rPr lang="en-US" sz="2199" b="true">
                <a:solidFill>
                  <a:srgbClr val="01003B"/>
                </a:solidFill>
                <a:latin typeface="Be Vietnam Ultra-Bold"/>
                <a:ea typeface="Be Vietnam Ultra-Bold"/>
                <a:cs typeface="Be Vietnam Ultra-Bold"/>
                <a:sym typeface="Be Vietnam Ultra-Bold"/>
              </a:rPr>
              <a:t>US</a:t>
            </a:r>
            <a:r>
              <a:rPr lang="en-US" b="true" sz="2199">
                <a:solidFill>
                  <a:srgbClr val="01003B"/>
                </a:solidFill>
                <a:latin typeface="Be Vietnam Ultra-Bold"/>
                <a:ea typeface="Be Vietnam Ultra-Bold"/>
                <a:cs typeface="Be Vietnam Ultra-Bold"/>
                <a:sym typeface="Be Vietnam Ultra-Bold"/>
              </a:rPr>
              <a:t> $161B </a:t>
            </a:r>
            <a:r>
              <a:rPr lang="en-US" sz="2199">
                <a:solidFill>
                  <a:srgbClr val="01003B"/>
                </a:solidFill>
                <a:latin typeface="Be Vietnam"/>
                <a:ea typeface="Be Vietnam"/>
                <a:cs typeface="Be Vietnam"/>
                <a:sym typeface="Be Vietnam"/>
              </a:rPr>
              <a:t>spent in 2024. [1]</a:t>
            </a:r>
          </a:p>
          <a:p>
            <a:pPr algn="l">
              <a:lnSpc>
                <a:spcPts val="2925"/>
              </a:lnSpc>
            </a:pPr>
          </a:p>
        </p:txBody>
      </p:sp>
      <p:sp>
        <p:nvSpPr>
          <p:cNvPr name="TextBox 45" id="45"/>
          <p:cNvSpPr txBox="true"/>
          <p:nvPr/>
        </p:nvSpPr>
        <p:spPr>
          <a:xfrm rot="0">
            <a:off x="1107278" y="6978249"/>
            <a:ext cx="4162518" cy="2221103"/>
          </a:xfrm>
          <a:prstGeom prst="rect">
            <a:avLst/>
          </a:prstGeom>
        </p:spPr>
        <p:txBody>
          <a:bodyPr anchor="t" rtlCol="false" tIns="0" lIns="0" bIns="0" rIns="0">
            <a:spAutoFit/>
          </a:bodyPr>
          <a:lstStyle/>
          <a:p>
            <a:pPr algn="l">
              <a:lnSpc>
                <a:spcPts val="2925"/>
              </a:lnSpc>
            </a:pPr>
            <a:r>
              <a:rPr lang="en-US" sz="2199" b="true">
                <a:solidFill>
                  <a:srgbClr val="01003B"/>
                </a:solidFill>
                <a:latin typeface="Be Vietnam Ultra-Bold"/>
                <a:ea typeface="Be Vietnam Ultra-Bold"/>
                <a:cs typeface="Be Vietnam Ultra-Bold"/>
                <a:sym typeface="Be Vietnam Ultra-Bold"/>
              </a:rPr>
              <a:t>Telemedicine:  $ 1.98B - 100 companies [2]</a:t>
            </a:r>
          </a:p>
          <a:p>
            <a:pPr algn="l">
              <a:lnSpc>
                <a:spcPts val="2925"/>
              </a:lnSpc>
            </a:pPr>
          </a:p>
          <a:p>
            <a:pPr algn="l">
              <a:lnSpc>
                <a:spcPts val="2925"/>
              </a:lnSpc>
            </a:pPr>
            <a:r>
              <a:rPr lang="en-US" b="true" sz="2199">
                <a:solidFill>
                  <a:srgbClr val="01003B"/>
                </a:solidFill>
                <a:latin typeface="Be Vietnam Ultra-Bold"/>
                <a:ea typeface="Be Vietnam Ultra-Bold"/>
                <a:cs typeface="Be Vietnam Ultra-Bold"/>
                <a:sym typeface="Be Vietnam Ultra-Bold"/>
              </a:rPr>
              <a:t>Healthcare clinics: 6000 [3]</a:t>
            </a:r>
          </a:p>
          <a:p>
            <a:pPr algn="l">
              <a:lnSpc>
                <a:spcPts val="2925"/>
              </a:lnSpc>
            </a:pPr>
          </a:p>
          <a:p>
            <a:pPr algn="l">
              <a:lnSpc>
                <a:spcPts val="2925"/>
              </a:lnSpc>
            </a:pPr>
            <a:r>
              <a:rPr lang="en-US" b="true" sz="2199">
                <a:solidFill>
                  <a:srgbClr val="01003B"/>
                </a:solidFill>
                <a:latin typeface="Be Vietnam Ultra-Bold"/>
                <a:ea typeface="Be Vietnam Ultra-Bold"/>
                <a:cs typeface="Be Vietnam Ultra-Bold"/>
                <a:sym typeface="Be Vietnam Ultra-Bold"/>
              </a:rPr>
              <a:t>Physicians: 500.000 [4]</a:t>
            </a:r>
          </a:p>
        </p:txBody>
      </p:sp>
      <p:sp>
        <p:nvSpPr>
          <p:cNvPr name="TextBox 46" id="46"/>
          <p:cNvSpPr txBox="true"/>
          <p:nvPr/>
        </p:nvSpPr>
        <p:spPr>
          <a:xfrm rot="0">
            <a:off x="13444420" y="4236119"/>
            <a:ext cx="2550723" cy="875157"/>
          </a:xfrm>
          <a:prstGeom prst="rect">
            <a:avLst/>
          </a:prstGeom>
        </p:spPr>
        <p:txBody>
          <a:bodyPr anchor="t" rtlCol="false" tIns="0" lIns="0" bIns="0" rIns="0">
            <a:spAutoFit/>
          </a:bodyPr>
          <a:lstStyle/>
          <a:p>
            <a:pPr algn="l">
              <a:lnSpc>
                <a:spcPts val="2394"/>
              </a:lnSpc>
            </a:pPr>
            <a:r>
              <a:rPr lang="en-US" sz="1800">
                <a:solidFill>
                  <a:srgbClr val="01003B"/>
                </a:solidFill>
                <a:latin typeface="Be Vietnam"/>
                <a:ea typeface="Be Vietnam"/>
                <a:cs typeface="Be Vietnam"/>
                <a:sym typeface="Be Vietnam"/>
              </a:rPr>
              <a:t>&lt; 5% in small cities</a:t>
            </a:r>
          </a:p>
          <a:p>
            <a:pPr algn="l">
              <a:lnSpc>
                <a:spcPts val="2394"/>
              </a:lnSpc>
            </a:pPr>
          </a:p>
          <a:p>
            <a:pPr algn="l">
              <a:lnSpc>
                <a:spcPts val="2394"/>
              </a:lnSpc>
            </a:pPr>
            <a:r>
              <a:rPr lang="en-US" sz="1800">
                <a:solidFill>
                  <a:srgbClr val="01003B"/>
                </a:solidFill>
                <a:latin typeface="Be Vietnam"/>
                <a:ea typeface="Be Vietnam"/>
                <a:cs typeface="Be Vietnam"/>
                <a:sym typeface="Be Vietnam"/>
              </a:rPr>
              <a:t>20-30% in big cities [6]</a:t>
            </a:r>
          </a:p>
        </p:txBody>
      </p:sp>
      <p:sp>
        <p:nvSpPr>
          <p:cNvPr name="TextBox 47" id="47"/>
          <p:cNvSpPr txBox="true"/>
          <p:nvPr/>
        </p:nvSpPr>
        <p:spPr>
          <a:xfrm rot="0">
            <a:off x="13615028" y="7254545"/>
            <a:ext cx="3388225" cy="1106678"/>
          </a:xfrm>
          <a:prstGeom prst="rect">
            <a:avLst/>
          </a:prstGeom>
        </p:spPr>
        <p:txBody>
          <a:bodyPr anchor="t" rtlCol="false" tIns="0" lIns="0" bIns="0" rIns="0">
            <a:spAutoFit/>
          </a:bodyPr>
          <a:lstStyle/>
          <a:p>
            <a:pPr algn="l">
              <a:lnSpc>
                <a:spcPts val="2925"/>
              </a:lnSpc>
            </a:pPr>
            <a:r>
              <a:rPr lang="en-US" sz="2199">
                <a:solidFill>
                  <a:srgbClr val="01003B"/>
                </a:solidFill>
                <a:latin typeface="Be Vietnam"/>
                <a:ea typeface="Be Vietnam"/>
                <a:cs typeface="Be Vietnam"/>
                <a:sym typeface="Be Vietnam"/>
              </a:rPr>
              <a:t>Telemedicine expected CAGR (5 years ): </a:t>
            </a:r>
            <a:r>
              <a:rPr lang="en-US" sz="2199" b="true">
                <a:solidFill>
                  <a:srgbClr val="01003B"/>
                </a:solidFill>
                <a:latin typeface="Be Vietnam Ultra-Bold"/>
                <a:ea typeface="Be Vietnam Ultra-Bold"/>
                <a:cs typeface="Be Vietnam Ultra-Bold"/>
                <a:sym typeface="Be Vietnam Ultra-Bold"/>
              </a:rPr>
              <a:t>19.3% [5]</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3"/>
            <a:stretch>
              <a:fillRect l="-9222" t="-4461" r="-20094" b="-4717"/>
            </a:stretch>
          </a:blipFill>
        </p:spPr>
      </p:sp>
      <p:sp>
        <p:nvSpPr>
          <p:cNvPr name="TextBox 3" id="3"/>
          <p:cNvSpPr txBox="true"/>
          <p:nvPr/>
        </p:nvSpPr>
        <p:spPr>
          <a:xfrm rot="0">
            <a:off x="4064225" y="799754"/>
            <a:ext cx="10505888" cy="1076325"/>
          </a:xfrm>
          <a:prstGeom prst="rect">
            <a:avLst/>
          </a:prstGeom>
        </p:spPr>
        <p:txBody>
          <a:bodyPr anchor="t" rtlCol="false" tIns="0" lIns="0" bIns="0" rIns="0">
            <a:spAutoFit/>
          </a:bodyPr>
          <a:lstStyle/>
          <a:p>
            <a:pPr algn="ctr">
              <a:lnSpc>
                <a:spcPts val="8400"/>
              </a:lnSpc>
            </a:pPr>
            <a:r>
              <a:rPr lang="en-US" b="true" sz="7000">
                <a:solidFill>
                  <a:srgbClr val="01003B"/>
                </a:solidFill>
                <a:latin typeface="Be Vietnam Ultra-Bold"/>
                <a:ea typeface="Be Vietnam Ultra-Bold"/>
                <a:cs typeface="Be Vietnam Ultra-Bold"/>
                <a:sym typeface="Be Vietnam Ultra-Bold"/>
              </a:rPr>
              <a:t>PRICING</a:t>
            </a:r>
          </a:p>
        </p:txBody>
      </p:sp>
      <p:graphicFrame>
        <p:nvGraphicFramePr>
          <p:cNvPr name="Table 4" id="4"/>
          <p:cNvGraphicFramePr>
            <a:graphicFrameLocks noGrp="true"/>
          </p:cNvGraphicFramePr>
          <p:nvPr/>
        </p:nvGraphicFramePr>
        <p:xfrm>
          <a:off x="1028700" y="2643429"/>
          <a:ext cx="8621281" cy="4191000"/>
        </p:xfrm>
        <a:graphic>
          <a:graphicData uri="http://schemas.openxmlformats.org/drawingml/2006/table">
            <a:tbl>
              <a:tblPr/>
              <a:tblGrid>
                <a:gridCol w="2873760"/>
                <a:gridCol w="2873760"/>
                <a:gridCol w="2873760"/>
              </a:tblGrid>
              <a:tr h="1136057">
                <a:tc>
                  <a:txBody>
                    <a:bodyPr anchor="t" rtlCol="false"/>
                    <a:lstStyle/>
                    <a:p>
                      <a:pPr algn="ctr">
                        <a:lnSpc>
                          <a:spcPts val="4759"/>
                        </a:lnSpc>
                        <a:defRPr/>
                      </a:pPr>
                      <a:r>
                        <a:rPr lang="en-US" b="true" sz="3399">
                          <a:solidFill>
                            <a:srgbClr val="F8F8F8"/>
                          </a:solidFill>
                          <a:latin typeface="Be Vietnam Ultra-Bold"/>
                          <a:ea typeface="Be Vietnam Ultra-Bold"/>
                          <a:cs typeface="Be Vietnam Ultra-Bold"/>
                          <a:sym typeface="Be Vietnam Ultra-Bold"/>
                        </a:rPr>
                        <a:t>TIER</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33326B"/>
                    </a:solidFill>
                  </a:tcPr>
                </a:tc>
                <a:tc>
                  <a:txBody>
                    <a:bodyPr anchor="t" rtlCol="false"/>
                    <a:lstStyle/>
                    <a:p>
                      <a:pPr algn="ctr">
                        <a:lnSpc>
                          <a:spcPts val="4899"/>
                        </a:lnSpc>
                        <a:defRPr/>
                      </a:pPr>
                      <a:r>
                        <a:rPr lang="en-US" b="true" sz="3499">
                          <a:solidFill>
                            <a:srgbClr val="01003B"/>
                          </a:solidFill>
                          <a:latin typeface="Be Vietnam Ultra-Bold"/>
                          <a:ea typeface="Be Vietnam Ultra-Bold"/>
                          <a:cs typeface="Be Vietnam Ultra-Bold"/>
                          <a:sym typeface="Be Vietnam Ultra-Bold"/>
                        </a:rPr>
                        <a:t>PRICE</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48CFAE"/>
                    </a:solidFill>
                  </a:tcPr>
                </a:tc>
                <a:tc>
                  <a:txBody>
                    <a:bodyPr anchor="t" rtlCol="false"/>
                    <a:lstStyle/>
                    <a:p>
                      <a:pPr algn="ctr">
                        <a:lnSpc>
                          <a:spcPts val="4899"/>
                        </a:lnSpc>
                        <a:defRPr/>
                      </a:pPr>
                      <a:r>
                        <a:rPr lang="en-US" b="true" sz="3499">
                          <a:solidFill>
                            <a:srgbClr val="01003B"/>
                          </a:solidFill>
                          <a:latin typeface="Be Vietnam Ultra-Bold"/>
                          <a:ea typeface="Be Vietnam Ultra-Bold"/>
                          <a:cs typeface="Be Vietnam Ultra-Bold"/>
                          <a:sym typeface="Be Vietnam Ultra-Bold"/>
                        </a:rPr>
                        <a:t>INCLUDING</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48CFAE"/>
                    </a:solidFill>
                  </a:tcPr>
                </a:tc>
              </a:tr>
              <a:tr h="763736">
                <a:tc>
                  <a:txBody>
                    <a:bodyPr anchor="t" rtlCol="false"/>
                    <a:lstStyle/>
                    <a:p>
                      <a:pPr algn="l">
                        <a:lnSpc>
                          <a:spcPts val="2519"/>
                        </a:lnSpc>
                        <a:defRPr/>
                      </a:pPr>
                      <a:r>
                        <a:rPr lang="en-US" sz="1799" b="true">
                          <a:solidFill>
                            <a:srgbClr val="000000"/>
                          </a:solidFill>
                          <a:latin typeface="Arimo Bold"/>
                          <a:ea typeface="Arimo Bold"/>
                          <a:cs typeface="Arimo Bold"/>
                          <a:sym typeface="Arimo Bold"/>
                        </a:rPr>
                        <a:t>Starter</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FFFFF"/>
                    </a:solidFill>
                  </a:tcPr>
                </a:tc>
                <a:tc>
                  <a:txBody>
                    <a:bodyPr anchor="t" rtlCol="false"/>
                    <a:lstStyle/>
                    <a:p>
                      <a:pPr algn="l">
                        <a:lnSpc>
                          <a:spcPts val="2519"/>
                        </a:lnSpc>
                        <a:defRPr/>
                      </a:pPr>
                      <a:r>
                        <a:rPr lang="en-US" sz="1799">
                          <a:solidFill>
                            <a:srgbClr val="000000"/>
                          </a:solidFill>
                          <a:latin typeface="Arimo"/>
                          <a:ea typeface="Arimo"/>
                          <a:cs typeface="Arimo"/>
                          <a:sym typeface="Arimo"/>
                        </a:rPr>
                        <a:t>$50/month</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FFFFF"/>
                    </a:solidFill>
                  </a:tcPr>
                </a:tc>
                <a:tc>
                  <a:txBody>
                    <a:bodyPr anchor="t" rtlCol="false"/>
                    <a:lstStyle/>
                    <a:p>
                      <a:pPr algn="l">
                        <a:lnSpc>
                          <a:spcPts val="2519"/>
                        </a:lnSpc>
                        <a:defRPr/>
                      </a:pPr>
                      <a:r>
                        <a:rPr lang="en-US" sz="1799">
                          <a:solidFill>
                            <a:srgbClr val="000000"/>
                          </a:solidFill>
                          <a:latin typeface="Arimo"/>
                          <a:ea typeface="Arimo"/>
                          <a:cs typeface="Arimo"/>
                          <a:sym typeface="Arimo"/>
                        </a:rPr>
                        <a:t>100 patients</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FFFFF"/>
                    </a:solidFill>
                  </a:tcPr>
                </a:tc>
              </a:tr>
              <a:tr h="763736">
                <a:tc>
                  <a:txBody>
                    <a:bodyPr anchor="t" rtlCol="false"/>
                    <a:lstStyle/>
                    <a:p>
                      <a:pPr algn="l">
                        <a:lnSpc>
                          <a:spcPts val="2519"/>
                        </a:lnSpc>
                        <a:defRPr/>
                      </a:pPr>
                      <a:r>
                        <a:rPr lang="en-US" sz="1799" b="true">
                          <a:solidFill>
                            <a:srgbClr val="000000"/>
                          </a:solidFill>
                          <a:latin typeface="Arimo Bold"/>
                          <a:ea typeface="Arimo Bold"/>
                          <a:cs typeface="Arimo Bold"/>
                          <a:sym typeface="Arimo Bold"/>
                        </a:rPr>
                        <a:t>Professional</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FFFFF"/>
                    </a:solidFill>
                  </a:tcPr>
                </a:tc>
                <a:tc>
                  <a:txBody>
                    <a:bodyPr anchor="t" rtlCol="false"/>
                    <a:lstStyle/>
                    <a:p>
                      <a:pPr algn="l">
                        <a:lnSpc>
                          <a:spcPts val="2519"/>
                        </a:lnSpc>
                        <a:defRPr/>
                      </a:pPr>
                      <a:r>
                        <a:rPr lang="en-US" sz="1799">
                          <a:solidFill>
                            <a:srgbClr val="000000"/>
                          </a:solidFill>
                          <a:latin typeface="Arimo"/>
                          <a:ea typeface="Arimo"/>
                          <a:cs typeface="Arimo"/>
                          <a:sym typeface="Arimo"/>
                        </a:rPr>
                        <a:t>$150/month</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FFFFF"/>
                    </a:solidFill>
                  </a:tcPr>
                </a:tc>
                <a:tc>
                  <a:txBody>
                    <a:bodyPr anchor="t" rtlCol="false"/>
                    <a:lstStyle/>
                    <a:p>
                      <a:pPr algn="l">
                        <a:lnSpc>
                          <a:spcPts val="2519"/>
                        </a:lnSpc>
                        <a:defRPr/>
                      </a:pPr>
                      <a:r>
                        <a:rPr lang="en-US" sz="1799">
                          <a:solidFill>
                            <a:srgbClr val="000000"/>
                          </a:solidFill>
                          <a:latin typeface="Arimo"/>
                          <a:ea typeface="Arimo"/>
                          <a:cs typeface="Arimo"/>
                          <a:sym typeface="Arimo"/>
                        </a:rPr>
                        <a:t>500 patients</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FFFFF"/>
                    </a:solidFill>
                  </a:tcPr>
                </a:tc>
              </a:tr>
              <a:tr h="763736">
                <a:tc>
                  <a:txBody>
                    <a:bodyPr anchor="t" rtlCol="false"/>
                    <a:lstStyle/>
                    <a:p>
                      <a:pPr algn="l">
                        <a:lnSpc>
                          <a:spcPts val="2519"/>
                        </a:lnSpc>
                        <a:defRPr/>
                      </a:pPr>
                      <a:r>
                        <a:rPr lang="en-US" sz="1799" b="true">
                          <a:solidFill>
                            <a:srgbClr val="000000"/>
                          </a:solidFill>
                          <a:latin typeface="Arimo Bold"/>
                          <a:ea typeface="Arimo Bold"/>
                          <a:cs typeface="Arimo Bold"/>
                          <a:sym typeface="Arimo Bold"/>
                        </a:rPr>
                        <a:t>Enterprise</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FFFFF"/>
                    </a:solidFill>
                  </a:tcPr>
                </a:tc>
                <a:tc>
                  <a:txBody>
                    <a:bodyPr anchor="t" rtlCol="false"/>
                    <a:lstStyle/>
                    <a:p>
                      <a:pPr algn="l">
                        <a:lnSpc>
                          <a:spcPts val="2519"/>
                        </a:lnSpc>
                        <a:defRPr/>
                      </a:pPr>
                      <a:r>
                        <a:rPr lang="en-US" sz="1799">
                          <a:solidFill>
                            <a:srgbClr val="000000"/>
                          </a:solidFill>
                          <a:latin typeface="Arimo"/>
                          <a:ea typeface="Arimo"/>
                          <a:cs typeface="Arimo"/>
                          <a:sym typeface="Arimo"/>
                        </a:rPr>
                        <a:t>$300/month</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FFFFF"/>
                    </a:solidFill>
                  </a:tcPr>
                </a:tc>
                <a:tc>
                  <a:txBody>
                    <a:bodyPr anchor="t" rtlCol="false"/>
                    <a:lstStyle/>
                    <a:p>
                      <a:pPr algn="l">
                        <a:lnSpc>
                          <a:spcPts val="2519"/>
                        </a:lnSpc>
                        <a:defRPr/>
                      </a:pPr>
                      <a:r>
                        <a:rPr lang="en-US" sz="1799">
                          <a:solidFill>
                            <a:srgbClr val="000000"/>
                          </a:solidFill>
                          <a:latin typeface="Arimo"/>
                          <a:ea typeface="Arimo"/>
                          <a:cs typeface="Arimo"/>
                          <a:sym typeface="Arimo"/>
                        </a:rPr>
                        <a:t>Unlimited</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FFFFF"/>
                    </a:solidFill>
                  </a:tcPr>
                </a:tc>
              </a:tr>
              <a:tr h="763736">
                <a:tc>
                  <a:txBody>
                    <a:bodyPr anchor="t" rtlCol="false"/>
                    <a:lstStyle/>
                    <a:p>
                      <a:pPr algn="l">
                        <a:lnSpc>
                          <a:spcPts val="2519"/>
                        </a:lnSpc>
                        <a:defRPr/>
                      </a:pPr>
                      <a:r>
                        <a:rPr lang="en-US" sz="1799" b="true">
                          <a:solidFill>
                            <a:srgbClr val="000000"/>
                          </a:solidFill>
                          <a:latin typeface="Arimo Bold"/>
                          <a:ea typeface="Arimo Bold"/>
                          <a:cs typeface="Arimo Bold"/>
                          <a:sym typeface="Arimo Bold"/>
                        </a:rPr>
                        <a:t>Customization</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FFFFF"/>
                    </a:solidFill>
                  </a:tcPr>
                </a:tc>
                <a:tc>
                  <a:txBody>
                    <a:bodyPr anchor="t" rtlCol="false"/>
                    <a:lstStyle/>
                    <a:p>
                      <a:pPr algn="l">
                        <a:lnSpc>
                          <a:spcPts val="2519"/>
                        </a:lnSpc>
                        <a:defRPr/>
                      </a:pPr>
                      <a:r>
                        <a:rPr lang="en-US" sz="1799">
                          <a:solidFill>
                            <a:srgbClr val="000000"/>
                          </a:solidFill>
                          <a:latin typeface="Arimo"/>
                          <a:ea typeface="Arimo"/>
                          <a:cs typeface="Arimo"/>
                          <a:sym typeface="Arimo"/>
                        </a:rPr>
                        <a:t>$10K-30K fee</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FFFFF"/>
                    </a:solidFill>
                  </a:tcPr>
                </a:tc>
                <a:tc>
                  <a:txBody>
                    <a:bodyPr anchor="t" rtlCol="false"/>
                    <a:lstStyle/>
                    <a:p>
                      <a:pPr algn="l">
                        <a:lnSpc>
                          <a:spcPts val="2519"/>
                        </a:lnSpc>
                        <a:defRPr/>
                      </a:pP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FFFFF"/>
                    </a:solidFill>
                  </a:tcPr>
                </a:tc>
              </a:tr>
            </a:tbl>
          </a:graphicData>
        </a:graphic>
      </p:graphicFrame>
      <p:sp>
        <p:nvSpPr>
          <p:cNvPr name="Freeform 5" id="5"/>
          <p:cNvSpPr/>
          <p:nvPr/>
        </p:nvSpPr>
        <p:spPr>
          <a:xfrm flipH="false" flipV="false" rot="0">
            <a:off x="1039807" y="6834429"/>
            <a:ext cx="1171134" cy="1171134"/>
          </a:xfrm>
          <a:custGeom>
            <a:avLst/>
            <a:gdLst/>
            <a:ahLst/>
            <a:cxnLst/>
            <a:rect r="r" b="b" t="t" l="l"/>
            <a:pathLst>
              <a:path h="1171134" w="1171134">
                <a:moveTo>
                  <a:pt x="0" y="0"/>
                </a:moveTo>
                <a:lnTo>
                  <a:pt x="1171134" y="0"/>
                </a:lnTo>
                <a:lnTo>
                  <a:pt x="1171134" y="1171134"/>
                </a:lnTo>
                <a:lnTo>
                  <a:pt x="0" y="117113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2368912" y="7254558"/>
            <a:ext cx="6948258" cy="666502"/>
          </a:xfrm>
          <a:prstGeom prst="rect">
            <a:avLst/>
          </a:prstGeom>
        </p:spPr>
        <p:txBody>
          <a:bodyPr anchor="t" rtlCol="false" tIns="0" lIns="0" bIns="0" rIns="0">
            <a:spAutoFit/>
          </a:bodyPr>
          <a:lstStyle/>
          <a:p>
            <a:pPr algn="l">
              <a:lnSpc>
                <a:spcPts val="2638"/>
              </a:lnSpc>
            </a:pPr>
            <a:r>
              <a:rPr lang="en-US" sz="1884" i="true" spc="131">
                <a:solidFill>
                  <a:srgbClr val="393E46"/>
                </a:solidFill>
                <a:latin typeface="Glacial Indifference Italics"/>
                <a:ea typeface="Glacial Indifference Italics"/>
                <a:cs typeface="Glacial Indifference Italics"/>
                <a:sym typeface="Glacial Indifference Italics"/>
              </a:rPr>
              <a:t>Based on the average price of $3000 per month for EHR systems in Brazil.</a:t>
            </a:r>
          </a:p>
        </p:txBody>
      </p:sp>
      <p:sp>
        <p:nvSpPr>
          <p:cNvPr name="TextBox 7" id="7"/>
          <p:cNvSpPr txBox="true"/>
          <p:nvPr/>
        </p:nvSpPr>
        <p:spPr>
          <a:xfrm rot="0">
            <a:off x="6609723" y="8614566"/>
            <a:ext cx="2707446" cy="655705"/>
          </a:xfrm>
          <a:prstGeom prst="rect">
            <a:avLst/>
          </a:prstGeom>
        </p:spPr>
        <p:txBody>
          <a:bodyPr anchor="t" rtlCol="false" tIns="0" lIns="0" bIns="0" rIns="0">
            <a:spAutoFit/>
          </a:bodyPr>
          <a:lstStyle/>
          <a:p>
            <a:pPr algn="l">
              <a:lnSpc>
                <a:spcPts val="2819"/>
              </a:lnSpc>
            </a:pPr>
            <a:r>
              <a:rPr lang="en-US" sz="2014" i="true" spc="140">
                <a:solidFill>
                  <a:srgbClr val="393E46"/>
                </a:solidFill>
                <a:latin typeface="Glacial Indifference Italics"/>
                <a:ea typeface="Glacial Indifference Italics"/>
                <a:cs typeface="Glacial Indifference Italics"/>
                <a:sym typeface="Glacial Indifference Italics"/>
              </a:rPr>
              <a:t> </a:t>
            </a:r>
            <a:r>
              <a:rPr lang="en-US" b="true" sz="2014" i="true" spc="140">
                <a:solidFill>
                  <a:srgbClr val="393E46"/>
                </a:solidFill>
                <a:latin typeface="Glacial Indifference Bold Italics"/>
                <a:ea typeface="Glacial Indifference Bold Italics"/>
                <a:cs typeface="Glacial Indifference Bold Italics"/>
                <a:sym typeface="Glacial Indifference Bold Italics"/>
              </a:rPr>
              <a:t>$4.8 million/year</a:t>
            </a:r>
          </a:p>
          <a:p>
            <a:pPr algn="l">
              <a:lnSpc>
                <a:spcPts val="2547"/>
              </a:lnSpc>
            </a:pPr>
          </a:p>
        </p:txBody>
      </p:sp>
      <p:sp>
        <p:nvSpPr>
          <p:cNvPr name="Freeform 8" id="8"/>
          <p:cNvSpPr/>
          <p:nvPr/>
        </p:nvSpPr>
        <p:spPr>
          <a:xfrm flipH="false" flipV="false" rot="0">
            <a:off x="5312480" y="8005563"/>
            <a:ext cx="1171134" cy="1171134"/>
          </a:xfrm>
          <a:custGeom>
            <a:avLst/>
            <a:gdLst/>
            <a:ahLst/>
            <a:cxnLst/>
            <a:rect r="r" b="b" t="t" l="l"/>
            <a:pathLst>
              <a:path h="1171134" w="1171134">
                <a:moveTo>
                  <a:pt x="0" y="0"/>
                </a:moveTo>
                <a:lnTo>
                  <a:pt x="1171134" y="0"/>
                </a:lnTo>
                <a:lnTo>
                  <a:pt x="1171134" y="1171133"/>
                </a:lnTo>
                <a:lnTo>
                  <a:pt x="0" y="117113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pic>
        <p:nvPicPr>
          <p:cNvPr name="Picture 9" id="9"/>
          <p:cNvPicPr>
            <a:picLocks noChangeAspect="true"/>
          </p:cNvPicPr>
          <p:nvPr/>
        </p:nvPicPr>
        <p:blipFill>
          <a:blip r:embed="rId6"/>
          <a:stretch>
            <a:fillRect/>
          </a:stretch>
        </p:blipFill>
        <p:spPr>
          <a:xfrm rot="0">
            <a:off x="11899428" y="3312695"/>
            <a:ext cx="5847133" cy="5502551"/>
          </a:xfrm>
          <a:prstGeom prst="rect">
            <a:avLst/>
          </a:prstGeom>
        </p:spPr>
      </p:pic>
      <p:sp>
        <p:nvSpPr>
          <p:cNvPr name="TextBox 10" id="10"/>
          <p:cNvSpPr txBox="true"/>
          <p:nvPr/>
        </p:nvSpPr>
        <p:spPr>
          <a:xfrm rot="0">
            <a:off x="12898833" y="2562643"/>
            <a:ext cx="3572118" cy="895985"/>
          </a:xfrm>
          <a:prstGeom prst="rect">
            <a:avLst/>
          </a:prstGeom>
        </p:spPr>
        <p:txBody>
          <a:bodyPr anchor="t" rtlCol="false" tIns="0" lIns="0" bIns="0" rIns="0">
            <a:spAutoFit/>
          </a:bodyPr>
          <a:lstStyle/>
          <a:p>
            <a:pPr algn="ctr">
              <a:lnSpc>
                <a:spcPts val="3640"/>
              </a:lnSpc>
              <a:spcBef>
                <a:spcPct val="0"/>
              </a:spcBef>
            </a:pPr>
            <a:r>
              <a:rPr lang="en-US" b="true" sz="2600" spc="-59">
                <a:solidFill>
                  <a:srgbClr val="01003B"/>
                </a:solidFill>
                <a:latin typeface="Be Vietnam Ultra-Bold"/>
                <a:ea typeface="Be Vietnam Ultra-Bold"/>
                <a:cs typeface="Be Vietnam Ultra-Bold"/>
                <a:sym typeface="Be Vietnam Ultra-Bold"/>
              </a:rPr>
              <a:t>Is it feasible for you to pay?</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3"/>
            <a:stretch>
              <a:fillRect l="-9222" t="-4461" r="-20094" b="-4717"/>
            </a:stretch>
          </a:blipFill>
        </p:spPr>
      </p:sp>
      <p:sp>
        <p:nvSpPr>
          <p:cNvPr name="TextBox 3" id="3"/>
          <p:cNvSpPr txBox="true"/>
          <p:nvPr/>
        </p:nvSpPr>
        <p:spPr>
          <a:xfrm rot="0">
            <a:off x="3891056" y="610599"/>
            <a:ext cx="10505888" cy="1076325"/>
          </a:xfrm>
          <a:prstGeom prst="rect">
            <a:avLst/>
          </a:prstGeom>
        </p:spPr>
        <p:txBody>
          <a:bodyPr anchor="t" rtlCol="false" tIns="0" lIns="0" bIns="0" rIns="0">
            <a:spAutoFit/>
          </a:bodyPr>
          <a:lstStyle/>
          <a:p>
            <a:pPr algn="ctr">
              <a:lnSpc>
                <a:spcPts val="8400"/>
              </a:lnSpc>
            </a:pPr>
            <a:r>
              <a:rPr lang="en-US" b="true" sz="7000">
                <a:solidFill>
                  <a:srgbClr val="01003B"/>
                </a:solidFill>
                <a:latin typeface="Be Vietnam Ultra-Bold"/>
                <a:ea typeface="Be Vietnam Ultra-Bold"/>
                <a:cs typeface="Be Vietnam Ultra-Bold"/>
                <a:sym typeface="Be Vietnam Ultra-Bold"/>
              </a:rPr>
              <a:t>ASSOCIATED COSTS</a:t>
            </a:r>
          </a:p>
        </p:txBody>
      </p:sp>
      <p:grpSp>
        <p:nvGrpSpPr>
          <p:cNvPr name="Group 4" id="4"/>
          <p:cNvGrpSpPr/>
          <p:nvPr/>
        </p:nvGrpSpPr>
        <p:grpSpPr>
          <a:xfrm rot="-10800000">
            <a:off x="-1964784" y="5720631"/>
            <a:ext cx="21640247" cy="5734287"/>
            <a:chOff x="0" y="0"/>
            <a:chExt cx="5699489" cy="1510265"/>
          </a:xfrm>
        </p:grpSpPr>
        <p:sp>
          <p:nvSpPr>
            <p:cNvPr name="Freeform 5" id="5"/>
            <p:cNvSpPr/>
            <p:nvPr/>
          </p:nvSpPr>
          <p:spPr>
            <a:xfrm flipH="false" flipV="false" rot="0">
              <a:off x="0" y="0"/>
              <a:ext cx="5699489" cy="1510265"/>
            </a:xfrm>
            <a:custGeom>
              <a:avLst/>
              <a:gdLst/>
              <a:ahLst/>
              <a:cxnLst/>
              <a:rect r="r" b="b" t="t" l="l"/>
              <a:pathLst>
                <a:path h="1510265" w="5699489">
                  <a:moveTo>
                    <a:pt x="0" y="0"/>
                  </a:moveTo>
                  <a:lnTo>
                    <a:pt x="5699489" y="0"/>
                  </a:lnTo>
                  <a:lnTo>
                    <a:pt x="5699489" y="1510265"/>
                  </a:lnTo>
                  <a:lnTo>
                    <a:pt x="0" y="1510265"/>
                  </a:lnTo>
                  <a:close/>
                </a:path>
              </a:pathLst>
            </a:custGeom>
            <a:solidFill>
              <a:srgbClr val="195759"/>
            </a:solidFill>
          </p:spPr>
        </p:sp>
        <p:sp>
          <p:nvSpPr>
            <p:cNvPr name="TextBox 6" id="6"/>
            <p:cNvSpPr txBox="true"/>
            <p:nvPr/>
          </p:nvSpPr>
          <p:spPr>
            <a:xfrm>
              <a:off x="0" y="-47625"/>
              <a:ext cx="5699489" cy="1557890"/>
            </a:xfrm>
            <a:prstGeom prst="rect">
              <a:avLst/>
            </a:prstGeom>
          </p:spPr>
          <p:txBody>
            <a:bodyPr anchor="ctr" rtlCol="false" tIns="50800" lIns="50800" bIns="50800" rIns="50800"/>
            <a:lstStyle/>
            <a:p>
              <a:pPr algn="ctr">
                <a:lnSpc>
                  <a:spcPts val="2800"/>
                </a:lnSpc>
              </a:pPr>
            </a:p>
          </p:txBody>
        </p:sp>
      </p:grpSp>
      <p:graphicFrame>
        <p:nvGraphicFramePr>
          <p:cNvPr name="Table 7" id="7"/>
          <p:cNvGraphicFramePr>
            <a:graphicFrameLocks noGrp="true"/>
          </p:cNvGraphicFramePr>
          <p:nvPr/>
        </p:nvGraphicFramePr>
        <p:xfrm>
          <a:off x="1028700" y="2556209"/>
          <a:ext cx="16202025" cy="6153031"/>
        </p:xfrm>
        <a:graphic>
          <a:graphicData uri="http://schemas.openxmlformats.org/drawingml/2006/table">
            <a:tbl>
              <a:tblPr/>
              <a:tblGrid>
                <a:gridCol w="8101012"/>
                <a:gridCol w="8101012"/>
              </a:tblGrid>
              <a:tr h="1253204">
                <a:tc>
                  <a:txBody>
                    <a:bodyPr anchor="t" rtlCol="false"/>
                    <a:lstStyle/>
                    <a:p>
                      <a:pPr algn="ctr">
                        <a:lnSpc>
                          <a:spcPts val="4759"/>
                        </a:lnSpc>
                        <a:defRPr/>
                      </a:pPr>
                      <a:r>
                        <a:rPr lang="en-US" b="true" sz="3399">
                          <a:solidFill>
                            <a:srgbClr val="F8F8F8"/>
                          </a:solidFill>
                          <a:latin typeface="Be Vietnam Ultra-Bold"/>
                          <a:ea typeface="Be Vietnam Ultra-Bold"/>
                          <a:cs typeface="Be Vietnam Ultra-Bold"/>
                          <a:sym typeface="Be Vietnam Ultra-Bold"/>
                        </a:rPr>
                        <a:t>AREA</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33326B"/>
                    </a:solidFill>
                  </a:tcPr>
                </a:tc>
                <a:tc>
                  <a:txBody>
                    <a:bodyPr anchor="t" rtlCol="false"/>
                    <a:lstStyle/>
                    <a:p>
                      <a:pPr algn="ctr">
                        <a:lnSpc>
                          <a:spcPts val="4899"/>
                        </a:lnSpc>
                        <a:defRPr/>
                      </a:pPr>
                      <a:r>
                        <a:rPr lang="en-US" b="true" sz="3499">
                          <a:solidFill>
                            <a:srgbClr val="01003B"/>
                          </a:solidFill>
                          <a:latin typeface="Be Vietnam Ultra-Bold"/>
                          <a:ea typeface="Be Vietnam Ultra-Bold"/>
                          <a:cs typeface="Be Vietnam Ultra-Bold"/>
                          <a:sym typeface="Be Vietnam Ultra-Bold"/>
                        </a:rPr>
                        <a:t>SUBTOTAL</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48CFAE"/>
                    </a:solidFill>
                  </a:tcPr>
                </a:tc>
              </a:tr>
              <a:tr h="979965">
                <a:tc>
                  <a:txBody>
                    <a:bodyPr anchor="t" rtlCol="false"/>
                    <a:lstStyle/>
                    <a:p>
                      <a:pPr algn="ctr">
                        <a:lnSpc>
                          <a:spcPts val="2659"/>
                        </a:lnSpc>
                        <a:defRPr/>
                      </a:pPr>
                      <a:r>
                        <a:rPr lang="en-US" sz="1899">
                          <a:solidFill>
                            <a:srgbClr val="01003B"/>
                          </a:solidFill>
                          <a:latin typeface="Be Vietnam"/>
                          <a:ea typeface="Be Vietnam"/>
                          <a:cs typeface="Be Vietnam"/>
                          <a:sym typeface="Be Vietnam"/>
                        </a:rPr>
                        <a:t>Infrastructure</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FFFFF"/>
                    </a:solidFill>
                  </a:tcPr>
                </a:tc>
                <a:tc>
                  <a:txBody>
                    <a:bodyPr anchor="t" rtlCol="false"/>
                    <a:lstStyle/>
                    <a:p>
                      <a:pPr algn="ctr">
                        <a:lnSpc>
                          <a:spcPts val="2659"/>
                        </a:lnSpc>
                        <a:defRPr/>
                      </a:pPr>
                      <a:r>
                        <a:rPr lang="en-US" sz="1899">
                          <a:solidFill>
                            <a:srgbClr val="01003B"/>
                          </a:solidFill>
                          <a:latin typeface="Be Vietnam"/>
                          <a:ea typeface="Be Vietnam"/>
                          <a:cs typeface="Be Vietnam"/>
                          <a:sym typeface="Be Vietnam"/>
                        </a:rPr>
                        <a:t>$18,588</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FFFFF"/>
                    </a:solidFill>
                  </a:tcPr>
                </a:tc>
              </a:tr>
              <a:tr h="979965">
                <a:tc>
                  <a:txBody>
                    <a:bodyPr anchor="t" rtlCol="false"/>
                    <a:lstStyle/>
                    <a:p>
                      <a:pPr algn="ctr">
                        <a:lnSpc>
                          <a:spcPts val="2659"/>
                        </a:lnSpc>
                        <a:defRPr/>
                      </a:pPr>
                      <a:r>
                        <a:rPr lang="en-US" sz="1899">
                          <a:solidFill>
                            <a:srgbClr val="01003B"/>
                          </a:solidFill>
                          <a:latin typeface="Be Vietnam"/>
                          <a:ea typeface="Be Vietnam"/>
                          <a:cs typeface="Be Vietnam"/>
                          <a:sym typeface="Be Vietnam"/>
                        </a:rPr>
                        <a:t>Employee</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FFFFF"/>
                    </a:solidFill>
                  </a:tcPr>
                </a:tc>
                <a:tc>
                  <a:txBody>
                    <a:bodyPr anchor="t" rtlCol="false"/>
                    <a:lstStyle/>
                    <a:p>
                      <a:pPr algn="ctr">
                        <a:lnSpc>
                          <a:spcPts val="2659"/>
                        </a:lnSpc>
                        <a:defRPr/>
                      </a:pPr>
                      <a:r>
                        <a:rPr lang="en-US" sz="1899">
                          <a:solidFill>
                            <a:srgbClr val="01003B"/>
                          </a:solidFill>
                          <a:latin typeface="Be Vietnam"/>
                          <a:ea typeface="Be Vietnam"/>
                          <a:cs typeface="Be Vietnam"/>
                          <a:sym typeface="Be Vietnam"/>
                        </a:rPr>
                        <a:t>$682,500</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FFFFF"/>
                    </a:solidFill>
                  </a:tcPr>
                </a:tc>
              </a:tr>
              <a:tr h="979965">
                <a:tc>
                  <a:txBody>
                    <a:bodyPr anchor="t" rtlCol="false"/>
                    <a:lstStyle/>
                    <a:p>
                      <a:pPr algn="ctr">
                        <a:lnSpc>
                          <a:spcPts val="2659"/>
                        </a:lnSpc>
                        <a:defRPr/>
                      </a:pPr>
                      <a:r>
                        <a:rPr lang="en-US" sz="1899">
                          <a:solidFill>
                            <a:srgbClr val="01003B"/>
                          </a:solidFill>
                          <a:latin typeface="Be Vietnam"/>
                          <a:ea typeface="Be Vietnam"/>
                          <a:cs typeface="Be Vietnam"/>
                          <a:sym typeface="Be Vietnam"/>
                        </a:rPr>
                        <a:t>Marketing</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FFFFF"/>
                    </a:solidFill>
                  </a:tcPr>
                </a:tc>
                <a:tc>
                  <a:txBody>
                    <a:bodyPr anchor="t" rtlCol="false"/>
                    <a:lstStyle/>
                    <a:p>
                      <a:pPr algn="ctr">
                        <a:lnSpc>
                          <a:spcPts val="2659"/>
                        </a:lnSpc>
                        <a:defRPr/>
                      </a:pPr>
                      <a:r>
                        <a:rPr lang="en-US" sz="1899">
                          <a:solidFill>
                            <a:srgbClr val="01003B"/>
                          </a:solidFill>
                          <a:latin typeface="Be Vietnam"/>
                          <a:ea typeface="Be Vietnam"/>
                          <a:cs typeface="Be Vietnam"/>
                          <a:sym typeface="Be Vietnam"/>
                        </a:rPr>
                        <a:t>$94,000</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FFFFF"/>
                    </a:solidFill>
                  </a:tcPr>
                </a:tc>
              </a:tr>
              <a:tr h="979965">
                <a:tc>
                  <a:txBody>
                    <a:bodyPr anchor="t" rtlCol="false"/>
                    <a:lstStyle/>
                    <a:p>
                      <a:pPr algn="ctr">
                        <a:lnSpc>
                          <a:spcPts val="2659"/>
                        </a:lnSpc>
                        <a:defRPr/>
                      </a:pPr>
                      <a:r>
                        <a:rPr lang="en-US" sz="1899">
                          <a:solidFill>
                            <a:srgbClr val="01003B"/>
                          </a:solidFill>
                          <a:latin typeface="Be Vietnam"/>
                          <a:ea typeface="Be Vietnam"/>
                          <a:cs typeface="Be Vietnam"/>
                          <a:sym typeface="Be Vietnam"/>
                        </a:rPr>
                        <a:t>Consulting</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FFFFF"/>
                    </a:solidFill>
                  </a:tcPr>
                </a:tc>
                <a:tc>
                  <a:txBody>
                    <a:bodyPr anchor="t" rtlCol="false"/>
                    <a:lstStyle/>
                    <a:p>
                      <a:pPr algn="ctr">
                        <a:lnSpc>
                          <a:spcPts val="2659"/>
                        </a:lnSpc>
                        <a:defRPr/>
                      </a:pPr>
                      <a:r>
                        <a:rPr lang="en-US" sz="1899">
                          <a:solidFill>
                            <a:srgbClr val="01003B"/>
                          </a:solidFill>
                          <a:latin typeface="Be Vietnam"/>
                          <a:ea typeface="Be Vietnam"/>
                          <a:cs typeface="Be Vietnam"/>
                          <a:sym typeface="Be Vietnam"/>
                        </a:rPr>
                        <a:t>$20,000</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FFFFF"/>
                    </a:solidFill>
                  </a:tcPr>
                </a:tc>
              </a:tr>
              <a:tr h="979965">
                <a:tc>
                  <a:txBody>
                    <a:bodyPr anchor="t" rtlCol="false"/>
                    <a:lstStyle/>
                    <a:p>
                      <a:pPr algn="ctr">
                        <a:lnSpc>
                          <a:spcPts val="2659"/>
                        </a:lnSpc>
                        <a:defRPr/>
                      </a:pPr>
                      <a:r>
                        <a:rPr lang="en-US" sz="1899" b="true">
                          <a:solidFill>
                            <a:srgbClr val="01003B"/>
                          </a:solidFill>
                          <a:latin typeface="Be Vietnam Ultra-Bold"/>
                          <a:ea typeface="Be Vietnam Ultra-Bold"/>
                          <a:cs typeface="Be Vietnam Ultra-Bold"/>
                          <a:sym typeface="Be Vietnam Ultra-Bold"/>
                        </a:rPr>
                        <a:t>TOTAL</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FFFFF"/>
                    </a:solidFill>
                  </a:tcPr>
                </a:tc>
                <a:tc>
                  <a:txBody>
                    <a:bodyPr anchor="t" rtlCol="false"/>
                    <a:lstStyle/>
                    <a:p>
                      <a:pPr algn="ctr">
                        <a:lnSpc>
                          <a:spcPts val="2659"/>
                        </a:lnSpc>
                        <a:defRPr/>
                      </a:pPr>
                      <a:r>
                        <a:rPr lang="en-US" sz="1899">
                          <a:solidFill>
                            <a:srgbClr val="01003B"/>
                          </a:solidFill>
                          <a:latin typeface="Be Vietnam"/>
                          <a:ea typeface="Be Vietnam"/>
                          <a:cs typeface="Be Vietnam"/>
                          <a:sym typeface="Be Vietnam"/>
                        </a:rPr>
                        <a:t>$815,088</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FFFFF"/>
                    </a:solidFill>
                  </a:tcPr>
                </a:tc>
              </a:tr>
            </a:tbl>
          </a:graphicData>
        </a:graphic>
      </p:graphicFrame>
      <p:sp>
        <p:nvSpPr>
          <p:cNvPr name="TextBox 8" id="8"/>
          <p:cNvSpPr txBox="true"/>
          <p:nvPr/>
        </p:nvSpPr>
        <p:spPr>
          <a:xfrm rot="0">
            <a:off x="13754403" y="942975"/>
            <a:ext cx="2435870" cy="705486"/>
          </a:xfrm>
          <a:prstGeom prst="rect">
            <a:avLst/>
          </a:prstGeom>
        </p:spPr>
        <p:txBody>
          <a:bodyPr anchor="t" rtlCol="false" tIns="0" lIns="0" bIns="0" rIns="0">
            <a:spAutoFit/>
          </a:bodyPr>
          <a:lstStyle/>
          <a:p>
            <a:pPr algn="ctr">
              <a:lnSpc>
                <a:spcPts val="5739"/>
              </a:lnSpc>
              <a:spcBef>
                <a:spcPct val="0"/>
              </a:spcBef>
            </a:pPr>
            <a:r>
              <a:rPr lang="en-US" sz="4099">
                <a:solidFill>
                  <a:srgbClr val="01003B"/>
                </a:solidFill>
                <a:latin typeface="Trocchi"/>
                <a:ea typeface="Trocchi"/>
                <a:cs typeface="Trocchi"/>
                <a:sym typeface="Trocchi"/>
              </a:rPr>
              <a:t>Annually</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3"/>
            <a:stretch>
              <a:fillRect l="-9222" t="-4461" r="-20094" b="-4717"/>
            </a:stretch>
          </a:blipFill>
        </p:spPr>
      </p:sp>
      <p:sp>
        <p:nvSpPr>
          <p:cNvPr name="TextBox 3" id="3"/>
          <p:cNvSpPr txBox="true"/>
          <p:nvPr/>
        </p:nvSpPr>
        <p:spPr>
          <a:xfrm rot="0">
            <a:off x="2785228" y="130437"/>
            <a:ext cx="12382886" cy="2143125"/>
          </a:xfrm>
          <a:prstGeom prst="rect">
            <a:avLst/>
          </a:prstGeom>
        </p:spPr>
        <p:txBody>
          <a:bodyPr anchor="t" rtlCol="false" tIns="0" lIns="0" bIns="0" rIns="0">
            <a:spAutoFit/>
          </a:bodyPr>
          <a:lstStyle/>
          <a:p>
            <a:pPr algn="ctr">
              <a:lnSpc>
                <a:spcPts val="8400"/>
              </a:lnSpc>
            </a:pPr>
            <a:r>
              <a:rPr lang="en-US" b="true" sz="7000">
                <a:solidFill>
                  <a:srgbClr val="01003B"/>
                </a:solidFill>
                <a:latin typeface="Be Vietnam Ultra-Bold"/>
                <a:ea typeface="Be Vietnam Ultra-Bold"/>
                <a:cs typeface="Be Vietnam Ultra-Bold"/>
                <a:sym typeface="Be Vietnam Ultra-Bold"/>
              </a:rPr>
              <a:t>HOW CAN WE REALLY JOIN THE MARKET?</a:t>
            </a:r>
          </a:p>
        </p:txBody>
      </p:sp>
      <p:graphicFrame>
        <p:nvGraphicFramePr>
          <p:cNvPr name="Table 4" id="4"/>
          <p:cNvGraphicFramePr>
            <a:graphicFrameLocks noGrp="true"/>
          </p:cNvGraphicFramePr>
          <p:nvPr/>
        </p:nvGraphicFramePr>
        <p:xfrm>
          <a:off x="1028700" y="4142200"/>
          <a:ext cx="16202025" cy="3508689"/>
        </p:xfrm>
        <a:graphic>
          <a:graphicData uri="http://schemas.openxmlformats.org/drawingml/2006/table">
            <a:tbl>
              <a:tblPr/>
              <a:tblGrid>
                <a:gridCol w="8101012"/>
                <a:gridCol w="8101012"/>
              </a:tblGrid>
              <a:tr h="1254670">
                <a:tc>
                  <a:txBody>
                    <a:bodyPr anchor="t" rtlCol="false"/>
                    <a:lstStyle/>
                    <a:p>
                      <a:pPr algn="ctr">
                        <a:lnSpc>
                          <a:spcPts val="4759"/>
                        </a:lnSpc>
                        <a:defRPr/>
                      </a:pPr>
                      <a:r>
                        <a:rPr lang="en-US" b="true" sz="3399">
                          <a:solidFill>
                            <a:srgbClr val="F8F8F8"/>
                          </a:solidFill>
                          <a:latin typeface="Be Vietnam Ultra-Bold"/>
                          <a:ea typeface="Be Vietnam Ultra-Bold"/>
                          <a:cs typeface="Be Vietnam Ultra-Bold"/>
                          <a:sym typeface="Be Vietnam Ultra-Bold"/>
                        </a:rPr>
                        <a:t>AREA</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33326B"/>
                    </a:solidFill>
                  </a:tcPr>
                </a:tc>
                <a:tc>
                  <a:txBody>
                    <a:bodyPr anchor="t" rtlCol="false"/>
                    <a:lstStyle/>
                    <a:p>
                      <a:pPr algn="ctr">
                        <a:lnSpc>
                          <a:spcPts val="4899"/>
                        </a:lnSpc>
                        <a:defRPr/>
                      </a:pPr>
                      <a:r>
                        <a:rPr lang="en-US" b="true" sz="3499">
                          <a:solidFill>
                            <a:srgbClr val="01003B"/>
                          </a:solidFill>
                          <a:latin typeface="Be Vietnam Ultra-Bold"/>
                          <a:ea typeface="Be Vietnam Ultra-Bold"/>
                          <a:cs typeface="Be Vietnam Ultra-Bold"/>
                          <a:sym typeface="Be Vietnam Ultra-Bold"/>
                        </a:rPr>
                        <a:t>MAJOR PLAYERS</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48CFAE"/>
                    </a:solidFill>
                  </a:tcPr>
                </a:tc>
              </a:tr>
              <a:tr h="1461292">
                <a:tc>
                  <a:txBody>
                    <a:bodyPr anchor="t" rtlCol="false"/>
                    <a:lstStyle/>
                    <a:p>
                      <a:pPr algn="ctr">
                        <a:lnSpc>
                          <a:spcPts val="2659"/>
                        </a:lnSpc>
                        <a:defRPr/>
                      </a:pPr>
                      <a:r>
                        <a:rPr lang="en-US" sz="1899">
                          <a:solidFill>
                            <a:srgbClr val="01003B"/>
                          </a:solidFill>
                          <a:latin typeface="Be Vietnam"/>
                          <a:ea typeface="Be Vietnam"/>
                          <a:cs typeface="Be Vietnam"/>
                          <a:sym typeface="Be Vietnam"/>
                        </a:rPr>
                        <a:t>EHR Systems (Our biggest Focus)</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FFFFF"/>
                    </a:solidFill>
                  </a:tcPr>
                </a:tc>
                <a:tc>
                  <a:txBody>
                    <a:bodyPr anchor="t" rtlCol="false"/>
                    <a:lstStyle/>
                    <a:p>
                      <a:pPr algn="ctr">
                        <a:lnSpc>
                          <a:spcPts val="2659"/>
                        </a:lnSpc>
                        <a:defRPr/>
                      </a:pPr>
                      <a:r>
                        <a:rPr lang="en-US" sz="1899">
                          <a:solidFill>
                            <a:srgbClr val="01003B"/>
                          </a:solidFill>
                          <a:latin typeface="Be Vietnam"/>
                          <a:ea typeface="Be Vietnam"/>
                          <a:cs typeface="Be Vietnam"/>
                          <a:sym typeface="Be Vietnam"/>
                        </a:rPr>
                        <a:t>MEMED</a:t>
                      </a:r>
                      <a:endParaRPr lang="en-US" sz="1100"/>
                    </a:p>
                    <a:p>
                      <a:pPr algn="ctr">
                        <a:lnSpc>
                          <a:spcPts val="2659"/>
                        </a:lnSpc>
                      </a:pPr>
                    </a:p>
                    <a:p>
                      <a:pPr algn="ctr">
                        <a:lnSpc>
                          <a:spcPts val="2659"/>
                        </a:lnSpc>
                      </a:pPr>
                      <a:r>
                        <a:rPr lang="en-US" sz="1899">
                          <a:solidFill>
                            <a:srgbClr val="01003B"/>
                          </a:solidFill>
                          <a:latin typeface="Be Vietnam"/>
                          <a:ea typeface="Be Vietnam"/>
                          <a:cs typeface="Be Vietnam"/>
                          <a:sym typeface="Be Vietnam"/>
                        </a:rPr>
                        <a:t>Iclinic</a:t>
                      </a:r>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FFFFF"/>
                    </a:solidFill>
                  </a:tcPr>
                </a:tc>
              </a:tr>
              <a:tr h="792727">
                <a:tc>
                  <a:txBody>
                    <a:bodyPr anchor="t" rtlCol="false"/>
                    <a:lstStyle/>
                    <a:p>
                      <a:pPr algn="ctr">
                        <a:lnSpc>
                          <a:spcPts val="2659"/>
                        </a:lnSpc>
                        <a:defRPr/>
                      </a:pPr>
                      <a:r>
                        <a:rPr lang="en-US" sz="1899">
                          <a:solidFill>
                            <a:srgbClr val="01003B"/>
                          </a:solidFill>
                          <a:latin typeface="Be Vietnam"/>
                          <a:ea typeface="Be Vietnam"/>
                          <a:cs typeface="Be Vietnam"/>
                          <a:sym typeface="Be Vietnam"/>
                        </a:rPr>
                        <a:t>Public Healthcare System (SUS)</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FFFFF"/>
                    </a:solidFill>
                  </a:tcPr>
                </a:tc>
                <a:tc>
                  <a:txBody>
                    <a:bodyPr anchor="t" rtlCol="false"/>
                    <a:lstStyle/>
                    <a:p>
                      <a:pPr algn="ctr">
                        <a:lnSpc>
                          <a:spcPts val="2659"/>
                        </a:lnSpc>
                        <a:defRPr/>
                      </a:pPr>
                      <a:r>
                        <a:rPr lang="en-US" sz="1899">
                          <a:solidFill>
                            <a:srgbClr val="01003B"/>
                          </a:solidFill>
                          <a:latin typeface="Be Vietnam"/>
                          <a:ea typeface="Be Vietnam"/>
                          <a:cs typeface="Be Vietnam"/>
                          <a:sym typeface="Be Vietnam"/>
                        </a:rPr>
                        <a:t>They have their own EHR</a:t>
                      </a:r>
                      <a:endParaRPr lang="en-US" sz="1100"/>
                    </a:p>
                  </a:txBody>
                  <a:tcPr marL="190500" marR="190500" marT="190500" marB="190500" anchor="ctr">
                    <a:lnL cmpd="sng" algn="ctr" cap="flat" w="9525">
                      <a:solidFill>
                        <a:srgbClr val="01003B"/>
                      </a:solidFill>
                      <a:prstDash val="solid"/>
                      <a:round/>
                      <a:headEnd type="none" w="med" len="med"/>
                      <a:tailEnd type="none" w="med" len="med"/>
                    </a:lnL>
                    <a:lnR cmpd="sng" algn="ctr" cap="flat" w="0">
                      <a:solidFill>
                        <a:srgbClr val="01003B"/>
                      </a:solidFill>
                      <a:prstDash val="solid"/>
                      <a:round/>
                      <a:headEnd type="none" w="med" len="med"/>
                      <a:tailEnd type="none" w="med" len="med"/>
                    </a:lnR>
                    <a:lnT cmpd="sng" algn="ctr" cap="flat" w="9525">
                      <a:solidFill>
                        <a:srgbClr val="01003B"/>
                      </a:solidFill>
                      <a:prstDash val="solid"/>
                      <a:round/>
                      <a:headEnd type="none" w="med" len="med"/>
                      <a:tailEnd type="none" w="med" len="med"/>
                    </a:lnT>
                    <a:lnB cmpd="sng" algn="ctr" cap="flat" w="9525">
                      <a:solidFill>
                        <a:srgbClr val="01003B"/>
                      </a:solidFill>
                      <a:prstDash val="solid"/>
                      <a:round/>
                      <a:headEnd type="none" w="med" len="med"/>
                      <a:tailEnd type="none" w="med" len="med"/>
                    </a:lnB>
                    <a:solidFill>
                      <a:srgbClr val="FFFFFF"/>
                    </a:solidFill>
                  </a:tcPr>
                </a:tc>
              </a:tr>
            </a:tbl>
          </a:graphicData>
        </a:graphic>
      </p:graphicFrame>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2"/>
            <a:stretch>
              <a:fillRect l="-9222" t="-4461" r="-20094" b="-4717"/>
            </a:stretch>
          </a:blipFill>
        </p:spPr>
      </p:sp>
      <p:sp>
        <p:nvSpPr>
          <p:cNvPr name="TextBox 3" id="3"/>
          <p:cNvSpPr txBox="true"/>
          <p:nvPr/>
        </p:nvSpPr>
        <p:spPr>
          <a:xfrm rot="0">
            <a:off x="3034223" y="3712865"/>
            <a:ext cx="11195139" cy="3737711"/>
          </a:xfrm>
          <a:prstGeom prst="rect">
            <a:avLst/>
          </a:prstGeom>
        </p:spPr>
        <p:txBody>
          <a:bodyPr anchor="t" rtlCol="false" tIns="0" lIns="0" bIns="0" rIns="0">
            <a:spAutoFit/>
          </a:bodyPr>
          <a:lstStyle/>
          <a:p>
            <a:pPr algn="ctr">
              <a:lnSpc>
                <a:spcPts val="9729"/>
              </a:lnSpc>
            </a:pPr>
            <a:r>
              <a:rPr lang="en-US" b="true" sz="9445" spc="302">
                <a:solidFill>
                  <a:srgbClr val="01003B"/>
                </a:solidFill>
                <a:latin typeface="Be Vietnam Ultra-Bold"/>
                <a:ea typeface="Be Vietnam Ultra-Bold"/>
                <a:cs typeface="Be Vietnam Ultra-Bold"/>
                <a:sym typeface="Be Vietnam Ultra-Bold"/>
              </a:rPr>
              <a:t>THANKS!</a:t>
            </a:r>
          </a:p>
          <a:p>
            <a:pPr algn="ctr">
              <a:lnSpc>
                <a:spcPts val="9729"/>
              </a:lnSpc>
            </a:pPr>
          </a:p>
          <a:p>
            <a:pPr algn="ctr">
              <a:lnSpc>
                <a:spcPts val="9729"/>
              </a:lnSpc>
            </a:pPr>
            <a:r>
              <a:rPr lang="en-US" b="true" sz="9445" spc="302">
                <a:solidFill>
                  <a:srgbClr val="01003B"/>
                </a:solidFill>
                <a:latin typeface="Be Vietnam Ultra-Bold"/>
                <a:ea typeface="Be Vietnam Ultra-Bold"/>
                <a:cs typeface="Be Vietnam Ultra-Bold"/>
                <a:sym typeface="Be Vietnam Ultra-Bold"/>
              </a:rPr>
              <a:t>QUESTIONS?</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0" y="18288000"/>
                </a:moveTo>
                <a:lnTo>
                  <a:pt x="0" y="0"/>
                </a:lnTo>
                <a:lnTo>
                  <a:pt x="10287000" y="0"/>
                </a:lnTo>
                <a:lnTo>
                  <a:pt x="10287000" y="18288000"/>
                </a:lnTo>
                <a:lnTo>
                  <a:pt x="0" y="18288000"/>
                </a:lnTo>
                <a:close/>
              </a:path>
            </a:pathLst>
          </a:custGeom>
          <a:blipFill>
            <a:blip r:embed="rId2"/>
            <a:stretch>
              <a:fillRect l="-9222" t="-4461" r="-20094" b="-4717"/>
            </a:stretch>
          </a:blipFill>
        </p:spPr>
      </p:sp>
      <p:sp>
        <p:nvSpPr>
          <p:cNvPr name="TextBox 3" id="3"/>
          <p:cNvSpPr txBox="true"/>
          <p:nvPr/>
        </p:nvSpPr>
        <p:spPr>
          <a:xfrm rot="0">
            <a:off x="3659889" y="1181100"/>
            <a:ext cx="11195139" cy="1280261"/>
          </a:xfrm>
          <a:prstGeom prst="rect">
            <a:avLst/>
          </a:prstGeom>
        </p:spPr>
        <p:txBody>
          <a:bodyPr anchor="t" rtlCol="false" tIns="0" lIns="0" bIns="0" rIns="0">
            <a:spAutoFit/>
          </a:bodyPr>
          <a:lstStyle/>
          <a:p>
            <a:pPr algn="ctr">
              <a:lnSpc>
                <a:spcPts val="9729"/>
              </a:lnSpc>
            </a:pPr>
            <a:r>
              <a:rPr lang="en-US" b="true" sz="9445" spc="302">
                <a:solidFill>
                  <a:srgbClr val="01003B"/>
                </a:solidFill>
                <a:latin typeface="Be Vietnam Ultra-Bold"/>
                <a:ea typeface="Be Vietnam Ultra-Bold"/>
                <a:cs typeface="Be Vietnam Ultra-Bold"/>
                <a:sym typeface="Be Vietnam Ultra-Bold"/>
              </a:rPr>
              <a:t>REFERENCES</a:t>
            </a:r>
          </a:p>
        </p:txBody>
      </p:sp>
      <p:sp>
        <p:nvSpPr>
          <p:cNvPr name="TextBox 4" id="4"/>
          <p:cNvSpPr txBox="true"/>
          <p:nvPr/>
        </p:nvSpPr>
        <p:spPr>
          <a:xfrm rot="0">
            <a:off x="1854101" y="3211961"/>
            <a:ext cx="15405199" cy="4930774"/>
          </a:xfrm>
          <a:prstGeom prst="rect">
            <a:avLst/>
          </a:prstGeom>
        </p:spPr>
        <p:txBody>
          <a:bodyPr anchor="t" rtlCol="false" tIns="0" lIns="0" bIns="0" rIns="0">
            <a:spAutoFit/>
          </a:bodyPr>
          <a:lstStyle/>
          <a:p>
            <a:pPr algn="l">
              <a:lnSpc>
                <a:spcPts val="2800"/>
              </a:lnSpc>
              <a:spcBef>
                <a:spcPct val="0"/>
              </a:spcBef>
            </a:pPr>
            <a:r>
              <a:rPr lang="en-US" b="true" sz="2000">
                <a:solidFill>
                  <a:srgbClr val="01003B"/>
                </a:solidFill>
                <a:latin typeface="Be Vietnam Medium"/>
                <a:ea typeface="Be Vietnam Medium"/>
                <a:cs typeface="Be Vietnam Medium"/>
                <a:sym typeface="Be Vietnam Medium"/>
              </a:rPr>
              <a:t>[1]: Insights10 - Brazil Artificial Intelligence in Healthcare Market Report 2022 to 2030</a:t>
            </a:r>
          </a:p>
          <a:p>
            <a:pPr algn="l">
              <a:lnSpc>
                <a:spcPts val="2800"/>
              </a:lnSpc>
              <a:spcBef>
                <a:spcPct val="0"/>
              </a:spcBef>
            </a:pPr>
            <a:r>
              <a:rPr lang="en-US" b="true" sz="2000">
                <a:solidFill>
                  <a:srgbClr val="01003B"/>
                </a:solidFill>
                <a:latin typeface="Be Vietnam Medium"/>
                <a:ea typeface="Be Vietnam Medium"/>
                <a:cs typeface="Be Vietnam Medium"/>
                <a:sym typeface="Be Vietnam Medium"/>
              </a:rPr>
              <a:t>https://www.insights10.com/report/brazil-artificial-intelligence-ai-in-healthcare-market-analysis/</a:t>
            </a:r>
          </a:p>
          <a:p>
            <a:pPr algn="l">
              <a:lnSpc>
                <a:spcPts val="2800"/>
              </a:lnSpc>
              <a:spcBef>
                <a:spcPct val="0"/>
              </a:spcBef>
            </a:pPr>
          </a:p>
          <a:p>
            <a:pPr algn="l">
              <a:lnSpc>
                <a:spcPts val="2800"/>
              </a:lnSpc>
              <a:spcBef>
                <a:spcPct val="0"/>
              </a:spcBef>
            </a:pPr>
            <a:r>
              <a:rPr lang="en-US" b="true" sz="2000">
                <a:solidFill>
                  <a:srgbClr val="01003B"/>
                </a:solidFill>
                <a:latin typeface="Be Vietnam Medium"/>
                <a:ea typeface="Be Vietnam Medium"/>
                <a:cs typeface="Be Vietnam Medium"/>
                <a:sym typeface="Be Vietnam Medium"/>
              </a:rPr>
              <a:t>[2]: https://www.imarcgroup.com/brazil-telemedicine-market</a:t>
            </a:r>
          </a:p>
          <a:p>
            <a:pPr algn="l">
              <a:lnSpc>
                <a:spcPts val="2800"/>
              </a:lnSpc>
              <a:spcBef>
                <a:spcPct val="0"/>
              </a:spcBef>
            </a:pPr>
          </a:p>
          <a:p>
            <a:pPr algn="l">
              <a:lnSpc>
                <a:spcPts val="2800"/>
              </a:lnSpc>
              <a:spcBef>
                <a:spcPct val="0"/>
              </a:spcBef>
            </a:pPr>
            <a:r>
              <a:rPr lang="en-US" b="true" sz="2000">
                <a:solidFill>
                  <a:srgbClr val="01003B"/>
                </a:solidFill>
                <a:latin typeface="Be Vietnam Medium"/>
                <a:ea typeface="Be Vietnam Medium"/>
                <a:cs typeface="Be Vietnam Medium"/>
                <a:sym typeface="Be Vietnam Medium"/>
              </a:rPr>
              <a:t>[3]: https://www.trade.gov/country-commercial-guides/brazil-healthcare</a:t>
            </a:r>
          </a:p>
          <a:p>
            <a:pPr algn="l">
              <a:lnSpc>
                <a:spcPts val="2800"/>
              </a:lnSpc>
              <a:spcBef>
                <a:spcPct val="0"/>
              </a:spcBef>
            </a:pPr>
          </a:p>
          <a:p>
            <a:pPr algn="l">
              <a:lnSpc>
                <a:spcPts val="2800"/>
              </a:lnSpc>
              <a:spcBef>
                <a:spcPct val="0"/>
              </a:spcBef>
            </a:pPr>
            <a:r>
              <a:rPr lang="en-US" b="true" sz="2000">
                <a:solidFill>
                  <a:srgbClr val="01003B"/>
                </a:solidFill>
                <a:latin typeface="Be Vietnam Medium"/>
                <a:ea typeface="Be Vietnam Medium"/>
                <a:cs typeface="Be Vietnam Medium"/>
                <a:sym typeface="Be Vietnam Medium"/>
              </a:rPr>
              <a:t>[4]: https://www.commonwealthfund.org/international-health-policy-center/countries/brazil </a:t>
            </a:r>
          </a:p>
          <a:p>
            <a:pPr algn="l">
              <a:lnSpc>
                <a:spcPts val="2800"/>
              </a:lnSpc>
              <a:spcBef>
                <a:spcPct val="0"/>
              </a:spcBef>
            </a:pPr>
          </a:p>
          <a:p>
            <a:pPr algn="l">
              <a:lnSpc>
                <a:spcPts val="2800"/>
              </a:lnSpc>
              <a:spcBef>
                <a:spcPct val="0"/>
              </a:spcBef>
            </a:pPr>
            <a:r>
              <a:rPr lang="en-US" b="true" sz="2000">
                <a:solidFill>
                  <a:srgbClr val="01003B"/>
                </a:solidFill>
                <a:latin typeface="Be Vietnam Medium"/>
                <a:ea typeface="Be Vietnam Medium"/>
                <a:cs typeface="Be Vietnam Medium"/>
                <a:sym typeface="Be Vietnam Medium"/>
              </a:rPr>
              <a:t>[5]: Digital health penetration projection - Market research indicates growth trajectory for digital health adoption in Brazil reaching 15-20% by 2030</a:t>
            </a:r>
          </a:p>
          <a:p>
            <a:pPr algn="l">
              <a:lnSpc>
                <a:spcPts val="2800"/>
              </a:lnSpc>
              <a:spcBef>
                <a:spcPct val="0"/>
              </a:spcBef>
            </a:pPr>
          </a:p>
          <a:p>
            <a:pPr algn="l">
              <a:lnSpc>
                <a:spcPts val="2800"/>
              </a:lnSpc>
              <a:spcBef>
                <a:spcPct val="0"/>
              </a:spcBef>
            </a:pPr>
            <a:r>
              <a:rPr lang="en-US" b="true" sz="2000">
                <a:solidFill>
                  <a:srgbClr val="01003B"/>
                </a:solidFill>
                <a:latin typeface="Be Vietnam Medium"/>
                <a:ea typeface="Be Vietnam Medium"/>
                <a:cs typeface="Be Vietnam Medium"/>
                <a:sym typeface="Be Vietnam Medium"/>
              </a:rPr>
              <a:t>[6]: https://www.jmir.org/2023/1/e42483/</a:t>
            </a:r>
          </a:p>
          <a:p>
            <a:pPr algn="l">
              <a:lnSpc>
                <a:spcPts val="2800"/>
              </a:lnSpc>
              <a:spcBef>
                <a:spcPct val="0"/>
              </a:spcBef>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DAGsjGsEvJQ</dc:identifier>
  <dcterms:modified xsi:type="dcterms:W3CDTF">2011-08-01T06:04:30Z</dcterms:modified>
  <cp:revision>1</cp:revision>
  <dc:title>Praana Presentation</dc:title>
</cp:coreProperties>
</file>